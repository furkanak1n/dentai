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2620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Merhaba. Bugün sizlere BIM 434 Bulanık Mantık dersi kapsamında geliştirdiğimiz DentAI projesini sunacağım. Proje; diş hekimliğinde sıkça karşılaşılan dolgu mu yoksa kanal tedavisi mi sorusuna Mamdani bulanık çıkarımıyla cevap üreten bir klinik karar destek sistemidir. Danışmanımız Dr. Öğr. Üyesi Hasibe Büşra Aytekin. Sunum yaklaşık 10-12 dakika sürecek.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Sunumun akışı şu şekilde: Önce klinik problemi tanıtacağım, ardından neden bulanık mantığın bu probleme uygun olduğunu açıklayacağım. Sonra teorik çerçeveyi, üyelik fonksiyonlarımızı, kural tabanını ve sistem mimarisini anlatacağım. Son olarak sonuçları ve açıklanabilirlik özelliklerini göstereceğim.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Diş hekimliğinde derin dentin çürüğü olan bir dişe ne yapılacağına karar vermek hiç kolay değil. Dolgu tedavisi pulpanın hâlâ canlı olduğu durumlar için, kanal tedavisi ise pulpada geri dönüşümsüz hasar varsa yapılır. Asıl sorun şu: pulpanın gerçek durumunu doğrudan görmek mümkün değil. Hekim ağrı, çürük derinliği gibi dolaylı ipuçlarına bakarak karar vermek zorunda — ve bu ipuçlarının hepsi gri bölge.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Klasik mantık ikili çalışır — bir şey ya doğrudur ya yanlıştır. Ama 'ağrı 7 ise kanal, 6,99 ise dolgu' demek absürt; klinik gerçeklik bu kadar keskin değil. Zadeh'in 1965'te önerdiği bulanık mantık, bu probleme tam olarak çözüm getiriyor: üyelik [0,1] aralığında, bir hasta aynı anda birden fazla kategoriye kısmen ait olabilir. Üç avantaj: hekim diliyle konuşur, kararı açıklayabilir ve binlerce etiketli vakaya ihtiyaç duymaz.</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Bulanık kümenin matematiksel temeli üyelik fonksiyonudur. Klasik kümede bir eleman ya kümeye aittir ya değildir; bulanık kümede ise üyelik 0 ile 1 arasında bir derece alır. Örneğin ağrı skoru 7,5 olan bir hasta, 'uzun süreli ağrı' kümesine 0,3 dereceyle, 'spontan ağrı' kümesine 0,7 dereceyle ait olabilir — aynı anda. Biz bu projede üyelik fonksiyonu olarak iki şekil kullandık: üçgen ve yamuk. Uç kategoriler yamuk, ara kategoriler üçgen.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Mamdani çıkarımı beş adımdan oluşur. Önce keskin girdiler bulanıklaştırılır — yani üyelik derecelerine çevrilir. Sonra her kural değerlendirilir; AND ile bağlı koşullar için ateşleme gücü, üyelik derecelerinin minimumudur. Üçüncü adımda her kuralın consequent kümesi bu ateşleme gücüyle kırpılır, dördüncü adımda hepsi max ile birleşir. Son adımda ortaya çıkan toplam bulanık küme centroid yöntemiyle tek bir sayıya indirgenir — bizim sistemimizde 0 ile 100 arasında bir kanal gereklilik yüzdesi.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Sistemimiz dört değişken alıyor: tolerans, ağrı profili, çürük derinliği ve hasta yaşı. Tolerans 0-10 arası, hastanın uzun bir kanal tedavisine dayanıp dayanamayacağını ifade ediyor. Ağrı NRS skalasıyla 0-10. Çürük derinliği radyografik olarak %0 ile %100 arası. Yaş 6 ile 80 arasında. Her değişken 3-5 dilsel kategoriye bölündü — klinik literatür ve uzman görüşleri ışığında.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 değişken için üyelik fonksiyonlarını ayrıntılı olarak tanımladık. Uç kategoriler — örneğin 'edemez' ya da 'spontan ağrı' — yamuk fonksiyonlarla, ara kategoriler üçgen fonksiyonlarla modellendi. Parametreler keyfi değil: ICDAS çürük sınıflandırması, NRS ağrı skalası ve uzman görüşleri esas alındı.</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Sistemimizde toplam 599 kural var; ancak çıkarım sırasında yalnızca 240 dördüncü-derece kural aktif olarak kullanılıyor. Çünkü düşük dereceli kuralları da aktif tutarsak, her vakada fazladan çekici güç oluşuyor ve sonuç orta bölgeye sıkışıyor. Yalnızca dördüncü-derece kurallar tutulduğunda sistem sınır vakalarda bile net kararlar üretebiliyor. Aktif kuralların dağılımı dengeli: 90 dolgu, 54 belirsiz, 96 kanal — yani sistem bir tarafa eğilimli değil.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Sistemimizin çıkışı bir 'evet / hayır' değil, 0 ile 100 arasında bir sürekli yüzde. 0-30 arası dolgu önerisi, 31-70 arası sınırda — kuafaj veya ortak karar gerekiyor, 71-100 arası kanal tedavisi. Bu kademeli çıkış sayesinde sınır vakaları zorla bir kategoriye itmiyoruz; hekim gri bölgenin farkında oluyor.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Sistem iki katmandan oluşuyor. Frontend tarafında Next.js 16 ve React 19 kullandık; hekim slider'larla dört değeri giriyor. Backend tarafında FastAPI ve scikit-fuzzy var; Mamdani çıkarımının tüm adımları burada koşuyor. İki katman arasında JSON tabanlı REST API üzerinden iletişim var — POST /api/predict en kritik endpoint. Pydantic sayesinde giriş doğrulaması otomatik: tolerans 0-10 dışında bir değer gelirse sistem kabul etmiyor.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Bulanık karar destek sistemlerinin en güçlü yanı açıklanabilir olmaları. Biz bu özelliği üç katmanda sunduk: Birincisi, doğrudan kanal gereklilik yüzdesi. İkincisi, sonucu en çok belirleyen baskın kural — kuralın klinik açıklamasıyla birlikte. 77 dördüncü-derece kuralımız klinik literatürle hizalı açıklamalara sahip. Üçüncüsü, ateşlenen tüm kuralların w-ağırlıklı dağılımı. Hekim 'bu kararın yüzde 69'u kanal kuralları yönünden geldi' bilgisini görebiliyor.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Sonuç olarak: Mamdani tabanlı, klinik literatürle uyumlu, açıklanabilir çıktıları olan tam yığın bir karar destek sistemi geliştirdik. Ama önemli sınırlılıklar var: bu sistem hekimin yerine geçmiyor, tanı koymuyor. Radyografi yorumunu otomatize etmiyor. Sistemik hastalıklar, periodontal durum gibi faktörler bu versiyonda yok. Ve verdiğimiz yüzde değer olasılık değil — kuralların ateşlenme ağırlıklarına dayalı bir karar yoğunluğu metriği. Hekim daima son kararı veren olmalı.</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Beni dinlediğiniz için teşekkür ederim. Sorularınızı almaya hazırım.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0"/>
            <a:ext cx="3291840" cy="731520"/>
          </a:xfrm>
          <a:prstGeom prst="rect">
            <a:avLst/>
          </a:prstGeom>
          <a:noFill/>
        </p:spPr>
        <p:txBody>
          <a:bodyPr wrap="square" anchor="t">
            <a:spAutoFit/>
          </a:bodyPr>
          <a:lstStyle/>
          <a:p>
            <a:pPr algn="l">
              <a:lnSpc>
                <a:spcPct val="115000"/>
              </a:lnSpc>
            </a:pPr>
            <a:r>
              <a:rPr sz="2000" b="1" i="0">
                <a:solidFill>
                  <a:srgbClr val="FFFFFF"/>
                </a:solidFill>
                <a:latin typeface="Calibri Light"/>
              </a:rPr>
              <a:t>BIM 434</a:t>
            </a:r>
          </a:p>
        </p:txBody>
      </p:sp>
      <p:sp>
        <p:nvSpPr>
          <p:cNvPr id="4" name="TextBox 3"/>
          <p:cNvSpPr txBox="1"/>
          <p:nvPr/>
        </p:nvSpPr>
        <p:spPr>
          <a:xfrm>
            <a:off x="457200" y="1143000"/>
            <a:ext cx="3291840" cy="457200"/>
          </a:xfrm>
          <a:prstGeom prst="rect">
            <a:avLst/>
          </a:prstGeom>
          <a:noFill/>
        </p:spPr>
        <p:txBody>
          <a:bodyPr wrap="square" anchor="t">
            <a:spAutoFit/>
          </a:bodyPr>
          <a:lstStyle/>
          <a:p>
            <a:pPr algn="l">
              <a:lnSpc>
                <a:spcPct val="115000"/>
              </a:lnSpc>
            </a:pPr>
            <a:r>
              <a:rPr sz="1400" b="0" i="0">
                <a:solidFill>
                  <a:srgbClr val="E0F2F4"/>
                </a:solidFill>
                <a:latin typeface="Calibri"/>
              </a:rPr>
              <a:t>Bulanık Mantık</a:t>
            </a:r>
          </a:p>
        </p:txBody>
      </p:sp>
      <p:sp>
        <p:nvSpPr>
          <p:cNvPr id="5" name="Rectangle 4"/>
          <p:cNvSpPr/>
          <p:nvPr/>
        </p:nvSpPr>
        <p:spPr>
          <a:xfrm>
            <a:off x="457200" y="1828800"/>
            <a:ext cx="73152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5029200"/>
            <a:ext cx="3291840" cy="365760"/>
          </a:xfrm>
          <a:prstGeom prst="rect">
            <a:avLst/>
          </a:prstGeom>
          <a:noFill/>
        </p:spPr>
        <p:txBody>
          <a:bodyPr wrap="square" anchor="t">
            <a:spAutoFit/>
          </a:bodyPr>
          <a:lstStyle/>
          <a:p>
            <a:pPr algn="l">
              <a:lnSpc>
                <a:spcPct val="115000"/>
              </a:lnSpc>
            </a:pPr>
            <a:r>
              <a:rPr sz="1100" b="0" i="0">
                <a:solidFill>
                  <a:srgbClr val="E0F2F4"/>
                </a:solidFill>
                <a:latin typeface="Calibri"/>
              </a:rPr>
              <a:t>Mühendislik ve Doğa Bilimleri Fakültesi</a:t>
            </a:r>
          </a:p>
        </p:txBody>
      </p:sp>
      <p:sp>
        <p:nvSpPr>
          <p:cNvPr id="7" name="TextBox 6"/>
          <p:cNvSpPr txBox="1"/>
          <p:nvPr/>
        </p:nvSpPr>
        <p:spPr>
          <a:xfrm>
            <a:off x="457200" y="5394960"/>
            <a:ext cx="3291840" cy="365760"/>
          </a:xfrm>
          <a:prstGeom prst="rect">
            <a:avLst/>
          </a:prstGeom>
          <a:noFill/>
        </p:spPr>
        <p:txBody>
          <a:bodyPr wrap="square" anchor="t">
            <a:spAutoFit/>
          </a:bodyPr>
          <a:lstStyle/>
          <a:p>
            <a:pPr algn="l">
              <a:lnSpc>
                <a:spcPct val="115000"/>
              </a:lnSpc>
            </a:pPr>
            <a:r>
              <a:rPr sz="1100" b="0" i="1">
                <a:solidFill>
                  <a:srgbClr val="E0F2F4"/>
                </a:solidFill>
                <a:latin typeface="Calibri"/>
              </a:rPr>
              <a:t>Bilgisayar Mühendisliği</a:t>
            </a:r>
          </a:p>
        </p:txBody>
      </p:sp>
      <p:sp>
        <p:nvSpPr>
          <p:cNvPr id="8" name="TextBox 7"/>
          <p:cNvSpPr txBox="1"/>
          <p:nvPr/>
        </p:nvSpPr>
        <p:spPr>
          <a:xfrm>
            <a:off x="457200" y="6126480"/>
            <a:ext cx="3291840" cy="365760"/>
          </a:xfrm>
          <a:prstGeom prst="rect">
            <a:avLst/>
          </a:prstGeom>
          <a:noFill/>
        </p:spPr>
        <p:txBody>
          <a:bodyPr wrap="square" anchor="t">
            <a:spAutoFit/>
          </a:bodyPr>
          <a:lstStyle/>
          <a:p>
            <a:pPr algn="l">
              <a:lnSpc>
                <a:spcPct val="115000"/>
              </a:lnSpc>
            </a:pPr>
            <a:r>
              <a:rPr sz="1100" b="0" i="0">
                <a:solidFill>
                  <a:srgbClr val="FFFFFF"/>
                </a:solidFill>
                <a:latin typeface="Calibri"/>
              </a:rPr>
              <a:t>21.05.2026</a:t>
            </a:r>
          </a:p>
        </p:txBody>
      </p:sp>
      <p:sp>
        <p:nvSpPr>
          <p:cNvPr id="9" name="TextBox 8"/>
          <p:cNvSpPr txBox="1"/>
          <p:nvPr/>
        </p:nvSpPr>
        <p:spPr>
          <a:xfrm>
            <a:off x="4572000" y="1371600"/>
            <a:ext cx="7132320" cy="548640"/>
          </a:xfrm>
          <a:prstGeom prst="rect">
            <a:avLst/>
          </a:prstGeom>
          <a:noFill/>
        </p:spPr>
        <p:txBody>
          <a:bodyPr wrap="square" anchor="t">
            <a:spAutoFit/>
          </a:bodyPr>
          <a:lstStyle/>
          <a:p>
            <a:pPr algn="l">
              <a:lnSpc>
                <a:spcPct val="115000"/>
              </a:lnSpc>
            </a:pPr>
            <a:r>
              <a:rPr sz="5400" b="1" i="0">
                <a:solidFill>
                  <a:srgbClr val="0F2D40"/>
                </a:solidFill>
                <a:latin typeface="Calibri Light"/>
              </a:rPr>
              <a:t>DentAI</a:t>
            </a:r>
          </a:p>
        </p:txBody>
      </p:sp>
      <p:sp>
        <p:nvSpPr>
          <p:cNvPr id="10" name="TextBox 9"/>
          <p:cNvSpPr txBox="1"/>
          <p:nvPr/>
        </p:nvSpPr>
        <p:spPr>
          <a:xfrm>
            <a:off x="4572000" y="2286000"/>
            <a:ext cx="7132320" cy="425501"/>
          </a:xfrm>
          <a:prstGeom prst="rect">
            <a:avLst/>
          </a:prstGeom>
          <a:noFill/>
        </p:spPr>
        <p:txBody>
          <a:bodyPr wrap="square" anchor="t">
            <a:spAutoFit/>
          </a:bodyPr>
          <a:lstStyle/>
          <a:p>
            <a:pPr algn="l">
              <a:lnSpc>
                <a:spcPct val="115000"/>
              </a:lnSpc>
            </a:pPr>
            <a:r>
              <a:rPr sz="2000" b="0" i="0" dirty="0">
                <a:solidFill>
                  <a:srgbClr val="0E6E76"/>
                </a:solidFill>
                <a:latin typeface="Calibri"/>
              </a:rPr>
              <a:t>Klinik Karar </a:t>
            </a:r>
            <a:r>
              <a:rPr sz="2000" b="0" i="0" dirty="0" err="1">
                <a:solidFill>
                  <a:srgbClr val="0E6E76"/>
                </a:solidFill>
                <a:latin typeface="Calibri"/>
              </a:rPr>
              <a:t>Destek</a:t>
            </a:r>
            <a:r>
              <a:rPr sz="2000" b="0" i="0" dirty="0">
                <a:solidFill>
                  <a:srgbClr val="0E6E76"/>
                </a:solidFill>
                <a:latin typeface="Calibri"/>
              </a:rPr>
              <a:t> </a:t>
            </a:r>
            <a:r>
              <a:rPr sz="2000" b="0" i="0" dirty="0" err="1">
                <a:solidFill>
                  <a:srgbClr val="0E6E76"/>
                </a:solidFill>
                <a:latin typeface="Calibri"/>
              </a:rPr>
              <a:t>Sistemi</a:t>
            </a:r>
            <a:endParaRPr sz="2000" b="0" i="0" dirty="0">
              <a:solidFill>
                <a:srgbClr val="0E6E76"/>
              </a:solidFill>
              <a:latin typeface="Calibri"/>
            </a:endParaRPr>
          </a:p>
        </p:txBody>
      </p:sp>
      <p:sp>
        <p:nvSpPr>
          <p:cNvPr id="11" name="TextBox 10"/>
          <p:cNvSpPr txBox="1"/>
          <p:nvPr/>
        </p:nvSpPr>
        <p:spPr>
          <a:xfrm>
            <a:off x="4572000" y="2834640"/>
            <a:ext cx="7132320" cy="457200"/>
          </a:xfrm>
          <a:prstGeom prst="rect">
            <a:avLst/>
          </a:prstGeom>
          <a:noFill/>
        </p:spPr>
        <p:txBody>
          <a:bodyPr wrap="square" anchor="t">
            <a:spAutoFit/>
          </a:bodyPr>
          <a:lstStyle/>
          <a:p>
            <a:pPr algn="l">
              <a:lnSpc>
                <a:spcPct val="115000"/>
              </a:lnSpc>
            </a:pPr>
            <a:r>
              <a:rPr sz="1600" b="0" i="1">
                <a:solidFill>
                  <a:srgbClr val="556570"/>
                </a:solidFill>
                <a:latin typeface="Calibri"/>
              </a:rPr>
              <a:t>Diş Hekimliğinde Dolgu / Kanal Tedavisi Kararı</a:t>
            </a:r>
          </a:p>
        </p:txBody>
      </p:sp>
      <p:sp>
        <p:nvSpPr>
          <p:cNvPr id="12" name="Rectangle 11"/>
          <p:cNvSpPr/>
          <p:nvPr/>
        </p:nvSpPr>
        <p:spPr>
          <a:xfrm>
            <a:off x="4572000" y="3474720"/>
            <a:ext cx="1828800"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3840480"/>
            <a:ext cx="7132320" cy="320040"/>
          </a:xfrm>
          <a:prstGeom prst="rect">
            <a:avLst/>
          </a:prstGeom>
          <a:noFill/>
        </p:spPr>
        <p:txBody>
          <a:bodyPr wrap="square" anchor="t">
            <a:spAutoFit/>
          </a:bodyPr>
          <a:lstStyle/>
          <a:p>
            <a:pPr algn="l">
              <a:lnSpc>
                <a:spcPct val="115000"/>
              </a:lnSpc>
            </a:pPr>
            <a:r>
              <a:rPr sz="1100" b="0" i="0">
                <a:solidFill>
                  <a:srgbClr val="556570"/>
                </a:solidFill>
                <a:latin typeface="Calibri"/>
              </a:rPr>
              <a:t>Hazırlayan</a:t>
            </a:r>
          </a:p>
        </p:txBody>
      </p:sp>
      <p:sp>
        <p:nvSpPr>
          <p:cNvPr id="14" name="TextBox 13"/>
          <p:cNvSpPr txBox="1"/>
          <p:nvPr/>
        </p:nvSpPr>
        <p:spPr>
          <a:xfrm>
            <a:off x="4572000" y="4114800"/>
            <a:ext cx="7132320" cy="342210"/>
          </a:xfrm>
          <a:prstGeom prst="rect">
            <a:avLst/>
          </a:prstGeom>
          <a:noFill/>
        </p:spPr>
        <p:txBody>
          <a:bodyPr wrap="square" anchor="t">
            <a:spAutoFit/>
          </a:bodyPr>
          <a:lstStyle/>
          <a:p>
            <a:pPr algn="l">
              <a:lnSpc>
                <a:spcPct val="115000"/>
              </a:lnSpc>
            </a:pPr>
            <a:r>
              <a:rPr sz="1500" b="1" i="0" dirty="0">
                <a:solidFill>
                  <a:srgbClr val="0F2D40"/>
                </a:solidFill>
                <a:latin typeface="Calibri"/>
              </a:rPr>
              <a:t>Metin ULUSOY </a:t>
            </a:r>
            <a:r>
              <a:rPr lang="tr-TR" sz="1500" b="1" i="0" dirty="0">
                <a:solidFill>
                  <a:srgbClr val="0F2D40"/>
                </a:solidFill>
                <a:latin typeface="Calibri"/>
              </a:rPr>
              <a:t>	</a:t>
            </a:r>
            <a:r>
              <a:rPr sz="1500" b="1" i="0" dirty="0">
                <a:solidFill>
                  <a:srgbClr val="0F2D40"/>
                </a:solidFill>
                <a:latin typeface="Calibri"/>
              </a:rPr>
              <a:t>·  030121084</a:t>
            </a:r>
          </a:p>
        </p:txBody>
      </p:sp>
      <p:sp>
        <p:nvSpPr>
          <p:cNvPr id="15" name="TextBox 14"/>
          <p:cNvSpPr txBox="1"/>
          <p:nvPr/>
        </p:nvSpPr>
        <p:spPr>
          <a:xfrm>
            <a:off x="4572000" y="4526280"/>
            <a:ext cx="7132320" cy="342210"/>
          </a:xfrm>
          <a:prstGeom prst="rect">
            <a:avLst/>
          </a:prstGeom>
          <a:noFill/>
        </p:spPr>
        <p:txBody>
          <a:bodyPr wrap="square" anchor="t">
            <a:spAutoFit/>
          </a:bodyPr>
          <a:lstStyle/>
          <a:p>
            <a:pPr algn="l">
              <a:lnSpc>
                <a:spcPct val="115000"/>
              </a:lnSpc>
            </a:pPr>
            <a:r>
              <a:rPr sz="1500" b="1" i="0" dirty="0">
                <a:solidFill>
                  <a:srgbClr val="0F2D40"/>
                </a:solidFill>
                <a:latin typeface="Calibri"/>
              </a:rPr>
              <a:t>Furkan AKIN  </a:t>
            </a:r>
            <a:r>
              <a:rPr lang="tr-TR" sz="1500" b="1" i="0" dirty="0">
                <a:solidFill>
                  <a:srgbClr val="0F2D40"/>
                </a:solidFill>
                <a:latin typeface="Calibri"/>
              </a:rPr>
              <a:t>	</a:t>
            </a:r>
            <a:r>
              <a:rPr sz="1500" b="1" i="0" dirty="0">
                <a:solidFill>
                  <a:srgbClr val="0F2D40"/>
                </a:solidFill>
                <a:latin typeface="Calibri"/>
              </a:rPr>
              <a:t>·  030123002</a:t>
            </a:r>
          </a:p>
        </p:txBody>
      </p:sp>
      <p:sp>
        <p:nvSpPr>
          <p:cNvPr id="16" name="TextBox 15"/>
          <p:cNvSpPr txBox="1"/>
          <p:nvPr/>
        </p:nvSpPr>
        <p:spPr>
          <a:xfrm>
            <a:off x="4572000" y="5303520"/>
            <a:ext cx="7132320" cy="320040"/>
          </a:xfrm>
          <a:prstGeom prst="rect">
            <a:avLst/>
          </a:prstGeom>
          <a:noFill/>
        </p:spPr>
        <p:txBody>
          <a:bodyPr wrap="square" anchor="t">
            <a:spAutoFit/>
          </a:bodyPr>
          <a:lstStyle/>
          <a:p>
            <a:pPr algn="l">
              <a:lnSpc>
                <a:spcPct val="115000"/>
              </a:lnSpc>
            </a:pPr>
            <a:r>
              <a:rPr sz="1100" b="0" i="0">
                <a:solidFill>
                  <a:srgbClr val="556570"/>
                </a:solidFill>
                <a:latin typeface="Calibri"/>
              </a:rPr>
              <a:t>Danışman</a:t>
            </a:r>
          </a:p>
        </p:txBody>
      </p:sp>
      <p:sp>
        <p:nvSpPr>
          <p:cNvPr id="17" name="TextBox 16"/>
          <p:cNvSpPr txBox="1"/>
          <p:nvPr/>
        </p:nvSpPr>
        <p:spPr>
          <a:xfrm>
            <a:off x="4572000" y="5577840"/>
            <a:ext cx="7132320" cy="411480"/>
          </a:xfrm>
          <a:prstGeom prst="rect">
            <a:avLst/>
          </a:prstGeom>
          <a:noFill/>
        </p:spPr>
        <p:txBody>
          <a:bodyPr wrap="square" anchor="t">
            <a:spAutoFit/>
          </a:bodyPr>
          <a:lstStyle/>
          <a:p>
            <a:pPr algn="l">
              <a:lnSpc>
                <a:spcPct val="115000"/>
              </a:lnSpc>
            </a:pPr>
            <a:r>
              <a:rPr sz="1500" b="1" i="0">
                <a:solidFill>
                  <a:srgbClr val="0F2D40"/>
                </a:solidFill>
                <a:latin typeface="Calibri"/>
              </a:rPr>
              <a:t>Dr. Öğr. Üyesi Hasibe Büşra Aytekin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Sunum Akışı</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Bugün konuşacaklarımız</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54480"/>
            <a:ext cx="731520" cy="548640"/>
          </a:xfrm>
          <a:prstGeom prst="round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00200"/>
            <a:ext cx="731520" cy="457200"/>
          </a:xfrm>
          <a:prstGeom prst="rect">
            <a:avLst/>
          </a:prstGeom>
          <a:noFill/>
        </p:spPr>
        <p:txBody>
          <a:bodyPr wrap="square" anchor="t">
            <a:spAutoFit/>
          </a:bodyPr>
          <a:lstStyle/>
          <a:p>
            <a:pPr algn="ctr">
              <a:lnSpc>
                <a:spcPct val="115000"/>
              </a:lnSpc>
            </a:pPr>
            <a:r>
              <a:rPr sz="2000" b="1" i="0">
                <a:solidFill>
                  <a:srgbClr val="FFFFFF"/>
                </a:solidFill>
                <a:latin typeface="Calibri Light"/>
              </a:rPr>
              <a:t>01</a:t>
            </a:r>
          </a:p>
        </p:txBody>
      </p:sp>
      <p:sp>
        <p:nvSpPr>
          <p:cNvPr id="8" name="TextBox 7"/>
          <p:cNvSpPr txBox="1"/>
          <p:nvPr/>
        </p:nvSpPr>
        <p:spPr>
          <a:xfrm>
            <a:off x="1737360" y="1554480"/>
            <a:ext cx="10058400" cy="320040"/>
          </a:xfrm>
          <a:prstGeom prst="rect">
            <a:avLst/>
          </a:prstGeom>
          <a:noFill/>
        </p:spPr>
        <p:txBody>
          <a:bodyPr wrap="square" anchor="t">
            <a:spAutoFit/>
          </a:bodyPr>
          <a:lstStyle/>
          <a:p>
            <a:pPr algn="l">
              <a:lnSpc>
                <a:spcPct val="115000"/>
              </a:lnSpc>
            </a:pPr>
            <a:r>
              <a:rPr sz="1800" b="1" i="0">
                <a:solidFill>
                  <a:srgbClr val="0F2D40"/>
                </a:solidFill>
                <a:latin typeface="Calibri Light"/>
              </a:rPr>
              <a:t>Klinik Problem</a:t>
            </a:r>
          </a:p>
        </p:txBody>
      </p:sp>
      <p:sp>
        <p:nvSpPr>
          <p:cNvPr id="9" name="TextBox 8"/>
          <p:cNvSpPr txBox="1"/>
          <p:nvPr/>
        </p:nvSpPr>
        <p:spPr>
          <a:xfrm>
            <a:off x="1737360" y="1847088"/>
            <a:ext cx="10058400" cy="292608"/>
          </a:xfrm>
          <a:prstGeom prst="rect">
            <a:avLst/>
          </a:prstGeom>
          <a:noFill/>
        </p:spPr>
        <p:txBody>
          <a:bodyPr wrap="square" anchor="t">
            <a:spAutoFit/>
          </a:bodyPr>
          <a:lstStyle/>
          <a:p>
            <a:pPr algn="l">
              <a:lnSpc>
                <a:spcPct val="115000"/>
              </a:lnSpc>
            </a:pPr>
            <a:r>
              <a:rPr sz="1200" b="0" i="1" dirty="0" err="1">
                <a:solidFill>
                  <a:srgbClr val="556570"/>
                </a:solidFill>
                <a:latin typeface="Calibri"/>
              </a:rPr>
              <a:t>Dolgu</a:t>
            </a:r>
            <a:r>
              <a:rPr sz="1200" b="0" i="1" dirty="0">
                <a:solidFill>
                  <a:srgbClr val="556570"/>
                </a:solidFill>
                <a:latin typeface="Calibri"/>
              </a:rPr>
              <a:t> mu </a:t>
            </a:r>
            <a:r>
              <a:rPr lang="tr-TR" sz="1200" i="1" dirty="0">
                <a:solidFill>
                  <a:srgbClr val="556570"/>
                </a:solidFill>
                <a:latin typeface="Calibri"/>
              </a:rPr>
              <a:t>K</a:t>
            </a:r>
            <a:r>
              <a:rPr sz="1200" b="0" i="1" dirty="0">
                <a:solidFill>
                  <a:srgbClr val="556570"/>
                </a:solidFill>
                <a:latin typeface="Calibri"/>
              </a:rPr>
              <a:t>anal </a:t>
            </a:r>
            <a:r>
              <a:rPr sz="1200" b="0" i="1" dirty="0" err="1">
                <a:solidFill>
                  <a:srgbClr val="556570"/>
                </a:solidFill>
                <a:latin typeface="Calibri"/>
              </a:rPr>
              <a:t>mı</a:t>
            </a:r>
            <a:r>
              <a:rPr sz="1200" b="0" i="1" dirty="0">
                <a:solidFill>
                  <a:srgbClr val="556570"/>
                </a:solidFill>
                <a:latin typeface="Calibri"/>
              </a:rPr>
              <a:t>?</a:t>
            </a:r>
          </a:p>
        </p:txBody>
      </p:sp>
      <p:sp>
        <p:nvSpPr>
          <p:cNvPr id="10" name="Rounded Rectangle 9"/>
          <p:cNvSpPr/>
          <p:nvPr/>
        </p:nvSpPr>
        <p:spPr>
          <a:xfrm>
            <a:off x="731520" y="2212848"/>
            <a:ext cx="731520" cy="548640"/>
          </a:xfrm>
          <a:prstGeom prst="round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258568"/>
            <a:ext cx="731520" cy="457200"/>
          </a:xfrm>
          <a:prstGeom prst="rect">
            <a:avLst/>
          </a:prstGeom>
          <a:noFill/>
        </p:spPr>
        <p:txBody>
          <a:bodyPr wrap="square" anchor="t">
            <a:spAutoFit/>
          </a:bodyPr>
          <a:lstStyle/>
          <a:p>
            <a:pPr algn="ctr">
              <a:lnSpc>
                <a:spcPct val="115000"/>
              </a:lnSpc>
            </a:pPr>
            <a:r>
              <a:rPr sz="2000" b="1" i="0">
                <a:solidFill>
                  <a:srgbClr val="FFFFFF"/>
                </a:solidFill>
                <a:latin typeface="Calibri Light"/>
              </a:rPr>
              <a:t>02</a:t>
            </a:r>
          </a:p>
        </p:txBody>
      </p:sp>
      <p:sp>
        <p:nvSpPr>
          <p:cNvPr id="12" name="TextBox 11"/>
          <p:cNvSpPr txBox="1"/>
          <p:nvPr/>
        </p:nvSpPr>
        <p:spPr>
          <a:xfrm>
            <a:off x="1737360" y="2212848"/>
            <a:ext cx="10058400" cy="320040"/>
          </a:xfrm>
          <a:prstGeom prst="rect">
            <a:avLst/>
          </a:prstGeom>
          <a:noFill/>
        </p:spPr>
        <p:txBody>
          <a:bodyPr wrap="square" anchor="t">
            <a:spAutoFit/>
          </a:bodyPr>
          <a:lstStyle/>
          <a:p>
            <a:pPr algn="l">
              <a:lnSpc>
                <a:spcPct val="115000"/>
              </a:lnSpc>
            </a:pPr>
            <a:r>
              <a:rPr sz="1800" b="1" i="0">
                <a:solidFill>
                  <a:srgbClr val="0F2D40"/>
                </a:solidFill>
                <a:latin typeface="Calibri Light"/>
              </a:rPr>
              <a:t>Neden Bulanık Mantık?</a:t>
            </a:r>
          </a:p>
        </p:txBody>
      </p:sp>
      <p:sp>
        <p:nvSpPr>
          <p:cNvPr id="13" name="TextBox 12"/>
          <p:cNvSpPr txBox="1"/>
          <p:nvPr/>
        </p:nvSpPr>
        <p:spPr>
          <a:xfrm>
            <a:off x="1737360" y="2505456"/>
            <a:ext cx="10058400" cy="292608"/>
          </a:xfrm>
          <a:prstGeom prst="rect">
            <a:avLst/>
          </a:prstGeom>
          <a:noFill/>
        </p:spPr>
        <p:txBody>
          <a:bodyPr wrap="square" anchor="t">
            <a:spAutoFit/>
          </a:bodyPr>
          <a:lstStyle/>
          <a:p>
            <a:pPr algn="l">
              <a:lnSpc>
                <a:spcPct val="115000"/>
              </a:lnSpc>
            </a:pPr>
            <a:r>
              <a:rPr sz="1200" b="0" i="1">
                <a:solidFill>
                  <a:srgbClr val="556570"/>
                </a:solidFill>
                <a:latin typeface="Calibri"/>
              </a:rPr>
              <a:t>Klasik mantığın sınırları</a:t>
            </a:r>
          </a:p>
        </p:txBody>
      </p:sp>
      <p:sp>
        <p:nvSpPr>
          <p:cNvPr id="14" name="Rounded Rectangle 13"/>
          <p:cNvSpPr/>
          <p:nvPr/>
        </p:nvSpPr>
        <p:spPr>
          <a:xfrm>
            <a:off x="731520" y="2871215"/>
            <a:ext cx="731520" cy="548640"/>
          </a:xfrm>
          <a:prstGeom prst="round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916935"/>
            <a:ext cx="731520" cy="457200"/>
          </a:xfrm>
          <a:prstGeom prst="rect">
            <a:avLst/>
          </a:prstGeom>
          <a:noFill/>
        </p:spPr>
        <p:txBody>
          <a:bodyPr wrap="square" anchor="t">
            <a:spAutoFit/>
          </a:bodyPr>
          <a:lstStyle/>
          <a:p>
            <a:pPr algn="ctr">
              <a:lnSpc>
                <a:spcPct val="115000"/>
              </a:lnSpc>
            </a:pPr>
            <a:r>
              <a:rPr sz="2000" b="1" i="0">
                <a:solidFill>
                  <a:srgbClr val="FFFFFF"/>
                </a:solidFill>
                <a:latin typeface="Calibri Light"/>
              </a:rPr>
              <a:t>03</a:t>
            </a:r>
          </a:p>
        </p:txBody>
      </p:sp>
      <p:sp>
        <p:nvSpPr>
          <p:cNvPr id="16" name="TextBox 15"/>
          <p:cNvSpPr txBox="1"/>
          <p:nvPr/>
        </p:nvSpPr>
        <p:spPr>
          <a:xfrm>
            <a:off x="1737360" y="2871215"/>
            <a:ext cx="10058400" cy="320040"/>
          </a:xfrm>
          <a:prstGeom prst="rect">
            <a:avLst/>
          </a:prstGeom>
          <a:noFill/>
        </p:spPr>
        <p:txBody>
          <a:bodyPr wrap="square" anchor="t">
            <a:spAutoFit/>
          </a:bodyPr>
          <a:lstStyle/>
          <a:p>
            <a:pPr algn="l">
              <a:lnSpc>
                <a:spcPct val="115000"/>
              </a:lnSpc>
            </a:pPr>
            <a:r>
              <a:rPr sz="1800" b="1" i="0">
                <a:solidFill>
                  <a:srgbClr val="0F2D40"/>
                </a:solidFill>
                <a:latin typeface="Calibri Light"/>
              </a:rPr>
              <a:t>Teorik Temel</a:t>
            </a:r>
          </a:p>
        </p:txBody>
      </p:sp>
      <p:sp>
        <p:nvSpPr>
          <p:cNvPr id="17" name="TextBox 16"/>
          <p:cNvSpPr txBox="1"/>
          <p:nvPr/>
        </p:nvSpPr>
        <p:spPr>
          <a:xfrm>
            <a:off x="1737360" y="3163823"/>
            <a:ext cx="10058400" cy="292608"/>
          </a:xfrm>
          <a:prstGeom prst="rect">
            <a:avLst/>
          </a:prstGeom>
          <a:noFill/>
        </p:spPr>
        <p:txBody>
          <a:bodyPr wrap="square" anchor="t">
            <a:spAutoFit/>
          </a:bodyPr>
          <a:lstStyle/>
          <a:p>
            <a:pPr algn="l">
              <a:lnSpc>
                <a:spcPct val="115000"/>
              </a:lnSpc>
            </a:pPr>
            <a:r>
              <a:rPr sz="1200" b="0" i="1">
                <a:solidFill>
                  <a:srgbClr val="556570"/>
                </a:solidFill>
                <a:latin typeface="Calibri"/>
              </a:rPr>
              <a:t>Bulanık küme, üyelik fonksiyonu, Mamdani</a:t>
            </a:r>
          </a:p>
        </p:txBody>
      </p:sp>
      <p:sp>
        <p:nvSpPr>
          <p:cNvPr id="18" name="Rounded Rectangle 17"/>
          <p:cNvSpPr/>
          <p:nvPr/>
        </p:nvSpPr>
        <p:spPr>
          <a:xfrm>
            <a:off x="731520" y="3529583"/>
            <a:ext cx="731520" cy="548640"/>
          </a:xfrm>
          <a:prstGeom prst="round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575303"/>
            <a:ext cx="731520" cy="457200"/>
          </a:xfrm>
          <a:prstGeom prst="rect">
            <a:avLst/>
          </a:prstGeom>
          <a:noFill/>
        </p:spPr>
        <p:txBody>
          <a:bodyPr wrap="square" anchor="t">
            <a:spAutoFit/>
          </a:bodyPr>
          <a:lstStyle/>
          <a:p>
            <a:pPr algn="ctr">
              <a:lnSpc>
                <a:spcPct val="115000"/>
              </a:lnSpc>
            </a:pPr>
            <a:r>
              <a:rPr sz="2000" b="1" i="0">
                <a:solidFill>
                  <a:srgbClr val="FFFFFF"/>
                </a:solidFill>
                <a:latin typeface="Calibri Light"/>
              </a:rPr>
              <a:t>04</a:t>
            </a:r>
          </a:p>
        </p:txBody>
      </p:sp>
      <p:sp>
        <p:nvSpPr>
          <p:cNvPr id="20" name="TextBox 19"/>
          <p:cNvSpPr txBox="1"/>
          <p:nvPr/>
        </p:nvSpPr>
        <p:spPr>
          <a:xfrm>
            <a:off x="1737360" y="3529583"/>
            <a:ext cx="10058400" cy="320040"/>
          </a:xfrm>
          <a:prstGeom prst="rect">
            <a:avLst/>
          </a:prstGeom>
          <a:noFill/>
        </p:spPr>
        <p:txBody>
          <a:bodyPr wrap="square" anchor="t">
            <a:spAutoFit/>
          </a:bodyPr>
          <a:lstStyle/>
          <a:p>
            <a:pPr algn="l">
              <a:lnSpc>
                <a:spcPct val="115000"/>
              </a:lnSpc>
            </a:pPr>
            <a:r>
              <a:rPr sz="1800" b="1" i="0">
                <a:solidFill>
                  <a:srgbClr val="0F2D40"/>
                </a:solidFill>
                <a:latin typeface="Calibri Light"/>
              </a:rPr>
              <a:t>Girdi Değişkenleri</a:t>
            </a:r>
          </a:p>
        </p:txBody>
      </p:sp>
      <p:sp>
        <p:nvSpPr>
          <p:cNvPr id="21" name="TextBox 20"/>
          <p:cNvSpPr txBox="1"/>
          <p:nvPr/>
        </p:nvSpPr>
        <p:spPr>
          <a:xfrm>
            <a:off x="1737360" y="3822191"/>
            <a:ext cx="10058400" cy="292608"/>
          </a:xfrm>
          <a:prstGeom prst="rect">
            <a:avLst/>
          </a:prstGeom>
          <a:noFill/>
        </p:spPr>
        <p:txBody>
          <a:bodyPr wrap="square" anchor="t">
            <a:spAutoFit/>
          </a:bodyPr>
          <a:lstStyle/>
          <a:p>
            <a:pPr algn="l">
              <a:lnSpc>
                <a:spcPct val="115000"/>
              </a:lnSpc>
            </a:pPr>
            <a:r>
              <a:rPr sz="1200" b="0" i="1">
                <a:solidFill>
                  <a:srgbClr val="556570"/>
                </a:solidFill>
                <a:latin typeface="Calibri"/>
              </a:rPr>
              <a:t>Tolerans, ağrı, çürük, yaş</a:t>
            </a:r>
          </a:p>
        </p:txBody>
      </p:sp>
      <p:sp>
        <p:nvSpPr>
          <p:cNvPr id="22" name="Rounded Rectangle 21"/>
          <p:cNvSpPr/>
          <p:nvPr/>
        </p:nvSpPr>
        <p:spPr>
          <a:xfrm>
            <a:off x="731520" y="4187951"/>
            <a:ext cx="731520" cy="548640"/>
          </a:xfrm>
          <a:prstGeom prst="round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233671"/>
            <a:ext cx="731520" cy="457200"/>
          </a:xfrm>
          <a:prstGeom prst="rect">
            <a:avLst/>
          </a:prstGeom>
          <a:noFill/>
        </p:spPr>
        <p:txBody>
          <a:bodyPr wrap="square" anchor="t">
            <a:spAutoFit/>
          </a:bodyPr>
          <a:lstStyle/>
          <a:p>
            <a:pPr algn="ctr">
              <a:lnSpc>
                <a:spcPct val="115000"/>
              </a:lnSpc>
            </a:pPr>
            <a:r>
              <a:rPr sz="2000" b="1" i="0">
                <a:solidFill>
                  <a:srgbClr val="FFFFFF"/>
                </a:solidFill>
                <a:latin typeface="Calibri Light"/>
              </a:rPr>
              <a:t>05</a:t>
            </a:r>
          </a:p>
        </p:txBody>
      </p:sp>
      <p:sp>
        <p:nvSpPr>
          <p:cNvPr id="24" name="TextBox 23"/>
          <p:cNvSpPr txBox="1"/>
          <p:nvPr/>
        </p:nvSpPr>
        <p:spPr>
          <a:xfrm>
            <a:off x="1737360" y="4187951"/>
            <a:ext cx="10058400" cy="320040"/>
          </a:xfrm>
          <a:prstGeom prst="rect">
            <a:avLst/>
          </a:prstGeom>
          <a:noFill/>
        </p:spPr>
        <p:txBody>
          <a:bodyPr wrap="square" anchor="t">
            <a:spAutoFit/>
          </a:bodyPr>
          <a:lstStyle/>
          <a:p>
            <a:pPr algn="l">
              <a:lnSpc>
                <a:spcPct val="115000"/>
              </a:lnSpc>
            </a:pPr>
            <a:r>
              <a:rPr sz="1800" b="1" i="0">
                <a:solidFill>
                  <a:srgbClr val="0F2D40"/>
                </a:solidFill>
                <a:latin typeface="Calibri Light"/>
              </a:rPr>
              <a:t>Kural Tabanı</a:t>
            </a:r>
          </a:p>
        </p:txBody>
      </p:sp>
      <p:sp>
        <p:nvSpPr>
          <p:cNvPr id="25" name="TextBox 24"/>
          <p:cNvSpPr txBox="1"/>
          <p:nvPr/>
        </p:nvSpPr>
        <p:spPr>
          <a:xfrm>
            <a:off x="1737360" y="4480559"/>
            <a:ext cx="10058400" cy="292608"/>
          </a:xfrm>
          <a:prstGeom prst="rect">
            <a:avLst/>
          </a:prstGeom>
          <a:noFill/>
        </p:spPr>
        <p:txBody>
          <a:bodyPr wrap="square" anchor="t">
            <a:spAutoFit/>
          </a:bodyPr>
          <a:lstStyle/>
          <a:p>
            <a:pPr algn="l">
              <a:lnSpc>
                <a:spcPct val="115000"/>
              </a:lnSpc>
            </a:pPr>
            <a:r>
              <a:rPr sz="1200" b="0" i="1">
                <a:solidFill>
                  <a:srgbClr val="556570"/>
                </a:solidFill>
                <a:latin typeface="Calibri"/>
              </a:rPr>
              <a:t>599 kural · 240 aktif</a:t>
            </a:r>
          </a:p>
        </p:txBody>
      </p:sp>
      <p:sp>
        <p:nvSpPr>
          <p:cNvPr id="26" name="Rounded Rectangle 25"/>
          <p:cNvSpPr/>
          <p:nvPr/>
        </p:nvSpPr>
        <p:spPr>
          <a:xfrm>
            <a:off x="731520" y="4846319"/>
            <a:ext cx="731520" cy="548640"/>
          </a:xfrm>
          <a:prstGeom prst="round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4892039"/>
            <a:ext cx="731520" cy="457200"/>
          </a:xfrm>
          <a:prstGeom prst="rect">
            <a:avLst/>
          </a:prstGeom>
          <a:noFill/>
        </p:spPr>
        <p:txBody>
          <a:bodyPr wrap="square" anchor="t">
            <a:spAutoFit/>
          </a:bodyPr>
          <a:lstStyle/>
          <a:p>
            <a:pPr algn="ctr">
              <a:lnSpc>
                <a:spcPct val="115000"/>
              </a:lnSpc>
            </a:pPr>
            <a:r>
              <a:rPr sz="2000" b="1" i="0">
                <a:solidFill>
                  <a:srgbClr val="FFFFFF"/>
                </a:solidFill>
                <a:latin typeface="Calibri Light"/>
              </a:rPr>
              <a:t>06</a:t>
            </a:r>
          </a:p>
        </p:txBody>
      </p:sp>
      <p:sp>
        <p:nvSpPr>
          <p:cNvPr id="28" name="TextBox 27"/>
          <p:cNvSpPr txBox="1"/>
          <p:nvPr/>
        </p:nvSpPr>
        <p:spPr>
          <a:xfrm>
            <a:off x="1737360" y="4846319"/>
            <a:ext cx="10058400" cy="320040"/>
          </a:xfrm>
          <a:prstGeom prst="rect">
            <a:avLst/>
          </a:prstGeom>
          <a:noFill/>
        </p:spPr>
        <p:txBody>
          <a:bodyPr wrap="square" anchor="t">
            <a:spAutoFit/>
          </a:bodyPr>
          <a:lstStyle/>
          <a:p>
            <a:pPr algn="l">
              <a:lnSpc>
                <a:spcPct val="115000"/>
              </a:lnSpc>
            </a:pPr>
            <a:r>
              <a:rPr sz="1800" b="1" i="0">
                <a:solidFill>
                  <a:srgbClr val="0F2D40"/>
                </a:solidFill>
                <a:latin typeface="Calibri Light"/>
              </a:rPr>
              <a:t>Sistem Mimarisi</a:t>
            </a:r>
          </a:p>
        </p:txBody>
      </p:sp>
      <p:sp>
        <p:nvSpPr>
          <p:cNvPr id="29" name="TextBox 28"/>
          <p:cNvSpPr txBox="1"/>
          <p:nvPr/>
        </p:nvSpPr>
        <p:spPr>
          <a:xfrm>
            <a:off x="1737360" y="5138927"/>
            <a:ext cx="10058400" cy="292608"/>
          </a:xfrm>
          <a:prstGeom prst="rect">
            <a:avLst/>
          </a:prstGeom>
          <a:noFill/>
        </p:spPr>
        <p:txBody>
          <a:bodyPr wrap="square" anchor="t">
            <a:spAutoFit/>
          </a:bodyPr>
          <a:lstStyle/>
          <a:p>
            <a:pPr algn="l">
              <a:lnSpc>
                <a:spcPct val="115000"/>
              </a:lnSpc>
            </a:pPr>
            <a:r>
              <a:rPr sz="1200" b="0" i="1">
                <a:solidFill>
                  <a:srgbClr val="556570"/>
                </a:solidFill>
                <a:latin typeface="Calibri"/>
              </a:rPr>
              <a:t>FastAPI + Next.js</a:t>
            </a:r>
          </a:p>
        </p:txBody>
      </p:sp>
      <p:sp>
        <p:nvSpPr>
          <p:cNvPr id="30" name="Rounded Rectangle 29"/>
          <p:cNvSpPr/>
          <p:nvPr/>
        </p:nvSpPr>
        <p:spPr>
          <a:xfrm>
            <a:off x="731520" y="5504687"/>
            <a:ext cx="731520" cy="548640"/>
          </a:xfrm>
          <a:prstGeom prst="round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5550407"/>
            <a:ext cx="731520" cy="457200"/>
          </a:xfrm>
          <a:prstGeom prst="rect">
            <a:avLst/>
          </a:prstGeom>
          <a:noFill/>
        </p:spPr>
        <p:txBody>
          <a:bodyPr wrap="square" anchor="t">
            <a:spAutoFit/>
          </a:bodyPr>
          <a:lstStyle/>
          <a:p>
            <a:pPr algn="ctr">
              <a:lnSpc>
                <a:spcPct val="115000"/>
              </a:lnSpc>
            </a:pPr>
            <a:r>
              <a:rPr sz="2000" b="1" i="0">
                <a:solidFill>
                  <a:srgbClr val="FFFFFF"/>
                </a:solidFill>
                <a:latin typeface="Calibri Light"/>
              </a:rPr>
              <a:t>07</a:t>
            </a:r>
          </a:p>
        </p:txBody>
      </p:sp>
      <p:sp>
        <p:nvSpPr>
          <p:cNvPr id="32" name="TextBox 31"/>
          <p:cNvSpPr txBox="1"/>
          <p:nvPr/>
        </p:nvSpPr>
        <p:spPr>
          <a:xfrm>
            <a:off x="1737360" y="5504687"/>
            <a:ext cx="10058400" cy="320040"/>
          </a:xfrm>
          <a:prstGeom prst="rect">
            <a:avLst/>
          </a:prstGeom>
          <a:noFill/>
        </p:spPr>
        <p:txBody>
          <a:bodyPr wrap="square" anchor="t">
            <a:spAutoFit/>
          </a:bodyPr>
          <a:lstStyle/>
          <a:p>
            <a:pPr algn="l">
              <a:lnSpc>
                <a:spcPct val="115000"/>
              </a:lnSpc>
            </a:pPr>
            <a:r>
              <a:rPr sz="1800" b="1" i="0">
                <a:solidFill>
                  <a:srgbClr val="0F2D40"/>
                </a:solidFill>
                <a:latin typeface="Calibri Light"/>
              </a:rPr>
              <a:t>Sonuçlar &amp; Açıklanabilirlik</a:t>
            </a:r>
          </a:p>
        </p:txBody>
      </p:sp>
      <p:sp>
        <p:nvSpPr>
          <p:cNvPr id="33" name="TextBox 32"/>
          <p:cNvSpPr txBox="1"/>
          <p:nvPr/>
        </p:nvSpPr>
        <p:spPr>
          <a:xfrm>
            <a:off x="1737360" y="5797295"/>
            <a:ext cx="10058400" cy="292608"/>
          </a:xfrm>
          <a:prstGeom prst="rect">
            <a:avLst/>
          </a:prstGeom>
          <a:noFill/>
        </p:spPr>
        <p:txBody>
          <a:bodyPr wrap="square" anchor="t">
            <a:spAutoFit/>
          </a:bodyPr>
          <a:lstStyle/>
          <a:p>
            <a:pPr algn="l">
              <a:lnSpc>
                <a:spcPct val="115000"/>
              </a:lnSpc>
            </a:pPr>
            <a:r>
              <a:rPr sz="1200" b="0" i="1">
                <a:solidFill>
                  <a:srgbClr val="556570"/>
                </a:solidFill>
                <a:latin typeface="Calibri"/>
              </a:rPr>
              <a:t>Baskın kural, dağılım</a:t>
            </a:r>
          </a:p>
        </p:txBody>
      </p:sp>
      <p:sp>
        <p:nvSpPr>
          <p:cNvPr id="34" name="TextBox 33"/>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35" name="TextBox 34"/>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2 / 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Klinik Problem: Dolgu mu, Kanal mı?</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Diş hekimliğinin en sık karşılaşılan ikilemi</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54480"/>
            <a:ext cx="5303520" cy="2011680"/>
          </a:xfrm>
          <a:prstGeom prst="roundRect">
            <a:avLst/>
          </a:prstGeom>
          <a:solidFill>
            <a:srgbClr val="E0F2F4"/>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4937760" cy="457200"/>
          </a:xfrm>
          <a:prstGeom prst="rect">
            <a:avLst/>
          </a:prstGeom>
          <a:noFill/>
        </p:spPr>
        <p:txBody>
          <a:bodyPr wrap="square" anchor="t">
            <a:spAutoFit/>
          </a:bodyPr>
          <a:lstStyle/>
          <a:p>
            <a:pPr algn="l">
              <a:lnSpc>
                <a:spcPct val="115000"/>
              </a:lnSpc>
            </a:pPr>
            <a:r>
              <a:rPr sz="2200" b="1" i="0">
                <a:solidFill>
                  <a:srgbClr val="0E6E76"/>
                </a:solidFill>
                <a:latin typeface="Calibri Light"/>
              </a:rPr>
              <a:t>DOLGU</a:t>
            </a:r>
          </a:p>
        </p:txBody>
      </p:sp>
      <p:sp>
        <p:nvSpPr>
          <p:cNvPr id="8" name="TextBox 7"/>
          <p:cNvSpPr txBox="1"/>
          <p:nvPr/>
        </p:nvSpPr>
        <p:spPr>
          <a:xfrm>
            <a:off x="914400" y="2103120"/>
            <a:ext cx="4937760" cy="1371600"/>
          </a:xfrm>
          <a:prstGeom prst="rect">
            <a:avLst/>
          </a:prstGeom>
          <a:noFill/>
        </p:spPr>
        <p:txBody>
          <a:bodyPr wrap="square" anchor="t">
            <a:spAutoFit/>
          </a:bodyPr>
          <a:lstStyle/>
          <a:p>
            <a:pPr algn="l">
              <a:lnSpc>
                <a:spcPct val="140000"/>
              </a:lnSpc>
            </a:pPr>
            <a:r>
              <a:rPr sz="1400" b="0" i="0" dirty="0">
                <a:solidFill>
                  <a:srgbClr val="0F2D40"/>
                </a:solidFill>
                <a:latin typeface="Calibri"/>
              </a:rPr>
              <a:t>• </a:t>
            </a:r>
            <a:r>
              <a:rPr sz="1400" b="0" i="0" dirty="0" err="1">
                <a:solidFill>
                  <a:srgbClr val="0F2D40"/>
                </a:solidFill>
                <a:latin typeface="Calibri"/>
              </a:rPr>
              <a:t>Pulpa</a:t>
            </a:r>
            <a:r>
              <a:rPr sz="1400" b="0" i="0" dirty="0">
                <a:solidFill>
                  <a:srgbClr val="0F2D40"/>
                </a:solidFill>
                <a:latin typeface="Calibri"/>
              </a:rPr>
              <a:t> </a:t>
            </a:r>
            <a:r>
              <a:rPr sz="1400" b="0" i="0" dirty="0" err="1">
                <a:solidFill>
                  <a:srgbClr val="0F2D40"/>
                </a:solidFill>
                <a:latin typeface="Calibri"/>
              </a:rPr>
              <a:t>canlı</a:t>
            </a:r>
            <a:r>
              <a:rPr sz="1400" b="0" i="0" dirty="0">
                <a:solidFill>
                  <a:srgbClr val="0F2D40"/>
                </a:solidFill>
                <a:latin typeface="Calibri"/>
              </a:rPr>
              <a:t> </a:t>
            </a:r>
            <a:r>
              <a:rPr sz="1400" b="0" i="0" dirty="0" err="1">
                <a:solidFill>
                  <a:srgbClr val="0F2D40"/>
                </a:solidFill>
                <a:latin typeface="Calibri"/>
              </a:rPr>
              <a:t>ve</a:t>
            </a:r>
            <a:r>
              <a:rPr sz="1400" b="0" i="0" dirty="0">
                <a:solidFill>
                  <a:srgbClr val="0F2D40"/>
                </a:solidFill>
                <a:latin typeface="Calibri"/>
              </a:rPr>
              <a:t> </a:t>
            </a:r>
            <a:r>
              <a:rPr sz="1400" b="0" i="0" dirty="0" err="1">
                <a:solidFill>
                  <a:srgbClr val="0F2D40"/>
                </a:solidFill>
                <a:latin typeface="Calibri"/>
              </a:rPr>
              <a:t>enfeksiyonsuz</a:t>
            </a:r>
            <a:endParaRPr sz="1400" b="0" i="0" dirty="0">
              <a:solidFill>
                <a:srgbClr val="0F2D40"/>
              </a:solidFill>
              <a:latin typeface="Calibri"/>
            </a:endParaRPr>
          </a:p>
          <a:p>
            <a:pPr algn="l">
              <a:lnSpc>
                <a:spcPct val="140000"/>
              </a:lnSpc>
            </a:pPr>
            <a:r>
              <a:rPr sz="1400" b="0" i="0" dirty="0">
                <a:solidFill>
                  <a:srgbClr val="0F2D40"/>
                </a:solidFill>
                <a:latin typeface="Calibri"/>
              </a:rPr>
              <a:t>• Daha </a:t>
            </a:r>
            <a:r>
              <a:rPr sz="1400" b="0" i="0" dirty="0" err="1">
                <a:solidFill>
                  <a:srgbClr val="0F2D40"/>
                </a:solidFill>
                <a:latin typeface="Calibri"/>
              </a:rPr>
              <a:t>az</a:t>
            </a:r>
            <a:r>
              <a:rPr sz="1400" b="0" i="0" dirty="0">
                <a:solidFill>
                  <a:srgbClr val="0F2D40"/>
                </a:solidFill>
                <a:latin typeface="Calibri"/>
              </a:rPr>
              <a:t> </a:t>
            </a:r>
            <a:r>
              <a:rPr sz="1400" b="0" i="0" dirty="0" err="1">
                <a:solidFill>
                  <a:srgbClr val="0F2D40"/>
                </a:solidFill>
                <a:latin typeface="Calibri"/>
              </a:rPr>
              <a:t>invaziv</a:t>
            </a:r>
            <a:r>
              <a:rPr sz="1400" b="0" i="0" dirty="0">
                <a:solidFill>
                  <a:srgbClr val="0F2D40"/>
                </a:solidFill>
                <a:latin typeface="Calibri"/>
              </a:rPr>
              <a:t>, </a:t>
            </a:r>
            <a:r>
              <a:rPr sz="1400" b="0" i="0" dirty="0" err="1">
                <a:solidFill>
                  <a:srgbClr val="0F2D40"/>
                </a:solidFill>
                <a:latin typeface="Calibri"/>
              </a:rPr>
              <a:t>daha</a:t>
            </a:r>
            <a:r>
              <a:rPr sz="1400" b="0" i="0" dirty="0">
                <a:solidFill>
                  <a:srgbClr val="0F2D40"/>
                </a:solidFill>
                <a:latin typeface="Calibri"/>
              </a:rPr>
              <a:t> </a:t>
            </a:r>
            <a:r>
              <a:rPr sz="1400" b="0" i="0" dirty="0" err="1">
                <a:solidFill>
                  <a:srgbClr val="0F2D40"/>
                </a:solidFill>
                <a:latin typeface="Calibri"/>
              </a:rPr>
              <a:t>ucuz</a:t>
            </a:r>
            <a:endParaRPr sz="1400" b="0" i="0" dirty="0">
              <a:solidFill>
                <a:srgbClr val="0F2D40"/>
              </a:solidFill>
              <a:latin typeface="Calibri"/>
            </a:endParaRPr>
          </a:p>
          <a:p>
            <a:pPr algn="l">
              <a:lnSpc>
                <a:spcPct val="140000"/>
              </a:lnSpc>
            </a:pPr>
            <a:r>
              <a:rPr sz="1400" b="0" i="0" dirty="0">
                <a:solidFill>
                  <a:srgbClr val="0F2D40"/>
                </a:solidFill>
                <a:latin typeface="Calibri"/>
              </a:rPr>
              <a:t>• </a:t>
            </a:r>
            <a:r>
              <a:rPr sz="1400" b="0" i="0" dirty="0" err="1">
                <a:solidFill>
                  <a:srgbClr val="0F2D40"/>
                </a:solidFill>
                <a:latin typeface="Calibri"/>
              </a:rPr>
              <a:t>Çürük</a:t>
            </a:r>
            <a:r>
              <a:rPr sz="1400" b="0" i="0" dirty="0">
                <a:solidFill>
                  <a:srgbClr val="0F2D40"/>
                </a:solidFill>
                <a:latin typeface="Calibri"/>
              </a:rPr>
              <a:t> </a:t>
            </a:r>
            <a:r>
              <a:rPr sz="1400" b="0" i="0" dirty="0" err="1">
                <a:solidFill>
                  <a:srgbClr val="0F2D40"/>
                </a:solidFill>
                <a:latin typeface="Calibri"/>
              </a:rPr>
              <a:t>dokunun</a:t>
            </a:r>
            <a:r>
              <a:rPr sz="1400" b="0" i="0" dirty="0">
                <a:solidFill>
                  <a:srgbClr val="0F2D40"/>
                </a:solidFill>
                <a:latin typeface="Calibri"/>
              </a:rPr>
              <a:t> </a:t>
            </a:r>
            <a:r>
              <a:rPr sz="1400" b="0" i="0" dirty="0" err="1">
                <a:solidFill>
                  <a:srgbClr val="0F2D40"/>
                </a:solidFill>
                <a:latin typeface="Calibri"/>
              </a:rPr>
              <a:t>uzaklaştırılması</a:t>
            </a:r>
            <a:endParaRPr sz="1400" b="0" i="0" dirty="0">
              <a:solidFill>
                <a:srgbClr val="0F2D40"/>
              </a:solidFill>
              <a:latin typeface="Calibri"/>
            </a:endParaRPr>
          </a:p>
          <a:p>
            <a:pPr algn="l">
              <a:lnSpc>
                <a:spcPct val="140000"/>
              </a:lnSpc>
            </a:pPr>
            <a:r>
              <a:rPr sz="1400" b="0" i="0" dirty="0">
                <a:solidFill>
                  <a:srgbClr val="0F2D40"/>
                </a:solidFill>
                <a:latin typeface="Calibri"/>
              </a:rPr>
              <a:t>• </a:t>
            </a:r>
            <a:r>
              <a:rPr sz="1400" b="0" i="0" dirty="0" err="1">
                <a:solidFill>
                  <a:srgbClr val="0F2D40"/>
                </a:solidFill>
                <a:latin typeface="Calibri"/>
              </a:rPr>
              <a:t>Boşluğun</a:t>
            </a:r>
            <a:r>
              <a:rPr sz="1400" b="0" i="0" dirty="0">
                <a:solidFill>
                  <a:srgbClr val="0F2D40"/>
                </a:solidFill>
                <a:latin typeface="Calibri"/>
              </a:rPr>
              <a:t> </a:t>
            </a:r>
            <a:r>
              <a:rPr sz="1400" b="0" i="0" dirty="0" err="1">
                <a:solidFill>
                  <a:srgbClr val="0F2D40"/>
                </a:solidFill>
                <a:latin typeface="Calibri"/>
              </a:rPr>
              <a:t>restoratif</a:t>
            </a:r>
            <a:r>
              <a:rPr sz="1400" b="0" i="0" dirty="0">
                <a:solidFill>
                  <a:srgbClr val="0F2D40"/>
                </a:solidFill>
                <a:latin typeface="Calibri"/>
              </a:rPr>
              <a:t> </a:t>
            </a:r>
            <a:r>
              <a:rPr sz="1400" b="0" i="0" dirty="0" err="1">
                <a:solidFill>
                  <a:srgbClr val="0F2D40"/>
                </a:solidFill>
                <a:latin typeface="Calibri"/>
              </a:rPr>
              <a:t>materyalle</a:t>
            </a:r>
            <a:r>
              <a:rPr sz="1400" b="0" i="0" dirty="0">
                <a:solidFill>
                  <a:srgbClr val="0F2D40"/>
                </a:solidFill>
                <a:latin typeface="Calibri"/>
              </a:rPr>
              <a:t> </a:t>
            </a:r>
            <a:r>
              <a:rPr sz="1400" b="0" i="0" dirty="0" err="1">
                <a:solidFill>
                  <a:srgbClr val="0F2D40"/>
                </a:solidFill>
                <a:latin typeface="Calibri"/>
              </a:rPr>
              <a:t>doldurulması</a:t>
            </a:r>
            <a:endParaRPr sz="1400" b="0" i="0" dirty="0">
              <a:solidFill>
                <a:srgbClr val="0F2D40"/>
              </a:solidFill>
              <a:latin typeface="Calibri"/>
            </a:endParaRPr>
          </a:p>
        </p:txBody>
      </p:sp>
      <p:sp>
        <p:nvSpPr>
          <p:cNvPr id="9" name="Rounded Rectangle 8"/>
          <p:cNvSpPr/>
          <p:nvPr/>
        </p:nvSpPr>
        <p:spPr>
          <a:xfrm>
            <a:off x="6263640" y="1554480"/>
            <a:ext cx="5303520" cy="2011680"/>
          </a:xfrm>
          <a:prstGeom prst="roundRect">
            <a:avLst/>
          </a:prstGeom>
          <a:solidFill>
            <a:srgbClr val="E0F2F4"/>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645920"/>
            <a:ext cx="4937760" cy="457200"/>
          </a:xfrm>
          <a:prstGeom prst="rect">
            <a:avLst/>
          </a:prstGeom>
          <a:noFill/>
        </p:spPr>
        <p:txBody>
          <a:bodyPr wrap="square" anchor="t">
            <a:spAutoFit/>
          </a:bodyPr>
          <a:lstStyle/>
          <a:p>
            <a:pPr algn="l">
              <a:lnSpc>
                <a:spcPct val="115000"/>
              </a:lnSpc>
            </a:pPr>
            <a:r>
              <a:rPr sz="2200" b="1" i="0">
                <a:solidFill>
                  <a:srgbClr val="0E6E76"/>
                </a:solidFill>
                <a:latin typeface="Calibri Light"/>
              </a:rPr>
              <a:t>KANAL TEDAVİSİ</a:t>
            </a:r>
          </a:p>
        </p:txBody>
      </p:sp>
      <p:sp>
        <p:nvSpPr>
          <p:cNvPr id="11" name="TextBox 10"/>
          <p:cNvSpPr txBox="1"/>
          <p:nvPr/>
        </p:nvSpPr>
        <p:spPr>
          <a:xfrm>
            <a:off x="6537960" y="2103120"/>
            <a:ext cx="4937760" cy="1371600"/>
          </a:xfrm>
          <a:prstGeom prst="rect">
            <a:avLst/>
          </a:prstGeom>
          <a:noFill/>
        </p:spPr>
        <p:txBody>
          <a:bodyPr wrap="square" anchor="t">
            <a:spAutoFit/>
          </a:bodyPr>
          <a:lstStyle/>
          <a:p>
            <a:pPr algn="l">
              <a:lnSpc>
                <a:spcPct val="140000"/>
              </a:lnSpc>
            </a:pPr>
            <a:r>
              <a:rPr sz="1400" b="0" i="0" dirty="0">
                <a:solidFill>
                  <a:srgbClr val="0F2D40"/>
                </a:solidFill>
                <a:latin typeface="Calibri"/>
              </a:rPr>
              <a:t>• </a:t>
            </a:r>
            <a:r>
              <a:rPr sz="1400" b="0" i="0" dirty="0" err="1">
                <a:solidFill>
                  <a:srgbClr val="0F2D40"/>
                </a:solidFill>
                <a:latin typeface="Calibri"/>
              </a:rPr>
              <a:t>Pulpada</a:t>
            </a:r>
            <a:r>
              <a:rPr sz="1400" b="0" i="0" dirty="0">
                <a:solidFill>
                  <a:srgbClr val="0F2D40"/>
                </a:solidFill>
                <a:latin typeface="Calibri"/>
              </a:rPr>
              <a:t> </a:t>
            </a:r>
            <a:r>
              <a:rPr sz="1400" b="0" i="0" dirty="0" err="1">
                <a:solidFill>
                  <a:srgbClr val="0F2D40"/>
                </a:solidFill>
                <a:latin typeface="Calibri"/>
              </a:rPr>
              <a:t>geri</a:t>
            </a:r>
            <a:r>
              <a:rPr sz="1400" b="0" i="0" dirty="0">
                <a:solidFill>
                  <a:srgbClr val="0F2D40"/>
                </a:solidFill>
                <a:latin typeface="Calibri"/>
              </a:rPr>
              <a:t> </a:t>
            </a:r>
            <a:r>
              <a:rPr sz="1400" b="0" i="0" dirty="0" err="1">
                <a:solidFill>
                  <a:srgbClr val="0F2D40"/>
                </a:solidFill>
                <a:latin typeface="Calibri"/>
              </a:rPr>
              <a:t>dönüşümsüz</a:t>
            </a:r>
            <a:r>
              <a:rPr sz="1400" b="0" i="0" dirty="0">
                <a:solidFill>
                  <a:srgbClr val="0F2D40"/>
                </a:solidFill>
                <a:latin typeface="Calibri"/>
              </a:rPr>
              <a:t> </a:t>
            </a:r>
            <a:r>
              <a:rPr sz="1400" b="0" i="0" dirty="0" err="1">
                <a:solidFill>
                  <a:srgbClr val="0F2D40"/>
                </a:solidFill>
                <a:latin typeface="Calibri"/>
              </a:rPr>
              <a:t>iltihap</a:t>
            </a:r>
            <a:r>
              <a:rPr sz="1400" b="0" i="0" dirty="0">
                <a:solidFill>
                  <a:srgbClr val="0F2D40"/>
                </a:solidFill>
                <a:latin typeface="Calibri"/>
              </a:rPr>
              <a:t> / </a:t>
            </a:r>
            <a:r>
              <a:rPr sz="1400" b="0" i="0" dirty="0" err="1">
                <a:solidFill>
                  <a:srgbClr val="0F2D40"/>
                </a:solidFill>
                <a:latin typeface="Calibri"/>
              </a:rPr>
              <a:t>nekroz</a:t>
            </a:r>
            <a:endParaRPr sz="1400" b="0" i="0" dirty="0">
              <a:solidFill>
                <a:srgbClr val="0F2D40"/>
              </a:solidFill>
              <a:latin typeface="Calibri"/>
            </a:endParaRPr>
          </a:p>
          <a:p>
            <a:pPr algn="l">
              <a:lnSpc>
                <a:spcPct val="140000"/>
              </a:lnSpc>
            </a:pPr>
            <a:r>
              <a:rPr sz="1400" b="0" i="0" dirty="0">
                <a:solidFill>
                  <a:srgbClr val="0F2D40"/>
                </a:solidFill>
                <a:latin typeface="Calibri"/>
              </a:rPr>
              <a:t>• Kök </a:t>
            </a:r>
            <a:r>
              <a:rPr sz="1400" b="0" i="0" dirty="0" err="1">
                <a:solidFill>
                  <a:srgbClr val="0F2D40"/>
                </a:solidFill>
                <a:latin typeface="Calibri"/>
              </a:rPr>
              <a:t>kanalının</a:t>
            </a:r>
            <a:r>
              <a:rPr sz="1400" b="0" i="0" dirty="0">
                <a:solidFill>
                  <a:srgbClr val="0F2D40"/>
                </a:solidFill>
                <a:latin typeface="Calibri"/>
              </a:rPr>
              <a:t> </a:t>
            </a:r>
            <a:r>
              <a:rPr sz="1400" b="0" i="0" dirty="0" err="1">
                <a:solidFill>
                  <a:srgbClr val="0F2D40"/>
                </a:solidFill>
                <a:latin typeface="Calibri"/>
              </a:rPr>
              <a:t>temizlenip</a:t>
            </a:r>
            <a:r>
              <a:rPr sz="1400" b="0" i="0" dirty="0">
                <a:solidFill>
                  <a:srgbClr val="0F2D40"/>
                </a:solidFill>
                <a:latin typeface="Calibri"/>
              </a:rPr>
              <a:t> </a:t>
            </a:r>
            <a:r>
              <a:rPr sz="1400" b="0" i="0" dirty="0" err="1">
                <a:solidFill>
                  <a:srgbClr val="0F2D40"/>
                </a:solidFill>
                <a:latin typeface="Calibri"/>
              </a:rPr>
              <a:t>doldurulması</a:t>
            </a:r>
            <a:endParaRPr sz="1400" b="0" i="0" dirty="0">
              <a:solidFill>
                <a:srgbClr val="0F2D40"/>
              </a:solidFill>
              <a:latin typeface="Calibri"/>
            </a:endParaRPr>
          </a:p>
          <a:p>
            <a:pPr algn="l">
              <a:lnSpc>
                <a:spcPct val="140000"/>
              </a:lnSpc>
            </a:pPr>
            <a:r>
              <a:rPr sz="1400" b="0" i="0" dirty="0">
                <a:solidFill>
                  <a:srgbClr val="0F2D40"/>
                </a:solidFill>
                <a:latin typeface="Calibri"/>
              </a:rPr>
              <a:t>• Daha </a:t>
            </a:r>
            <a:r>
              <a:rPr sz="1400" b="0" i="0" dirty="0" err="1">
                <a:solidFill>
                  <a:srgbClr val="0F2D40"/>
                </a:solidFill>
                <a:latin typeface="Calibri"/>
              </a:rPr>
              <a:t>uzun</a:t>
            </a:r>
            <a:r>
              <a:rPr sz="1400" b="0" i="0" dirty="0">
                <a:solidFill>
                  <a:srgbClr val="0F2D40"/>
                </a:solidFill>
                <a:latin typeface="Calibri"/>
              </a:rPr>
              <a:t>, </a:t>
            </a:r>
            <a:r>
              <a:rPr sz="1400" b="0" i="0" dirty="0" err="1">
                <a:solidFill>
                  <a:srgbClr val="0F2D40"/>
                </a:solidFill>
                <a:latin typeface="Calibri"/>
              </a:rPr>
              <a:t>daha</a:t>
            </a:r>
            <a:r>
              <a:rPr sz="1400" b="0" i="0" dirty="0">
                <a:solidFill>
                  <a:srgbClr val="0F2D40"/>
                </a:solidFill>
                <a:latin typeface="Calibri"/>
              </a:rPr>
              <a:t> </a:t>
            </a:r>
            <a:r>
              <a:rPr sz="1400" b="0" i="0" dirty="0" err="1">
                <a:solidFill>
                  <a:srgbClr val="0F2D40"/>
                </a:solidFill>
                <a:latin typeface="Calibri"/>
              </a:rPr>
              <a:t>pahalı</a:t>
            </a:r>
            <a:r>
              <a:rPr sz="1400" b="0" i="0" dirty="0">
                <a:solidFill>
                  <a:srgbClr val="0F2D40"/>
                </a:solidFill>
                <a:latin typeface="Calibri"/>
              </a:rPr>
              <a:t>, </a:t>
            </a:r>
            <a:r>
              <a:rPr sz="1400" b="0" i="0" dirty="0" err="1">
                <a:solidFill>
                  <a:srgbClr val="0F2D40"/>
                </a:solidFill>
                <a:latin typeface="Calibri"/>
              </a:rPr>
              <a:t>daha</a:t>
            </a:r>
            <a:r>
              <a:rPr sz="1400" b="0" i="0" dirty="0">
                <a:solidFill>
                  <a:srgbClr val="0F2D40"/>
                </a:solidFill>
                <a:latin typeface="Calibri"/>
              </a:rPr>
              <a:t> </a:t>
            </a:r>
            <a:r>
              <a:rPr sz="1400" b="0" i="0" dirty="0" err="1">
                <a:solidFill>
                  <a:srgbClr val="0F2D40"/>
                </a:solidFill>
                <a:latin typeface="Calibri"/>
              </a:rPr>
              <a:t>invaziv</a:t>
            </a:r>
            <a:endParaRPr sz="1400" b="0" i="0" dirty="0">
              <a:solidFill>
                <a:srgbClr val="0F2D40"/>
              </a:solidFill>
              <a:latin typeface="Calibri"/>
            </a:endParaRPr>
          </a:p>
          <a:p>
            <a:pPr algn="l">
              <a:lnSpc>
                <a:spcPct val="140000"/>
              </a:lnSpc>
            </a:pPr>
            <a:r>
              <a:rPr sz="1400" b="0" i="0" dirty="0">
                <a:solidFill>
                  <a:srgbClr val="0F2D40"/>
                </a:solidFill>
                <a:latin typeface="Calibri"/>
              </a:rPr>
              <a:t>• </a:t>
            </a:r>
            <a:r>
              <a:rPr sz="1400" b="0" i="0" dirty="0" err="1">
                <a:solidFill>
                  <a:srgbClr val="0F2D40"/>
                </a:solidFill>
                <a:latin typeface="Calibri"/>
              </a:rPr>
              <a:t>Endodontik</a:t>
            </a:r>
            <a:r>
              <a:rPr sz="1400" b="0" i="0" dirty="0">
                <a:solidFill>
                  <a:srgbClr val="0F2D40"/>
                </a:solidFill>
                <a:latin typeface="Calibri"/>
              </a:rPr>
              <a:t> </a:t>
            </a:r>
            <a:r>
              <a:rPr sz="1400" b="0" i="0" dirty="0" err="1">
                <a:solidFill>
                  <a:srgbClr val="0F2D40"/>
                </a:solidFill>
                <a:latin typeface="Calibri"/>
              </a:rPr>
              <a:t>prosedürler</a:t>
            </a:r>
            <a:r>
              <a:rPr sz="1400" b="0" i="0" dirty="0">
                <a:solidFill>
                  <a:srgbClr val="0F2D40"/>
                </a:solidFill>
                <a:latin typeface="Calibri"/>
              </a:rPr>
              <a:t> </a:t>
            </a:r>
            <a:r>
              <a:rPr sz="1400" b="0" i="0" dirty="0" err="1">
                <a:solidFill>
                  <a:srgbClr val="0F2D40"/>
                </a:solidFill>
                <a:latin typeface="Calibri"/>
              </a:rPr>
              <a:t>gerekir</a:t>
            </a:r>
            <a:endParaRPr sz="1400" b="0" i="0" dirty="0">
              <a:solidFill>
                <a:srgbClr val="0F2D40"/>
              </a:solidFill>
              <a:latin typeface="Calibri"/>
            </a:endParaRPr>
          </a:p>
        </p:txBody>
      </p:sp>
      <p:sp>
        <p:nvSpPr>
          <p:cNvPr id="12" name="Rounded Rectangle 11"/>
          <p:cNvSpPr/>
          <p:nvPr/>
        </p:nvSpPr>
        <p:spPr>
          <a:xfrm>
            <a:off x="640080" y="3931920"/>
            <a:ext cx="10927080" cy="2194560"/>
          </a:xfrm>
          <a:prstGeom prst="roundRect">
            <a:avLst/>
          </a:prstGeom>
          <a:solidFill>
            <a:srgbClr val="0F2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114800"/>
            <a:ext cx="10332720" cy="457200"/>
          </a:xfrm>
          <a:prstGeom prst="rect">
            <a:avLst/>
          </a:prstGeom>
          <a:noFill/>
        </p:spPr>
        <p:txBody>
          <a:bodyPr wrap="square" anchor="t">
            <a:spAutoFit/>
          </a:bodyPr>
          <a:lstStyle/>
          <a:p>
            <a:pPr algn="l">
              <a:lnSpc>
                <a:spcPct val="115000"/>
              </a:lnSpc>
            </a:pPr>
            <a:r>
              <a:rPr sz="2000" b="1" i="0">
                <a:solidFill>
                  <a:srgbClr val="FFFFFF"/>
                </a:solidFill>
                <a:latin typeface="Calibri Light"/>
              </a:rPr>
              <a:t>Sorun: Sınır net değil</a:t>
            </a:r>
          </a:p>
        </p:txBody>
      </p:sp>
      <p:sp>
        <p:nvSpPr>
          <p:cNvPr id="14" name="TextBox 13"/>
          <p:cNvSpPr txBox="1"/>
          <p:nvPr/>
        </p:nvSpPr>
        <p:spPr>
          <a:xfrm>
            <a:off x="914400" y="4572000"/>
            <a:ext cx="10332720" cy="1028423"/>
          </a:xfrm>
          <a:prstGeom prst="rect">
            <a:avLst/>
          </a:prstGeom>
          <a:noFill/>
        </p:spPr>
        <p:txBody>
          <a:bodyPr wrap="square" anchor="t">
            <a:spAutoFit/>
          </a:bodyPr>
          <a:lstStyle/>
          <a:p>
            <a:pPr algn="l">
              <a:lnSpc>
                <a:spcPct val="150000"/>
              </a:lnSpc>
            </a:pPr>
            <a:r>
              <a:rPr sz="1400" b="0" i="0" dirty="0">
                <a:solidFill>
                  <a:srgbClr val="E0F2F4"/>
                </a:solidFill>
                <a:latin typeface="Calibri"/>
              </a:rPr>
              <a:t>• </a:t>
            </a:r>
            <a:r>
              <a:rPr sz="1400" b="0" i="0" dirty="0" err="1">
                <a:solidFill>
                  <a:srgbClr val="E0F2F4"/>
                </a:solidFill>
                <a:latin typeface="Calibri"/>
              </a:rPr>
              <a:t>Pulpanın</a:t>
            </a:r>
            <a:r>
              <a:rPr sz="1400" b="0" i="0" dirty="0">
                <a:solidFill>
                  <a:srgbClr val="E0F2F4"/>
                </a:solidFill>
                <a:latin typeface="Calibri"/>
              </a:rPr>
              <a:t> </a:t>
            </a:r>
            <a:r>
              <a:rPr sz="1400" b="0" i="0" dirty="0" err="1">
                <a:solidFill>
                  <a:srgbClr val="E0F2F4"/>
                </a:solidFill>
                <a:latin typeface="Calibri"/>
              </a:rPr>
              <a:t>gerçek</a:t>
            </a:r>
            <a:r>
              <a:rPr sz="1400" b="0" i="0" dirty="0">
                <a:solidFill>
                  <a:srgbClr val="E0F2F4"/>
                </a:solidFill>
                <a:latin typeface="Calibri"/>
              </a:rPr>
              <a:t> </a:t>
            </a:r>
            <a:r>
              <a:rPr sz="1400" b="0" i="0" dirty="0" err="1">
                <a:solidFill>
                  <a:srgbClr val="E0F2F4"/>
                </a:solidFill>
                <a:latin typeface="Calibri"/>
              </a:rPr>
              <a:t>durumu</a:t>
            </a:r>
            <a:r>
              <a:rPr sz="1400" b="0" i="0" dirty="0">
                <a:solidFill>
                  <a:srgbClr val="E0F2F4"/>
                </a:solidFill>
                <a:latin typeface="Calibri"/>
              </a:rPr>
              <a:t> </a:t>
            </a:r>
            <a:r>
              <a:rPr lang="tr-TR" sz="1400" b="0" i="0" dirty="0">
                <a:solidFill>
                  <a:srgbClr val="E0F2F4"/>
                </a:solidFill>
                <a:latin typeface="Calibri"/>
              </a:rPr>
              <a:t>doğrudan</a:t>
            </a:r>
            <a:r>
              <a:rPr sz="1400" b="0" i="0" dirty="0">
                <a:solidFill>
                  <a:srgbClr val="E0F2F4"/>
                </a:solidFill>
                <a:latin typeface="Calibri"/>
              </a:rPr>
              <a:t> </a:t>
            </a:r>
            <a:r>
              <a:rPr sz="1400" b="0" i="0" dirty="0" err="1">
                <a:solidFill>
                  <a:srgbClr val="E0F2F4"/>
                </a:solidFill>
                <a:latin typeface="Calibri"/>
              </a:rPr>
              <a:t>gözlemlenemez</a:t>
            </a:r>
            <a:r>
              <a:rPr sz="1400" b="0" i="0" dirty="0">
                <a:solidFill>
                  <a:srgbClr val="E0F2F4"/>
                </a:solidFill>
                <a:latin typeface="Calibri"/>
              </a:rPr>
              <a:t>.</a:t>
            </a:r>
          </a:p>
          <a:p>
            <a:pPr algn="l">
              <a:lnSpc>
                <a:spcPct val="150000"/>
              </a:lnSpc>
            </a:pPr>
            <a:r>
              <a:rPr sz="1400" b="0" i="0" dirty="0">
                <a:solidFill>
                  <a:srgbClr val="E0F2F4"/>
                </a:solidFill>
                <a:latin typeface="Calibri"/>
              </a:rPr>
              <a:t>• </a:t>
            </a:r>
            <a:r>
              <a:rPr sz="1400" b="0" i="0" dirty="0" err="1">
                <a:solidFill>
                  <a:srgbClr val="E0F2F4"/>
                </a:solidFill>
                <a:latin typeface="Calibri"/>
              </a:rPr>
              <a:t>Hekim</a:t>
            </a:r>
            <a:r>
              <a:rPr sz="1400" b="0" i="0" dirty="0">
                <a:solidFill>
                  <a:srgbClr val="E0F2F4"/>
                </a:solidFill>
                <a:latin typeface="Calibri"/>
              </a:rPr>
              <a:t>; </a:t>
            </a:r>
            <a:r>
              <a:rPr sz="1400" b="0" i="0" dirty="0" err="1">
                <a:solidFill>
                  <a:srgbClr val="E0F2F4"/>
                </a:solidFill>
                <a:latin typeface="Calibri"/>
              </a:rPr>
              <a:t>ağrı</a:t>
            </a:r>
            <a:r>
              <a:rPr sz="1400" b="0" i="0" dirty="0">
                <a:solidFill>
                  <a:srgbClr val="E0F2F4"/>
                </a:solidFill>
                <a:latin typeface="Calibri"/>
              </a:rPr>
              <a:t> </a:t>
            </a:r>
            <a:r>
              <a:rPr sz="1400" b="0" i="0" dirty="0" err="1">
                <a:solidFill>
                  <a:srgbClr val="E0F2F4"/>
                </a:solidFill>
                <a:latin typeface="Calibri"/>
              </a:rPr>
              <a:t>karakteri</a:t>
            </a:r>
            <a:r>
              <a:rPr sz="1400" b="0" i="0" dirty="0">
                <a:solidFill>
                  <a:srgbClr val="E0F2F4"/>
                </a:solidFill>
                <a:latin typeface="Calibri"/>
              </a:rPr>
              <a:t>, </a:t>
            </a:r>
            <a:r>
              <a:rPr sz="1400" b="0" i="0" dirty="0" err="1">
                <a:solidFill>
                  <a:srgbClr val="E0F2F4"/>
                </a:solidFill>
                <a:latin typeface="Calibri"/>
              </a:rPr>
              <a:t>çürük</a:t>
            </a:r>
            <a:r>
              <a:rPr sz="1400" b="0" i="0" dirty="0">
                <a:solidFill>
                  <a:srgbClr val="E0F2F4"/>
                </a:solidFill>
                <a:latin typeface="Calibri"/>
              </a:rPr>
              <a:t> </a:t>
            </a:r>
            <a:r>
              <a:rPr sz="1400" b="0" i="0" dirty="0" err="1">
                <a:solidFill>
                  <a:srgbClr val="E0F2F4"/>
                </a:solidFill>
                <a:latin typeface="Calibri"/>
              </a:rPr>
              <a:t>derinliği</a:t>
            </a:r>
            <a:r>
              <a:rPr sz="1400" b="0" i="0" dirty="0">
                <a:solidFill>
                  <a:srgbClr val="E0F2F4"/>
                </a:solidFill>
                <a:latin typeface="Calibri"/>
              </a:rPr>
              <a:t>, hasta </a:t>
            </a:r>
            <a:r>
              <a:rPr sz="1400" b="0" i="0" dirty="0" err="1">
                <a:solidFill>
                  <a:srgbClr val="E0F2F4"/>
                </a:solidFill>
                <a:latin typeface="Calibri"/>
              </a:rPr>
              <a:t>toleransı</a:t>
            </a:r>
            <a:r>
              <a:rPr sz="1400" b="0" i="0" dirty="0">
                <a:solidFill>
                  <a:srgbClr val="E0F2F4"/>
                </a:solidFill>
                <a:latin typeface="Calibri"/>
              </a:rPr>
              <a:t> </a:t>
            </a:r>
            <a:r>
              <a:rPr sz="1400" b="0" i="0" dirty="0" err="1">
                <a:solidFill>
                  <a:srgbClr val="E0F2F4"/>
                </a:solidFill>
                <a:latin typeface="Calibri"/>
              </a:rPr>
              <a:t>ve</a:t>
            </a:r>
            <a:r>
              <a:rPr sz="1400" b="0" i="0" dirty="0">
                <a:solidFill>
                  <a:srgbClr val="E0F2F4"/>
                </a:solidFill>
                <a:latin typeface="Calibri"/>
              </a:rPr>
              <a:t> </a:t>
            </a:r>
            <a:r>
              <a:rPr sz="1400" b="0" i="0" dirty="0" err="1">
                <a:solidFill>
                  <a:srgbClr val="E0F2F4"/>
                </a:solidFill>
                <a:latin typeface="Calibri"/>
              </a:rPr>
              <a:t>yaş</a:t>
            </a:r>
            <a:r>
              <a:rPr sz="1400" b="0" i="0" dirty="0">
                <a:solidFill>
                  <a:srgbClr val="E0F2F4"/>
                </a:solidFill>
                <a:latin typeface="Calibri"/>
              </a:rPr>
              <a:t> </a:t>
            </a:r>
            <a:r>
              <a:rPr sz="1400" b="0" i="0" dirty="0" err="1">
                <a:solidFill>
                  <a:srgbClr val="E0F2F4"/>
                </a:solidFill>
                <a:latin typeface="Calibri"/>
              </a:rPr>
              <a:t>gibi</a:t>
            </a:r>
            <a:r>
              <a:rPr sz="1400" b="0" i="0" dirty="0">
                <a:solidFill>
                  <a:srgbClr val="E0F2F4"/>
                </a:solidFill>
                <a:latin typeface="Calibri"/>
              </a:rPr>
              <a:t> </a:t>
            </a:r>
            <a:r>
              <a:rPr lang="tr-TR" sz="1400" b="0" i="0" dirty="0">
                <a:solidFill>
                  <a:srgbClr val="E0F2F4"/>
                </a:solidFill>
                <a:latin typeface="Calibri"/>
              </a:rPr>
              <a:t>dolaylı</a:t>
            </a:r>
            <a:r>
              <a:rPr sz="1400" b="0" i="0" dirty="0">
                <a:solidFill>
                  <a:srgbClr val="E0F2F4"/>
                </a:solidFill>
                <a:latin typeface="Calibri"/>
              </a:rPr>
              <a:t> </a:t>
            </a:r>
            <a:r>
              <a:rPr sz="1400" b="0" i="0" dirty="0" err="1">
                <a:solidFill>
                  <a:srgbClr val="E0F2F4"/>
                </a:solidFill>
                <a:latin typeface="Calibri"/>
              </a:rPr>
              <a:t>göstergelere</a:t>
            </a:r>
            <a:r>
              <a:rPr sz="1400" b="0" i="0" dirty="0">
                <a:solidFill>
                  <a:srgbClr val="E0F2F4"/>
                </a:solidFill>
                <a:latin typeface="Calibri"/>
              </a:rPr>
              <a:t> </a:t>
            </a:r>
            <a:r>
              <a:rPr sz="1400" b="0" i="0" dirty="0" err="1">
                <a:solidFill>
                  <a:srgbClr val="E0F2F4"/>
                </a:solidFill>
                <a:latin typeface="Calibri"/>
              </a:rPr>
              <a:t>dayanır</a:t>
            </a:r>
            <a:r>
              <a:rPr sz="1400" b="0" i="0" dirty="0">
                <a:solidFill>
                  <a:srgbClr val="E0F2F4"/>
                </a:solidFill>
                <a:latin typeface="Calibri"/>
              </a:rPr>
              <a:t>.</a:t>
            </a:r>
          </a:p>
          <a:p>
            <a:pPr algn="l">
              <a:lnSpc>
                <a:spcPct val="150000"/>
              </a:lnSpc>
            </a:pPr>
            <a:r>
              <a:rPr sz="1400" b="0" i="0" dirty="0">
                <a:solidFill>
                  <a:srgbClr val="E0F2F4"/>
                </a:solidFill>
                <a:latin typeface="Calibri"/>
              </a:rPr>
              <a:t>• Bu </a:t>
            </a:r>
            <a:r>
              <a:rPr sz="1400" b="0" i="0" dirty="0" err="1">
                <a:solidFill>
                  <a:srgbClr val="E0F2F4"/>
                </a:solidFill>
                <a:latin typeface="Calibri"/>
              </a:rPr>
              <a:t>göstergelerin</a:t>
            </a:r>
            <a:r>
              <a:rPr sz="1400" b="0" i="0" dirty="0">
                <a:solidFill>
                  <a:srgbClr val="E0F2F4"/>
                </a:solidFill>
                <a:latin typeface="Calibri"/>
              </a:rPr>
              <a:t> </a:t>
            </a:r>
            <a:r>
              <a:rPr sz="1400" b="0" i="0" dirty="0" err="1">
                <a:solidFill>
                  <a:srgbClr val="E0F2F4"/>
                </a:solidFill>
                <a:latin typeface="Calibri"/>
              </a:rPr>
              <a:t>tamamı</a:t>
            </a:r>
            <a:r>
              <a:rPr sz="1400" b="0" i="0" dirty="0">
                <a:solidFill>
                  <a:srgbClr val="E0F2F4"/>
                </a:solidFill>
                <a:latin typeface="Calibri"/>
              </a:rPr>
              <a:t> </a:t>
            </a:r>
            <a:r>
              <a:rPr sz="1400" b="0" i="0" dirty="0" err="1">
                <a:solidFill>
                  <a:srgbClr val="E0F2F4"/>
                </a:solidFill>
                <a:latin typeface="Calibri"/>
              </a:rPr>
              <a:t>belirsiz</a:t>
            </a:r>
            <a:r>
              <a:rPr sz="1400" b="0" i="0" dirty="0">
                <a:solidFill>
                  <a:srgbClr val="E0F2F4"/>
                </a:solidFill>
                <a:latin typeface="Calibri"/>
              </a:rPr>
              <a:t>, </a:t>
            </a:r>
            <a:r>
              <a:rPr sz="1400" b="0" i="0" dirty="0" err="1">
                <a:solidFill>
                  <a:srgbClr val="E0F2F4"/>
                </a:solidFill>
                <a:latin typeface="Calibri"/>
              </a:rPr>
              <a:t>kademeli</a:t>
            </a:r>
            <a:r>
              <a:rPr sz="1400" b="0" i="0" dirty="0">
                <a:solidFill>
                  <a:srgbClr val="E0F2F4"/>
                </a:solidFill>
                <a:latin typeface="Calibri"/>
              </a:rPr>
              <a:t> </a:t>
            </a:r>
            <a:r>
              <a:rPr sz="1400" b="0" i="0" dirty="0" err="1">
                <a:solidFill>
                  <a:srgbClr val="E0F2F4"/>
                </a:solidFill>
                <a:latin typeface="Calibri"/>
              </a:rPr>
              <a:t>ve</a:t>
            </a:r>
            <a:r>
              <a:rPr sz="1400" b="0" i="0" dirty="0">
                <a:solidFill>
                  <a:srgbClr val="E0F2F4"/>
                </a:solidFill>
                <a:latin typeface="Calibri"/>
              </a:rPr>
              <a:t> </a:t>
            </a:r>
            <a:r>
              <a:rPr sz="1400" b="0" i="0" dirty="0" err="1">
                <a:solidFill>
                  <a:srgbClr val="E0F2F4"/>
                </a:solidFill>
                <a:latin typeface="Calibri"/>
              </a:rPr>
              <a:t>subjektif</a:t>
            </a:r>
            <a:r>
              <a:rPr sz="1400" b="0" i="0" dirty="0">
                <a:solidFill>
                  <a:srgbClr val="E0F2F4"/>
                </a:solidFill>
                <a:latin typeface="Calibri"/>
              </a:rPr>
              <a:t> </a:t>
            </a:r>
            <a:r>
              <a:rPr sz="1400" b="0" i="0" dirty="0" err="1">
                <a:solidFill>
                  <a:srgbClr val="E0F2F4"/>
                </a:solidFill>
                <a:latin typeface="Calibri"/>
              </a:rPr>
              <a:t>yapıdadır</a:t>
            </a:r>
            <a:r>
              <a:rPr sz="1400" b="0" i="0" dirty="0">
                <a:solidFill>
                  <a:srgbClr val="E0F2F4"/>
                </a:solidFill>
                <a:latin typeface="Calibri"/>
              </a:rPr>
              <a:t> → </a:t>
            </a:r>
            <a:r>
              <a:rPr sz="1400" b="0" i="0" dirty="0" err="1">
                <a:solidFill>
                  <a:srgbClr val="E0F2F4"/>
                </a:solidFill>
                <a:latin typeface="Calibri"/>
              </a:rPr>
              <a:t>klasik</a:t>
            </a:r>
            <a:r>
              <a:rPr sz="1400" b="0" i="0" dirty="0">
                <a:solidFill>
                  <a:srgbClr val="E0F2F4"/>
                </a:solidFill>
                <a:latin typeface="Calibri"/>
              </a:rPr>
              <a:t> 'evet/</a:t>
            </a:r>
            <a:r>
              <a:rPr sz="1400" b="0" i="0" dirty="0" err="1">
                <a:solidFill>
                  <a:srgbClr val="E0F2F4"/>
                </a:solidFill>
                <a:latin typeface="Calibri"/>
              </a:rPr>
              <a:t>hayır</a:t>
            </a:r>
            <a:r>
              <a:rPr sz="1400" b="0" i="0" dirty="0">
                <a:solidFill>
                  <a:srgbClr val="E0F2F4"/>
                </a:solidFill>
                <a:latin typeface="Calibri"/>
              </a:rPr>
              <a:t>' </a:t>
            </a:r>
            <a:r>
              <a:rPr sz="1400" b="0" i="0" dirty="0" err="1">
                <a:solidFill>
                  <a:srgbClr val="E0F2F4"/>
                </a:solidFill>
                <a:latin typeface="Calibri"/>
              </a:rPr>
              <a:t>kararı</a:t>
            </a:r>
            <a:r>
              <a:rPr sz="1400" b="0" i="0" dirty="0">
                <a:solidFill>
                  <a:srgbClr val="E0F2F4"/>
                </a:solidFill>
                <a:latin typeface="Calibri"/>
              </a:rPr>
              <a:t> </a:t>
            </a:r>
            <a:r>
              <a:rPr sz="1400" b="0" i="0" dirty="0" err="1">
                <a:solidFill>
                  <a:srgbClr val="E0F2F4"/>
                </a:solidFill>
                <a:latin typeface="Calibri"/>
              </a:rPr>
              <a:t>yetersiz</a:t>
            </a:r>
            <a:r>
              <a:rPr sz="1400" b="0" i="0" dirty="0">
                <a:solidFill>
                  <a:srgbClr val="E0F2F4"/>
                </a:solidFill>
                <a:latin typeface="Calibri"/>
              </a:rPr>
              <a:t> </a:t>
            </a:r>
            <a:r>
              <a:rPr sz="1400" b="0" i="0" dirty="0" err="1">
                <a:solidFill>
                  <a:srgbClr val="E0F2F4"/>
                </a:solidFill>
                <a:latin typeface="Calibri"/>
              </a:rPr>
              <a:t>kalır</a:t>
            </a:r>
            <a:r>
              <a:rPr sz="1400" b="0" i="0" dirty="0">
                <a:solidFill>
                  <a:srgbClr val="E0F2F4"/>
                </a:solidFill>
                <a:latin typeface="Calibri"/>
              </a:rPr>
              <a:t>.</a:t>
            </a:r>
          </a:p>
        </p:txBody>
      </p:sp>
      <p:sp>
        <p:nvSpPr>
          <p:cNvPr id="15" name="TextBox 14"/>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16" name="TextBox 15"/>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3 / 14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Neden Bulanık Mantık?</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Klasik mantığın gri bölgedeki yetersizliği</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54480"/>
            <a:ext cx="5303520" cy="2011680"/>
          </a:xfrm>
          <a:prstGeom prst="roundRect">
            <a:avLst/>
          </a:prstGeom>
          <a:solidFill>
            <a:srgbClr val="FFFFFF"/>
          </a:solidFill>
          <a:ln w="9525">
            <a:solidFill>
              <a:srgbClr val="5565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45920"/>
            <a:ext cx="4937760" cy="457200"/>
          </a:xfrm>
          <a:prstGeom prst="rect">
            <a:avLst/>
          </a:prstGeom>
          <a:noFill/>
        </p:spPr>
        <p:txBody>
          <a:bodyPr wrap="square" anchor="t">
            <a:spAutoFit/>
          </a:bodyPr>
          <a:lstStyle/>
          <a:p>
            <a:pPr algn="l">
              <a:lnSpc>
                <a:spcPct val="115000"/>
              </a:lnSpc>
            </a:pPr>
            <a:r>
              <a:rPr sz="2000" b="1" i="0">
                <a:solidFill>
                  <a:srgbClr val="556570"/>
                </a:solidFill>
                <a:latin typeface="Calibri Light"/>
              </a:rPr>
              <a:t>Klasik Mantık</a:t>
            </a:r>
          </a:p>
        </p:txBody>
      </p:sp>
      <p:sp>
        <p:nvSpPr>
          <p:cNvPr id="8" name="TextBox 7"/>
          <p:cNvSpPr txBox="1"/>
          <p:nvPr/>
        </p:nvSpPr>
        <p:spPr>
          <a:xfrm>
            <a:off x="914400" y="2103120"/>
            <a:ext cx="4937760" cy="1270797"/>
          </a:xfrm>
          <a:prstGeom prst="rect">
            <a:avLst/>
          </a:prstGeom>
          <a:noFill/>
        </p:spPr>
        <p:txBody>
          <a:bodyPr wrap="square" anchor="t">
            <a:spAutoFit/>
          </a:bodyPr>
          <a:lstStyle/>
          <a:p>
            <a:pPr algn="l">
              <a:lnSpc>
                <a:spcPct val="140000"/>
              </a:lnSpc>
            </a:pPr>
            <a:r>
              <a:rPr sz="1400" b="0" i="0" dirty="0">
                <a:solidFill>
                  <a:srgbClr val="0F2D40"/>
                </a:solidFill>
                <a:latin typeface="Calibri"/>
              </a:rPr>
              <a:t>• </a:t>
            </a:r>
            <a:r>
              <a:rPr sz="1400" b="0" i="0" dirty="0" err="1">
                <a:solidFill>
                  <a:srgbClr val="0F2D40"/>
                </a:solidFill>
                <a:latin typeface="Calibri"/>
              </a:rPr>
              <a:t>İkili</a:t>
            </a:r>
            <a:r>
              <a:rPr sz="1400" b="0" i="0" dirty="0">
                <a:solidFill>
                  <a:srgbClr val="0F2D40"/>
                </a:solidFill>
                <a:latin typeface="Calibri"/>
              </a:rPr>
              <a:t>: </a:t>
            </a:r>
            <a:r>
              <a:rPr sz="1400" b="0" i="0" dirty="0" err="1">
                <a:solidFill>
                  <a:srgbClr val="0F2D40"/>
                </a:solidFill>
                <a:latin typeface="Calibri"/>
              </a:rPr>
              <a:t>doğru</a:t>
            </a:r>
            <a:r>
              <a:rPr sz="1400" b="0" i="0" dirty="0">
                <a:solidFill>
                  <a:srgbClr val="0F2D40"/>
                </a:solidFill>
                <a:latin typeface="Calibri"/>
              </a:rPr>
              <a:t> / </a:t>
            </a:r>
            <a:r>
              <a:rPr sz="1400" b="0" i="0" dirty="0" err="1">
                <a:solidFill>
                  <a:srgbClr val="0F2D40"/>
                </a:solidFill>
                <a:latin typeface="Calibri"/>
              </a:rPr>
              <a:t>yanlış</a:t>
            </a:r>
            <a:endParaRPr sz="1400" b="0" i="0" dirty="0">
              <a:solidFill>
                <a:srgbClr val="0F2D40"/>
              </a:solidFill>
              <a:latin typeface="Calibri"/>
            </a:endParaRPr>
          </a:p>
          <a:p>
            <a:pPr algn="l">
              <a:lnSpc>
                <a:spcPct val="140000"/>
              </a:lnSpc>
            </a:pPr>
            <a:r>
              <a:rPr sz="1400" b="0" i="0" dirty="0">
                <a:solidFill>
                  <a:srgbClr val="0F2D40"/>
                </a:solidFill>
                <a:latin typeface="Calibri"/>
              </a:rPr>
              <a:t>• </a:t>
            </a:r>
            <a:r>
              <a:rPr sz="1400" b="0" i="0" dirty="0" err="1">
                <a:solidFill>
                  <a:srgbClr val="0F2D40"/>
                </a:solidFill>
                <a:latin typeface="Calibri"/>
              </a:rPr>
              <a:t>Üyelik</a:t>
            </a:r>
            <a:r>
              <a:rPr sz="1400" b="0" i="0" dirty="0">
                <a:solidFill>
                  <a:srgbClr val="0F2D40"/>
                </a:solidFill>
                <a:latin typeface="Calibri"/>
              </a:rPr>
              <a:t> ∈ {0, 1}</a:t>
            </a:r>
          </a:p>
          <a:p>
            <a:pPr algn="l">
              <a:lnSpc>
                <a:spcPct val="140000"/>
              </a:lnSpc>
            </a:pPr>
            <a:r>
              <a:rPr sz="1400" b="0" i="0" dirty="0">
                <a:solidFill>
                  <a:srgbClr val="0F2D40"/>
                </a:solidFill>
                <a:latin typeface="Calibri"/>
              </a:rPr>
              <a:t>• Keskin </a:t>
            </a:r>
            <a:r>
              <a:rPr sz="1400" b="0" i="0" dirty="0" err="1">
                <a:solidFill>
                  <a:srgbClr val="0F2D40"/>
                </a:solidFill>
                <a:latin typeface="Calibri"/>
              </a:rPr>
              <a:t>eşikler</a:t>
            </a:r>
            <a:endParaRPr sz="1400" b="0" i="0" dirty="0">
              <a:solidFill>
                <a:srgbClr val="0F2D40"/>
              </a:solidFill>
              <a:latin typeface="Calibri"/>
            </a:endParaRPr>
          </a:p>
          <a:p>
            <a:pPr algn="l">
              <a:lnSpc>
                <a:spcPct val="140000"/>
              </a:lnSpc>
            </a:pPr>
            <a:r>
              <a:rPr sz="1400" b="0" i="0" dirty="0">
                <a:solidFill>
                  <a:srgbClr val="0F2D40"/>
                </a:solidFill>
                <a:latin typeface="Calibri"/>
              </a:rPr>
              <a:t>• </a:t>
            </a:r>
            <a:r>
              <a:rPr sz="1400" b="0" i="0" dirty="0" err="1">
                <a:solidFill>
                  <a:srgbClr val="0F2D40"/>
                </a:solidFill>
                <a:latin typeface="Calibri"/>
              </a:rPr>
              <a:t>Ağrı</a:t>
            </a:r>
            <a:r>
              <a:rPr sz="1400" b="0" i="0" dirty="0">
                <a:solidFill>
                  <a:srgbClr val="0F2D40"/>
                </a:solidFill>
                <a:latin typeface="Calibri"/>
              </a:rPr>
              <a:t> 7 </a:t>
            </a:r>
            <a:r>
              <a:rPr sz="1400" b="0" i="0" dirty="0" err="1">
                <a:solidFill>
                  <a:srgbClr val="0F2D40"/>
                </a:solidFill>
                <a:latin typeface="Calibri"/>
              </a:rPr>
              <a:t>ise</a:t>
            </a:r>
            <a:r>
              <a:rPr sz="1400" b="0" i="0" dirty="0">
                <a:solidFill>
                  <a:srgbClr val="0F2D40"/>
                </a:solidFill>
                <a:latin typeface="Calibri"/>
              </a:rPr>
              <a:t> </a:t>
            </a:r>
            <a:r>
              <a:rPr sz="1400" b="0" i="0" dirty="0" err="1">
                <a:solidFill>
                  <a:srgbClr val="0F2D40"/>
                </a:solidFill>
                <a:latin typeface="Calibri"/>
              </a:rPr>
              <a:t>kanal</a:t>
            </a:r>
            <a:r>
              <a:rPr sz="1400" b="0" i="0" dirty="0">
                <a:solidFill>
                  <a:srgbClr val="0F2D40"/>
                </a:solidFill>
                <a:latin typeface="Calibri"/>
              </a:rPr>
              <a:t>, 6,99 </a:t>
            </a:r>
            <a:r>
              <a:rPr sz="1400" b="0" i="0" dirty="0" err="1">
                <a:solidFill>
                  <a:srgbClr val="0F2D40"/>
                </a:solidFill>
                <a:latin typeface="Calibri"/>
              </a:rPr>
              <a:t>ise</a:t>
            </a:r>
            <a:r>
              <a:rPr sz="1400" b="0" i="0" dirty="0">
                <a:solidFill>
                  <a:srgbClr val="0F2D40"/>
                </a:solidFill>
                <a:latin typeface="Calibri"/>
              </a:rPr>
              <a:t> </a:t>
            </a:r>
            <a:r>
              <a:rPr sz="1400" b="0" i="0" dirty="0" err="1">
                <a:solidFill>
                  <a:srgbClr val="0F2D40"/>
                </a:solidFill>
                <a:latin typeface="Calibri"/>
              </a:rPr>
              <a:t>dolgu</a:t>
            </a:r>
            <a:r>
              <a:rPr sz="1400" b="0" i="0" dirty="0">
                <a:solidFill>
                  <a:srgbClr val="0F2D40"/>
                </a:solidFill>
                <a:latin typeface="Calibri"/>
              </a:rPr>
              <a:t>?</a:t>
            </a:r>
          </a:p>
        </p:txBody>
      </p:sp>
      <p:sp>
        <p:nvSpPr>
          <p:cNvPr id="9" name="Rounded Rectangle 8"/>
          <p:cNvSpPr/>
          <p:nvPr/>
        </p:nvSpPr>
        <p:spPr>
          <a:xfrm>
            <a:off x="6263640" y="1554480"/>
            <a:ext cx="5303520" cy="2011680"/>
          </a:xfrm>
          <a:prstGeom prst="roundRect">
            <a:avLst/>
          </a:prstGeom>
          <a:solidFill>
            <a:srgbClr val="E0F2F4"/>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645920"/>
            <a:ext cx="4937760" cy="457200"/>
          </a:xfrm>
          <a:prstGeom prst="rect">
            <a:avLst/>
          </a:prstGeom>
          <a:noFill/>
        </p:spPr>
        <p:txBody>
          <a:bodyPr wrap="square" anchor="t">
            <a:spAutoFit/>
          </a:bodyPr>
          <a:lstStyle/>
          <a:p>
            <a:pPr algn="l">
              <a:lnSpc>
                <a:spcPct val="115000"/>
              </a:lnSpc>
            </a:pPr>
            <a:r>
              <a:rPr sz="2000" b="1" i="0">
                <a:solidFill>
                  <a:srgbClr val="0E6E76"/>
                </a:solidFill>
                <a:latin typeface="Calibri Light"/>
              </a:rPr>
              <a:t>Bulanık Mantık (Zadeh, 1965)</a:t>
            </a:r>
          </a:p>
        </p:txBody>
      </p:sp>
      <p:sp>
        <p:nvSpPr>
          <p:cNvPr id="11" name="TextBox 10"/>
          <p:cNvSpPr txBox="1"/>
          <p:nvPr/>
        </p:nvSpPr>
        <p:spPr>
          <a:xfrm>
            <a:off x="6537960" y="2103120"/>
            <a:ext cx="4937760" cy="1371600"/>
          </a:xfrm>
          <a:prstGeom prst="rect">
            <a:avLst/>
          </a:prstGeom>
          <a:noFill/>
        </p:spPr>
        <p:txBody>
          <a:bodyPr wrap="square" anchor="t">
            <a:spAutoFit/>
          </a:bodyPr>
          <a:lstStyle/>
          <a:p>
            <a:pPr algn="l">
              <a:lnSpc>
                <a:spcPct val="140000"/>
              </a:lnSpc>
            </a:pPr>
            <a:r>
              <a:rPr sz="1400" b="0" i="0">
                <a:solidFill>
                  <a:srgbClr val="0F2D40"/>
                </a:solidFill>
                <a:latin typeface="Calibri"/>
              </a:rPr>
              <a:t>• Kademeli üyelik</a:t>
            </a:r>
          </a:p>
          <a:p>
            <a:pPr algn="l">
              <a:lnSpc>
                <a:spcPct val="140000"/>
              </a:lnSpc>
            </a:pPr>
            <a:r>
              <a:rPr sz="1400" b="0" i="0">
                <a:solidFill>
                  <a:srgbClr val="0F2D40"/>
                </a:solidFill>
                <a:latin typeface="Calibri"/>
              </a:rPr>
              <a:t>• Üyelik ∈ [0, 1]</a:t>
            </a:r>
          </a:p>
          <a:p>
            <a:pPr algn="l">
              <a:lnSpc>
                <a:spcPct val="140000"/>
              </a:lnSpc>
            </a:pPr>
            <a:r>
              <a:rPr sz="1400" b="0" i="0">
                <a:solidFill>
                  <a:srgbClr val="0F2D40"/>
                </a:solidFill>
                <a:latin typeface="Calibri"/>
              </a:rPr>
              <a:t>• Dilsel: hafif / orta / ileri</a:t>
            </a:r>
          </a:p>
          <a:p>
            <a:pPr algn="l">
              <a:lnSpc>
                <a:spcPct val="140000"/>
              </a:lnSpc>
            </a:pPr>
            <a:r>
              <a:rPr sz="1400" b="0" i="0">
                <a:solidFill>
                  <a:srgbClr val="0F2D40"/>
                </a:solidFill>
                <a:latin typeface="Calibri"/>
              </a:rPr>
              <a:t>• Aynı anda birden fazla kümeye üye</a:t>
            </a:r>
          </a:p>
        </p:txBody>
      </p:sp>
      <p:sp>
        <p:nvSpPr>
          <p:cNvPr id="12" name="TextBox 11"/>
          <p:cNvSpPr txBox="1"/>
          <p:nvPr/>
        </p:nvSpPr>
        <p:spPr>
          <a:xfrm>
            <a:off x="640080" y="3840480"/>
            <a:ext cx="10972800" cy="457200"/>
          </a:xfrm>
          <a:prstGeom prst="rect">
            <a:avLst/>
          </a:prstGeom>
          <a:noFill/>
        </p:spPr>
        <p:txBody>
          <a:bodyPr wrap="square" anchor="t">
            <a:spAutoFit/>
          </a:bodyPr>
          <a:lstStyle/>
          <a:p>
            <a:pPr algn="l">
              <a:lnSpc>
                <a:spcPct val="115000"/>
              </a:lnSpc>
            </a:pPr>
            <a:r>
              <a:rPr sz="1800" b="1" i="0">
                <a:solidFill>
                  <a:srgbClr val="0F2D40"/>
                </a:solidFill>
                <a:latin typeface="Calibri Light"/>
              </a:rPr>
              <a:t>Klinik karar desteğinde üç temel avantaj</a:t>
            </a:r>
          </a:p>
        </p:txBody>
      </p:sp>
      <p:sp>
        <p:nvSpPr>
          <p:cNvPr id="13" name="Rounded Rectangle 12"/>
          <p:cNvSpPr/>
          <p:nvPr/>
        </p:nvSpPr>
        <p:spPr>
          <a:xfrm>
            <a:off x="640080" y="4434840"/>
            <a:ext cx="3566160" cy="1737360"/>
          </a:xfrm>
          <a:prstGeom prst="round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59" y="4572000"/>
            <a:ext cx="3200400" cy="457200"/>
          </a:xfrm>
          <a:prstGeom prst="rect">
            <a:avLst/>
          </a:prstGeom>
          <a:noFill/>
        </p:spPr>
        <p:txBody>
          <a:bodyPr wrap="square" anchor="t">
            <a:spAutoFit/>
          </a:bodyPr>
          <a:lstStyle/>
          <a:p>
            <a:pPr algn="ctr">
              <a:lnSpc>
                <a:spcPct val="115000"/>
              </a:lnSpc>
            </a:pPr>
            <a:r>
              <a:rPr sz="1700" b="1" i="0">
                <a:solidFill>
                  <a:srgbClr val="FFFFFF"/>
                </a:solidFill>
                <a:latin typeface="Calibri Light"/>
              </a:rPr>
              <a:t>Dilsel Uyum</a:t>
            </a:r>
          </a:p>
        </p:txBody>
      </p:sp>
      <p:sp>
        <p:nvSpPr>
          <p:cNvPr id="15" name="TextBox 14"/>
          <p:cNvSpPr txBox="1"/>
          <p:nvPr/>
        </p:nvSpPr>
        <p:spPr>
          <a:xfrm>
            <a:off x="822959" y="5120640"/>
            <a:ext cx="3200400" cy="914400"/>
          </a:xfrm>
          <a:prstGeom prst="rect">
            <a:avLst/>
          </a:prstGeom>
          <a:noFill/>
        </p:spPr>
        <p:txBody>
          <a:bodyPr wrap="square" anchor="t">
            <a:spAutoFit/>
          </a:bodyPr>
          <a:lstStyle/>
          <a:p>
            <a:pPr algn="ctr">
              <a:lnSpc>
                <a:spcPct val="130000"/>
              </a:lnSpc>
            </a:pPr>
            <a:r>
              <a:rPr sz="1300" b="0" i="0">
                <a:solidFill>
                  <a:srgbClr val="E0F2F4"/>
                </a:solidFill>
                <a:latin typeface="Calibri"/>
              </a:rPr>
              <a:t>Hekim terminolojisiyle</a:t>
            </a:r>
          </a:p>
          <a:p>
            <a:pPr algn="ctr">
              <a:lnSpc>
                <a:spcPct val="130000"/>
              </a:lnSpc>
            </a:pPr>
            <a:r>
              <a:rPr sz="1300" b="0" i="0">
                <a:solidFill>
                  <a:srgbClr val="E0F2F4"/>
                </a:solidFill>
                <a:latin typeface="Calibri"/>
              </a:rPr>
              <a:t>bire bir eşleşir</a:t>
            </a:r>
          </a:p>
        </p:txBody>
      </p:sp>
      <p:sp>
        <p:nvSpPr>
          <p:cNvPr id="16" name="Rounded Rectangle 15"/>
          <p:cNvSpPr/>
          <p:nvPr/>
        </p:nvSpPr>
        <p:spPr>
          <a:xfrm>
            <a:off x="4389120" y="4434840"/>
            <a:ext cx="3566160" cy="1737360"/>
          </a:xfrm>
          <a:prstGeom prst="round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0" y="4572000"/>
            <a:ext cx="3200400" cy="457200"/>
          </a:xfrm>
          <a:prstGeom prst="rect">
            <a:avLst/>
          </a:prstGeom>
          <a:noFill/>
        </p:spPr>
        <p:txBody>
          <a:bodyPr wrap="square" anchor="t">
            <a:spAutoFit/>
          </a:bodyPr>
          <a:lstStyle/>
          <a:p>
            <a:pPr algn="ctr">
              <a:lnSpc>
                <a:spcPct val="115000"/>
              </a:lnSpc>
            </a:pPr>
            <a:r>
              <a:rPr sz="1700" b="1" i="0">
                <a:solidFill>
                  <a:srgbClr val="FFFFFF"/>
                </a:solidFill>
                <a:latin typeface="Calibri Light"/>
              </a:rPr>
              <a:t>Açıklanabilirlik</a:t>
            </a:r>
          </a:p>
        </p:txBody>
      </p:sp>
      <p:sp>
        <p:nvSpPr>
          <p:cNvPr id="18" name="TextBox 17"/>
          <p:cNvSpPr txBox="1"/>
          <p:nvPr/>
        </p:nvSpPr>
        <p:spPr>
          <a:xfrm>
            <a:off x="4572000" y="5120640"/>
            <a:ext cx="3200400" cy="914400"/>
          </a:xfrm>
          <a:prstGeom prst="rect">
            <a:avLst/>
          </a:prstGeom>
          <a:noFill/>
        </p:spPr>
        <p:txBody>
          <a:bodyPr wrap="square" anchor="t">
            <a:spAutoFit/>
          </a:bodyPr>
          <a:lstStyle/>
          <a:p>
            <a:pPr algn="ctr">
              <a:lnSpc>
                <a:spcPct val="130000"/>
              </a:lnSpc>
            </a:pPr>
            <a:r>
              <a:rPr sz="1300" b="0" i="0">
                <a:solidFill>
                  <a:srgbClr val="E0F2F4"/>
                </a:solidFill>
                <a:latin typeface="Calibri"/>
              </a:rPr>
              <a:t>Hangi kural ne kadar</a:t>
            </a:r>
          </a:p>
          <a:p>
            <a:pPr algn="ctr">
              <a:lnSpc>
                <a:spcPct val="130000"/>
              </a:lnSpc>
            </a:pPr>
            <a:r>
              <a:rPr sz="1300" b="0" i="0">
                <a:solidFill>
                  <a:srgbClr val="E0F2F4"/>
                </a:solidFill>
                <a:latin typeface="Calibri"/>
              </a:rPr>
              <a:t>ateşlendi — geriye dönük</a:t>
            </a:r>
          </a:p>
        </p:txBody>
      </p:sp>
      <p:sp>
        <p:nvSpPr>
          <p:cNvPr id="19" name="Rounded Rectangle 18"/>
          <p:cNvSpPr/>
          <p:nvPr/>
        </p:nvSpPr>
        <p:spPr>
          <a:xfrm>
            <a:off x="8138159" y="4434840"/>
            <a:ext cx="3566160" cy="1737360"/>
          </a:xfrm>
          <a:prstGeom prst="round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39" y="4572000"/>
            <a:ext cx="3200400" cy="457200"/>
          </a:xfrm>
          <a:prstGeom prst="rect">
            <a:avLst/>
          </a:prstGeom>
          <a:noFill/>
        </p:spPr>
        <p:txBody>
          <a:bodyPr wrap="square" anchor="t">
            <a:spAutoFit/>
          </a:bodyPr>
          <a:lstStyle/>
          <a:p>
            <a:pPr algn="ctr">
              <a:lnSpc>
                <a:spcPct val="115000"/>
              </a:lnSpc>
            </a:pPr>
            <a:r>
              <a:rPr sz="1700" b="1" i="0">
                <a:solidFill>
                  <a:srgbClr val="FFFFFF"/>
                </a:solidFill>
                <a:latin typeface="Calibri Light"/>
              </a:rPr>
              <a:t>Az Veri Gereksinimi</a:t>
            </a:r>
          </a:p>
        </p:txBody>
      </p:sp>
      <p:sp>
        <p:nvSpPr>
          <p:cNvPr id="21" name="TextBox 20"/>
          <p:cNvSpPr txBox="1"/>
          <p:nvPr/>
        </p:nvSpPr>
        <p:spPr>
          <a:xfrm>
            <a:off x="8321039" y="5120640"/>
            <a:ext cx="3200400" cy="914400"/>
          </a:xfrm>
          <a:prstGeom prst="rect">
            <a:avLst/>
          </a:prstGeom>
          <a:noFill/>
        </p:spPr>
        <p:txBody>
          <a:bodyPr wrap="square" anchor="t">
            <a:spAutoFit/>
          </a:bodyPr>
          <a:lstStyle/>
          <a:p>
            <a:pPr algn="ctr">
              <a:lnSpc>
                <a:spcPct val="130000"/>
              </a:lnSpc>
            </a:pPr>
            <a:r>
              <a:rPr sz="1300" b="0" i="0">
                <a:solidFill>
                  <a:srgbClr val="E0F2F4"/>
                </a:solidFill>
                <a:latin typeface="Calibri"/>
              </a:rPr>
              <a:t>Binlerce etiketli vaka</a:t>
            </a:r>
          </a:p>
          <a:p>
            <a:pPr algn="ctr">
              <a:lnSpc>
                <a:spcPct val="130000"/>
              </a:lnSpc>
            </a:pPr>
            <a:r>
              <a:rPr sz="1300" b="0" i="0">
                <a:solidFill>
                  <a:srgbClr val="E0F2F4"/>
                </a:solidFill>
                <a:latin typeface="Calibri"/>
              </a:rPr>
              <a:t>yerine uzman bilgisi</a:t>
            </a:r>
          </a:p>
        </p:txBody>
      </p:sp>
      <p:sp>
        <p:nvSpPr>
          <p:cNvPr id="22" name="TextBox 21"/>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23" name="TextBox 22"/>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4 / 14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Bulanık Küme ve Üyelik Fonksiyonu</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Temel matematiksel yapı</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54480"/>
            <a:ext cx="5486400" cy="365760"/>
          </a:xfrm>
          <a:prstGeom prst="rect">
            <a:avLst/>
          </a:prstGeom>
          <a:noFill/>
        </p:spPr>
        <p:txBody>
          <a:bodyPr wrap="square" anchor="t">
            <a:spAutoFit/>
          </a:bodyPr>
          <a:lstStyle/>
          <a:p>
            <a:pPr algn="l">
              <a:lnSpc>
                <a:spcPct val="115000"/>
              </a:lnSpc>
            </a:pPr>
            <a:r>
              <a:rPr sz="1400" b="1" i="0">
                <a:solidFill>
                  <a:srgbClr val="0F2D40"/>
                </a:solidFill>
                <a:latin typeface="Calibri"/>
              </a:rPr>
              <a:t>Klasik küme (karakteristik fonksiyon):</a:t>
            </a:r>
          </a:p>
        </p:txBody>
      </p:sp>
      <p:sp>
        <p:nvSpPr>
          <p:cNvPr id="7" name="TextBox 6"/>
          <p:cNvSpPr txBox="1"/>
          <p:nvPr/>
        </p:nvSpPr>
        <p:spPr>
          <a:xfrm>
            <a:off x="640080" y="1920240"/>
            <a:ext cx="5486400" cy="640080"/>
          </a:xfrm>
          <a:prstGeom prst="rect">
            <a:avLst/>
          </a:prstGeom>
          <a:noFill/>
        </p:spPr>
        <p:txBody>
          <a:bodyPr wrap="square">
            <a:spAutoFit/>
          </a:bodyPr>
          <a:lstStyle/>
          <a:p>
            <a:pPr algn="ctr"/>
            <a:r>
              <a:rPr sz="1800">
                <a:solidFill>
                  <a:srgbClr val="0E6E76"/>
                </a:solidFill>
                <a:latin typeface="Cambria Math"/>
              </a:rPr>
              <a:t>χ_A(x) = 1, x ∈ A    veya    0, x ∉ A</a:t>
            </a:r>
          </a:p>
        </p:txBody>
      </p:sp>
      <p:sp>
        <p:nvSpPr>
          <p:cNvPr id="8" name="TextBox 7"/>
          <p:cNvSpPr txBox="1"/>
          <p:nvPr/>
        </p:nvSpPr>
        <p:spPr>
          <a:xfrm>
            <a:off x="640080" y="2651760"/>
            <a:ext cx="5486400" cy="365760"/>
          </a:xfrm>
          <a:prstGeom prst="rect">
            <a:avLst/>
          </a:prstGeom>
          <a:noFill/>
        </p:spPr>
        <p:txBody>
          <a:bodyPr wrap="square" anchor="t">
            <a:spAutoFit/>
          </a:bodyPr>
          <a:lstStyle/>
          <a:p>
            <a:pPr algn="l">
              <a:lnSpc>
                <a:spcPct val="115000"/>
              </a:lnSpc>
            </a:pPr>
            <a:r>
              <a:rPr sz="1400" b="1" i="0">
                <a:solidFill>
                  <a:srgbClr val="0F2D40"/>
                </a:solidFill>
                <a:latin typeface="Calibri"/>
              </a:rPr>
              <a:t>Bulanık küme (üyelik fonksiyonu):</a:t>
            </a:r>
          </a:p>
        </p:txBody>
      </p:sp>
      <p:sp>
        <p:nvSpPr>
          <p:cNvPr id="9" name="TextBox 8"/>
          <p:cNvSpPr txBox="1"/>
          <p:nvPr/>
        </p:nvSpPr>
        <p:spPr>
          <a:xfrm>
            <a:off x="640080" y="3017520"/>
            <a:ext cx="5486400" cy="640080"/>
          </a:xfrm>
          <a:prstGeom prst="rect">
            <a:avLst/>
          </a:prstGeom>
          <a:noFill/>
        </p:spPr>
        <p:txBody>
          <a:bodyPr wrap="square">
            <a:spAutoFit/>
          </a:bodyPr>
          <a:lstStyle/>
          <a:p>
            <a:pPr algn="ctr"/>
            <a:r>
              <a:rPr sz="2200">
                <a:solidFill>
                  <a:srgbClr val="0E6E76"/>
                </a:solidFill>
                <a:latin typeface="Cambria Math"/>
              </a:rPr>
              <a:t>μ_Ã : U → [0, 1]</a:t>
            </a:r>
          </a:p>
        </p:txBody>
      </p:sp>
      <p:sp>
        <p:nvSpPr>
          <p:cNvPr id="10" name="TextBox 9"/>
          <p:cNvSpPr txBox="1"/>
          <p:nvPr/>
        </p:nvSpPr>
        <p:spPr>
          <a:xfrm>
            <a:off x="640080" y="3657600"/>
            <a:ext cx="5669280" cy="2468880"/>
          </a:xfrm>
          <a:prstGeom prst="rect">
            <a:avLst/>
          </a:prstGeom>
          <a:noFill/>
        </p:spPr>
        <p:txBody>
          <a:bodyPr wrap="square" anchor="t">
            <a:spAutoFit/>
          </a:bodyPr>
          <a:lstStyle/>
          <a:p>
            <a:pPr algn="l">
              <a:lnSpc>
                <a:spcPct val="140000"/>
              </a:lnSpc>
            </a:pPr>
            <a:r>
              <a:rPr sz="1400" b="0" i="0">
                <a:solidFill>
                  <a:srgbClr val="0F2D40"/>
                </a:solidFill>
                <a:latin typeface="Calibri"/>
              </a:rPr>
              <a:t>• 0 = kümeye hiç ait değil</a:t>
            </a:r>
          </a:p>
          <a:p>
            <a:pPr algn="l">
              <a:lnSpc>
                <a:spcPct val="140000"/>
              </a:lnSpc>
            </a:pPr>
            <a:r>
              <a:rPr sz="1400" b="0" i="0">
                <a:solidFill>
                  <a:srgbClr val="0F2D40"/>
                </a:solidFill>
                <a:latin typeface="Calibri"/>
              </a:rPr>
              <a:t>• 1 = tamamen ait</a:t>
            </a:r>
          </a:p>
          <a:p>
            <a:pPr algn="l">
              <a:lnSpc>
                <a:spcPct val="140000"/>
              </a:lnSpc>
            </a:pPr>
            <a:r>
              <a:rPr sz="1400" b="0" i="0">
                <a:solidFill>
                  <a:srgbClr val="0F2D40"/>
                </a:solidFill>
                <a:latin typeface="Calibri"/>
              </a:rPr>
              <a:t>• Aradaki değerler kısmi üyelik</a:t>
            </a:r>
          </a:p>
          <a:p>
            <a:pPr algn="l">
              <a:lnSpc>
                <a:spcPct val="140000"/>
              </a:lnSpc>
            </a:pPr>
            <a:endParaRPr sz="1400" b="0" i="0">
              <a:solidFill>
                <a:srgbClr val="0F2D40"/>
              </a:solidFill>
              <a:latin typeface="Calibri"/>
            </a:endParaRPr>
          </a:p>
          <a:p>
            <a:pPr algn="l">
              <a:lnSpc>
                <a:spcPct val="140000"/>
              </a:lnSpc>
            </a:pPr>
            <a:r>
              <a:rPr sz="1400" b="0" i="0">
                <a:solidFill>
                  <a:srgbClr val="0F2D40"/>
                </a:solidFill>
                <a:latin typeface="Calibri"/>
              </a:rPr>
              <a:t>Örnek: ağrı = 7,5 değeri</a:t>
            </a:r>
          </a:p>
          <a:p>
            <a:pPr algn="l">
              <a:lnSpc>
                <a:spcPct val="140000"/>
              </a:lnSpc>
            </a:pPr>
            <a:r>
              <a:rPr sz="1400" b="0" i="0">
                <a:solidFill>
                  <a:srgbClr val="0F2D40"/>
                </a:solidFill>
                <a:latin typeface="Calibri"/>
              </a:rPr>
              <a:t>  μ(uzun) = 0,3</a:t>
            </a:r>
          </a:p>
          <a:p>
            <a:pPr algn="l">
              <a:lnSpc>
                <a:spcPct val="140000"/>
              </a:lnSpc>
            </a:pPr>
            <a:r>
              <a:rPr sz="1400" b="0" i="0">
                <a:solidFill>
                  <a:srgbClr val="0F2D40"/>
                </a:solidFill>
                <a:latin typeface="Calibri"/>
              </a:rPr>
              <a:t>  μ(spontan) = 0,7</a:t>
            </a:r>
          </a:p>
          <a:p>
            <a:pPr algn="l">
              <a:lnSpc>
                <a:spcPct val="140000"/>
              </a:lnSpc>
            </a:pPr>
            <a:r>
              <a:rPr sz="1400" b="0" i="0">
                <a:solidFill>
                  <a:srgbClr val="0F2D40"/>
                </a:solidFill>
                <a:latin typeface="Calibri"/>
              </a:rPr>
              <a:t>→ Aynı anda iki kümeye üye!</a:t>
            </a:r>
          </a:p>
        </p:txBody>
      </p:sp>
      <p:sp>
        <p:nvSpPr>
          <p:cNvPr id="11" name="Rounded Rectangle 10"/>
          <p:cNvSpPr/>
          <p:nvPr/>
        </p:nvSpPr>
        <p:spPr>
          <a:xfrm>
            <a:off x="6583680" y="1554480"/>
            <a:ext cx="5029200" cy="4572000"/>
          </a:xfrm>
          <a:prstGeom prst="round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6560" y="1691640"/>
            <a:ext cx="4663440" cy="365760"/>
          </a:xfrm>
          <a:prstGeom prst="rect">
            <a:avLst/>
          </a:prstGeom>
          <a:noFill/>
        </p:spPr>
        <p:txBody>
          <a:bodyPr wrap="square" anchor="t">
            <a:spAutoFit/>
          </a:bodyPr>
          <a:lstStyle/>
          <a:p>
            <a:pPr algn="l">
              <a:lnSpc>
                <a:spcPct val="115000"/>
              </a:lnSpc>
            </a:pPr>
            <a:r>
              <a:rPr sz="1600" b="1" i="0">
                <a:solidFill>
                  <a:srgbClr val="0E6E76"/>
                </a:solidFill>
                <a:latin typeface="Calibri Light"/>
              </a:rPr>
              <a:t>Kullanılan Şekiller</a:t>
            </a:r>
          </a:p>
        </p:txBody>
      </p:sp>
      <p:sp>
        <p:nvSpPr>
          <p:cNvPr id="13" name="TextBox 12"/>
          <p:cNvSpPr txBox="1"/>
          <p:nvPr/>
        </p:nvSpPr>
        <p:spPr>
          <a:xfrm>
            <a:off x="6766560" y="2148840"/>
            <a:ext cx="4663440" cy="320040"/>
          </a:xfrm>
          <a:prstGeom prst="rect">
            <a:avLst/>
          </a:prstGeom>
          <a:noFill/>
        </p:spPr>
        <p:txBody>
          <a:bodyPr wrap="square" anchor="t">
            <a:spAutoFit/>
          </a:bodyPr>
          <a:lstStyle/>
          <a:p>
            <a:pPr algn="l">
              <a:lnSpc>
                <a:spcPct val="115000"/>
              </a:lnSpc>
            </a:pPr>
            <a:r>
              <a:rPr sz="1300" b="1" i="0">
                <a:solidFill>
                  <a:srgbClr val="0F2D40"/>
                </a:solidFill>
                <a:latin typeface="Calibri"/>
              </a:rPr>
              <a:t>Üçgen (triangular)</a:t>
            </a:r>
          </a:p>
        </p:txBody>
      </p:sp>
      <p:cxnSp>
        <p:nvCxnSpPr>
          <p:cNvPr id="14" name="Connector 13"/>
          <p:cNvCxnSpPr/>
          <p:nvPr/>
        </p:nvCxnSpPr>
        <p:spPr>
          <a:xfrm flipV="1">
            <a:off x="6766560" y="2468880"/>
            <a:ext cx="914400" cy="594360"/>
          </a:xfrm>
          <a:prstGeom prst="bentConnector3">
            <a:avLst/>
          </a:prstGeom>
          <a:ln w="25400">
            <a:solidFill>
              <a:srgbClr val="14919B"/>
            </a:solidFill>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p:cNvCxnSpPr>
          <p:nvPr/>
        </p:nvCxnSpPr>
        <p:spPr>
          <a:xfrm>
            <a:off x="7680960" y="2468880"/>
            <a:ext cx="914400" cy="594360"/>
          </a:xfrm>
          <a:prstGeom prst="bentConnector3">
            <a:avLst/>
          </a:prstGeom>
          <a:ln w="25400">
            <a:solidFill>
              <a:srgbClr val="14919B"/>
            </a:solidFill>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a:cxnSpLocks/>
          </p:cNvCxnSpPr>
          <p:nvPr/>
        </p:nvCxnSpPr>
        <p:spPr>
          <a:xfrm>
            <a:off x="6766560" y="3063240"/>
            <a:ext cx="1828800" cy="0"/>
          </a:xfrm>
          <a:prstGeom prst="bentConnector3">
            <a:avLst/>
          </a:prstGeom>
          <a:ln w="25400">
            <a:solidFill>
              <a:srgbClr val="556570"/>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778240" y="2697480"/>
            <a:ext cx="2743200" cy="365760"/>
          </a:xfrm>
          <a:prstGeom prst="rect">
            <a:avLst/>
          </a:prstGeom>
          <a:noFill/>
        </p:spPr>
        <p:txBody>
          <a:bodyPr wrap="square" anchor="t">
            <a:spAutoFit/>
          </a:bodyPr>
          <a:lstStyle/>
          <a:p>
            <a:pPr algn="l">
              <a:lnSpc>
                <a:spcPct val="115000"/>
              </a:lnSpc>
            </a:pPr>
            <a:r>
              <a:rPr sz="1200" b="0" i="1">
                <a:solidFill>
                  <a:srgbClr val="556570"/>
                </a:solidFill>
                <a:latin typeface="Calibri"/>
              </a:rPr>
              <a:t>Tek tepe, ara kategoriler</a:t>
            </a:r>
          </a:p>
        </p:txBody>
      </p:sp>
      <p:sp>
        <p:nvSpPr>
          <p:cNvPr id="18" name="TextBox 17"/>
          <p:cNvSpPr txBox="1"/>
          <p:nvPr/>
        </p:nvSpPr>
        <p:spPr>
          <a:xfrm>
            <a:off x="6766560" y="3429000"/>
            <a:ext cx="4663440" cy="320040"/>
          </a:xfrm>
          <a:prstGeom prst="rect">
            <a:avLst/>
          </a:prstGeom>
          <a:noFill/>
        </p:spPr>
        <p:txBody>
          <a:bodyPr wrap="square" anchor="t">
            <a:spAutoFit/>
          </a:bodyPr>
          <a:lstStyle/>
          <a:p>
            <a:pPr algn="l">
              <a:lnSpc>
                <a:spcPct val="115000"/>
              </a:lnSpc>
            </a:pPr>
            <a:r>
              <a:rPr sz="1300" b="1" i="0">
                <a:solidFill>
                  <a:srgbClr val="0F2D40"/>
                </a:solidFill>
                <a:latin typeface="Calibri"/>
              </a:rPr>
              <a:t>Yamuk (trapezoidal)</a:t>
            </a:r>
          </a:p>
        </p:txBody>
      </p:sp>
      <p:cxnSp>
        <p:nvCxnSpPr>
          <p:cNvPr id="19" name="Connector 18"/>
          <p:cNvCxnSpPr/>
          <p:nvPr/>
        </p:nvCxnSpPr>
        <p:spPr>
          <a:xfrm flipV="1">
            <a:off x="6766560" y="3749039"/>
            <a:ext cx="548640" cy="594361"/>
          </a:xfrm>
          <a:prstGeom prst="bentConnector3">
            <a:avLst/>
          </a:prstGeom>
          <a:ln w="25400">
            <a:solidFill>
              <a:srgbClr val="14919B"/>
            </a:solidFill>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315200" y="3749039"/>
            <a:ext cx="731520" cy="0"/>
          </a:xfrm>
          <a:prstGeom prst="bentConnector3">
            <a:avLst/>
          </a:prstGeom>
          <a:ln w="25400">
            <a:solidFill>
              <a:srgbClr val="14919B"/>
            </a:solidFill>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046720" y="3749039"/>
            <a:ext cx="548640" cy="594361"/>
          </a:xfrm>
          <a:prstGeom prst="bentConnector3">
            <a:avLst/>
          </a:prstGeom>
          <a:ln w="25400">
            <a:solidFill>
              <a:srgbClr val="14919B"/>
            </a:solidFill>
            <a:headEnd type="none"/>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766560" y="4343400"/>
            <a:ext cx="1828800" cy="0"/>
          </a:xfrm>
          <a:prstGeom prst="bentConnector3">
            <a:avLst/>
          </a:prstGeom>
          <a:ln w="25400">
            <a:solidFill>
              <a:srgbClr val="556570"/>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778240" y="3931920"/>
            <a:ext cx="2743200" cy="365760"/>
          </a:xfrm>
          <a:prstGeom prst="rect">
            <a:avLst/>
          </a:prstGeom>
          <a:noFill/>
        </p:spPr>
        <p:txBody>
          <a:bodyPr wrap="square" anchor="t">
            <a:spAutoFit/>
          </a:bodyPr>
          <a:lstStyle/>
          <a:p>
            <a:pPr algn="l">
              <a:lnSpc>
                <a:spcPct val="115000"/>
              </a:lnSpc>
            </a:pPr>
            <a:r>
              <a:rPr sz="1200" b="0" i="1">
                <a:solidFill>
                  <a:srgbClr val="556570"/>
                </a:solidFill>
                <a:latin typeface="Calibri"/>
              </a:rPr>
              <a:t>Düz tepe, uç kategoriler</a:t>
            </a:r>
          </a:p>
        </p:txBody>
      </p:sp>
      <p:sp>
        <p:nvSpPr>
          <p:cNvPr id="24" name="TextBox 23"/>
          <p:cNvSpPr txBox="1"/>
          <p:nvPr/>
        </p:nvSpPr>
        <p:spPr>
          <a:xfrm>
            <a:off x="6766560" y="4846320"/>
            <a:ext cx="4663440" cy="1188720"/>
          </a:xfrm>
          <a:prstGeom prst="rect">
            <a:avLst/>
          </a:prstGeom>
          <a:noFill/>
        </p:spPr>
        <p:txBody>
          <a:bodyPr wrap="square" anchor="t">
            <a:spAutoFit/>
          </a:bodyPr>
          <a:lstStyle/>
          <a:p>
            <a:pPr algn="l">
              <a:lnSpc>
                <a:spcPct val="140000"/>
              </a:lnSpc>
            </a:pPr>
            <a:r>
              <a:rPr sz="1200" b="0" i="0">
                <a:solidFill>
                  <a:srgbClr val="0F2D40"/>
                </a:solidFill>
                <a:latin typeface="Calibri"/>
              </a:rPr>
              <a:t>Bu çalışmada:</a:t>
            </a:r>
          </a:p>
          <a:p>
            <a:pPr algn="l">
              <a:lnSpc>
                <a:spcPct val="140000"/>
              </a:lnSpc>
            </a:pPr>
            <a:r>
              <a:rPr sz="1200" b="0" i="0">
                <a:solidFill>
                  <a:srgbClr val="0F2D40"/>
                </a:solidFill>
                <a:latin typeface="Calibri"/>
              </a:rPr>
              <a:t>  • Uç kategoriler → yamuk</a:t>
            </a:r>
          </a:p>
          <a:p>
            <a:pPr algn="l">
              <a:lnSpc>
                <a:spcPct val="140000"/>
              </a:lnSpc>
            </a:pPr>
            <a:r>
              <a:rPr sz="1200" b="0" i="0">
                <a:solidFill>
                  <a:srgbClr val="0F2D40"/>
                </a:solidFill>
                <a:latin typeface="Calibri"/>
              </a:rPr>
              <a:t>  • Ara kategoriler → üçgen</a:t>
            </a:r>
          </a:p>
        </p:txBody>
      </p:sp>
      <p:sp>
        <p:nvSpPr>
          <p:cNvPr id="25" name="TextBox 24"/>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26" name="TextBox 25"/>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5 / 14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Mamdani Bulanık Çıkarımı</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Beş adımda kararın matematiği</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25880" y="1874520"/>
            <a:ext cx="548640" cy="548640"/>
          </a:xfrm>
          <a:prstGeom prst="ellipse">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Light"/>
              </a:rPr>
              <a:t>1</a:t>
            </a:r>
          </a:p>
        </p:txBody>
      </p:sp>
      <p:sp>
        <p:nvSpPr>
          <p:cNvPr id="7" name="Rounded Rectangle 6"/>
          <p:cNvSpPr/>
          <p:nvPr/>
        </p:nvSpPr>
        <p:spPr>
          <a:xfrm>
            <a:off x="548640" y="2560320"/>
            <a:ext cx="2103120" cy="3200400"/>
          </a:xfrm>
          <a:prstGeom prst="round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651760"/>
            <a:ext cx="1920239" cy="342210"/>
          </a:xfrm>
          <a:prstGeom prst="rect">
            <a:avLst/>
          </a:prstGeom>
          <a:noFill/>
        </p:spPr>
        <p:txBody>
          <a:bodyPr wrap="square" anchor="t">
            <a:spAutoFit/>
          </a:bodyPr>
          <a:lstStyle/>
          <a:p>
            <a:pPr algn="ctr">
              <a:lnSpc>
                <a:spcPct val="115000"/>
              </a:lnSpc>
            </a:pPr>
            <a:r>
              <a:rPr lang="tr-TR" sz="1500" b="1" i="0" dirty="0" err="1">
                <a:solidFill>
                  <a:srgbClr val="0F2D40"/>
                </a:solidFill>
                <a:latin typeface="Calibri Light"/>
              </a:rPr>
              <a:t>Fuzzification</a:t>
            </a:r>
            <a:endParaRPr sz="1500" b="1" i="0" dirty="0">
              <a:solidFill>
                <a:srgbClr val="0F2D40"/>
              </a:solidFill>
              <a:latin typeface="Calibri Light"/>
            </a:endParaRPr>
          </a:p>
        </p:txBody>
      </p:sp>
      <p:sp>
        <p:nvSpPr>
          <p:cNvPr id="9" name="TextBox 8"/>
          <p:cNvSpPr txBox="1"/>
          <p:nvPr/>
        </p:nvSpPr>
        <p:spPr>
          <a:xfrm>
            <a:off x="640080" y="3383280"/>
            <a:ext cx="1920239" cy="2194560"/>
          </a:xfrm>
          <a:prstGeom prst="rect">
            <a:avLst/>
          </a:prstGeom>
          <a:noFill/>
        </p:spPr>
        <p:txBody>
          <a:bodyPr wrap="square" anchor="t">
            <a:spAutoFit/>
          </a:bodyPr>
          <a:lstStyle/>
          <a:p>
            <a:pPr algn="ctr">
              <a:lnSpc>
                <a:spcPct val="140000"/>
              </a:lnSpc>
            </a:pPr>
            <a:r>
              <a:rPr sz="1100" b="0" i="0">
                <a:solidFill>
                  <a:srgbClr val="0F2D40"/>
                </a:solidFill>
                <a:latin typeface="Calibri"/>
              </a:rPr>
              <a:t>Keskin girdiler → üyelik dereceleri</a:t>
            </a:r>
          </a:p>
          <a:p>
            <a:pPr algn="ctr">
              <a:lnSpc>
                <a:spcPct val="140000"/>
              </a:lnSpc>
            </a:pPr>
            <a:r>
              <a:rPr sz="1100" b="0" i="0">
                <a:solidFill>
                  <a:srgbClr val="0F2D40"/>
                </a:solidFill>
                <a:latin typeface="Calibri"/>
              </a:rPr>
              <a:t>(interp_membership)</a:t>
            </a:r>
          </a:p>
        </p:txBody>
      </p:sp>
      <p:sp>
        <p:nvSpPr>
          <p:cNvPr id="10" name="Right Arrow 9"/>
          <p:cNvSpPr/>
          <p:nvPr/>
        </p:nvSpPr>
        <p:spPr>
          <a:xfrm>
            <a:off x="2674620" y="3977639"/>
            <a:ext cx="228600" cy="365760"/>
          </a:xfrm>
          <a:prstGeom prst="rightArrow">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566160" y="1874520"/>
            <a:ext cx="548640" cy="548640"/>
          </a:xfrm>
          <a:prstGeom prst="ellipse">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Light"/>
              </a:rPr>
              <a:t>2</a:t>
            </a:r>
          </a:p>
        </p:txBody>
      </p:sp>
      <p:sp>
        <p:nvSpPr>
          <p:cNvPr id="12" name="Rounded Rectangle 11"/>
          <p:cNvSpPr/>
          <p:nvPr/>
        </p:nvSpPr>
        <p:spPr>
          <a:xfrm>
            <a:off x="2788920" y="2560320"/>
            <a:ext cx="2103120" cy="3200400"/>
          </a:xfrm>
          <a:prstGeom prst="round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80360" y="2651760"/>
            <a:ext cx="1920239" cy="342210"/>
          </a:xfrm>
          <a:prstGeom prst="rect">
            <a:avLst/>
          </a:prstGeom>
          <a:noFill/>
        </p:spPr>
        <p:txBody>
          <a:bodyPr wrap="square" anchor="t">
            <a:spAutoFit/>
          </a:bodyPr>
          <a:lstStyle/>
          <a:p>
            <a:pPr algn="ctr">
              <a:lnSpc>
                <a:spcPct val="115000"/>
              </a:lnSpc>
            </a:pPr>
            <a:r>
              <a:rPr lang="tr-TR" sz="1500" b="1" i="0" dirty="0" err="1">
                <a:solidFill>
                  <a:srgbClr val="0F2D40"/>
                </a:solidFill>
                <a:latin typeface="Calibri Light"/>
              </a:rPr>
              <a:t>Firing</a:t>
            </a:r>
            <a:r>
              <a:rPr lang="tr-TR" sz="1500" b="1" i="0" dirty="0">
                <a:solidFill>
                  <a:srgbClr val="0F2D40"/>
                </a:solidFill>
                <a:latin typeface="Calibri Light"/>
              </a:rPr>
              <a:t> </a:t>
            </a:r>
            <a:r>
              <a:rPr lang="tr-TR" sz="1500" b="1" i="0" dirty="0" err="1">
                <a:solidFill>
                  <a:srgbClr val="0F2D40"/>
                </a:solidFill>
                <a:latin typeface="Calibri Light"/>
              </a:rPr>
              <a:t>Strength</a:t>
            </a:r>
            <a:endParaRPr sz="1500" b="1" i="0" dirty="0">
              <a:solidFill>
                <a:srgbClr val="0F2D40"/>
              </a:solidFill>
              <a:latin typeface="Calibri Light"/>
            </a:endParaRPr>
          </a:p>
        </p:txBody>
      </p:sp>
      <p:sp>
        <p:nvSpPr>
          <p:cNvPr id="14" name="TextBox 13"/>
          <p:cNvSpPr txBox="1"/>
          <p:nvPr/>
        </p:nvSpPr>
        <p:spPr>
          <a:xfrm>
            <a:off x="2880360" y="3383280"/>
            <a:ext cx="1920239" cy="2194560"/>
          </a:xfrm>
          <a:prstGeom prst="rect">
            <a:avLst/>
          </a:prstGeom>
          <a:noFill/>
        </p:spPr>
        <p:txBody>
          <a:bodyPr wrap="square" anchor="t">
            <a:spAutoFit/>
          </a:bodyPr>
          <a:lstStyle/>
          <a:p>
            <a:pPr algn="ctr">
              <a:lnSpc>
                <a:spcPct val="140000"/>
              </a:lnSpc>
            </a:pPr>
            <a:r>
              <a:rPr sz="1100" b="0" i="0">
                <a:solidFill>
                  <a:srgbClr val="0F2D40"/>
                </a:solidFill>
                <a:latin typeface="Calibri"/>
              </a:rPr>
              <a:t>Her kural için w (firing strength)</a:t>
            </a:r>
          </a:p>
          <a:p>
            <a:pPr algn="ctr">
              <a:lnSpc>
                <a:spcPct val="140000"/>
              </a:lnSpc>
            </a:pPr>
            <a:r>
              <a:rPr sz="1100" b="0" i="0">
                <a:solidFill>
                  <a:srgbClr val="0F2D40"/>
                </a:solidFill>
                <a:latin typeface="Calibri"/>
              </a:rPr>
              <a:t>w = min(üyelikler) — T-norm</a:t>
            </a:r>
          </a:p>
        </p:txBody>
      </p:sp>
      <p:sp>
        <p:nvSpPr>
          <p:cNvPr id="15" name="Right Arrow 14"/>
          <p:cNvSpPr/>
          <p:nvPr/>
        </p:nvSpPr>
        <p:spPr>
          <a:xfrm>
            <a:off x="4914900" y="3977639"/>
            <a:ext cx="228600" cy="365760"/>
          </a:xfrm>
          <a:prstGeom prst="rightArrow">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806440" y="1874520"/>
            <a:ext cx="548640" cy="548640"/>
          </a:xfrm>
          <a:prstGeom prst="ellipse">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Light"/>
              </a:rPr>
              <a:t>3</a:t>
            </a:r>
          </a:p>
        </p:txBody>
      </p:sp>
      <p:sp>
        <p:nvSpPr>
          <p:cNvPr id="17" name="Rounded Rectangle 16"/>
          <p:cNvSpPr/>
          <p:nvPr/>
        </p:nvSpPr>
        <p:spPr>
          <a:xfrm>
            <a:off x="5029200" y="2560320"/>
            <a:ext cx="2103120" cy="3200400"/>
          </a:xfrm>
          <a:prstGeom prst="round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20640" y="2651760"/>
            <a:ext cx="1920239" cy="342210"/>
          </a:xfrm>
          <a:prstGeom prst="rect">
            <a:avLst/>
          </a:prstGeom>
          <a:noFill/>
        </p:spPr>
        <p:txBody>
          <a:bodyPr wrap="square" anchor="t">
            <a:spAutoFit/>
          </a:bodyPr>
          <a:lstStyle/>
          <a:p>
            <a:pPr algn="ctr">
              <a:lnSpc>
                <a:spcPct val="115000"/>
              </a:lnSpc>
            </a:pPr>
            <a:r>
              <a:rPr sz="1500" b="1" i="0" dirty="0">
                <a:solidFill>
                  <a:srgbClr val="0F2D40"/>
                </a:solidFill>
                <a:latin typeface="Calibri Light"/>
              </a:rPr>
              <a:t>Impli</a:t>
            </a:r>
            <a:r>
              <a:rPr lang="tr-TR" sz="1500" b="1" i="0" dirty="0">
                <a:solidFill>
                  <a:srgbClr val="0F2D40"/>
                </a:solidFill>
                <a:latin typeface="Calibri Light"/>
              </a:rPr>
              <a:t>c</a:t>
            </a:r>
            <a:r>
              <a:rPr sz="1500" b="1" i="0" dirty="0">
                <a:solidFill>
                  <a:srgbClr val="0F2D40"/>
                </a:solidFill>
                <a:latin typeface="Calibri Light"/>
              </a:rPr>
              <a:t>a</a:t>
            </a:r>
            <a:r>
              <a:rPr lang="tr-TR" sz="1500" b="1" i="0" dirty="0">
                <a:solidFill>
                  <a:srgbClr val="0F2D40"/>
                </a:solidFill>
                <a:latin typeface="Calibri Light"/>
              </a:rPr>
              <a:t>ti</a:t>
            </a:r>
            <a:r>
              <a:rPr sz="1500" b="1" i="0" dirty="0">
                <a:solidFill>
                  <a:srgbClr val="0F2D40"/>
                </a:solidFill>
                <a:latin typeface="Calibri Light"/>
              </a:rPr>
              <a:t>on</a:t>
            </a:r>
          </a:p>
        </p:txBody>
      </p:sp>
      <p:sp>
        <p:nvSpPr>
          <p:cNvPr id="19" name="TextBox 18"/>
          <p:cNvSpPr txBox="1"/>
          <p:nvPr/>
        </p:nvSpPr>
        <p:spPr>
          <a:xfrm>
            <a:off x="5120640" y="3383280"/>
            <a:ext cx="1920239" cy="2194560"/>
          </a:xfrm>
          <a:prstGeom prst="rect">
            <a:avLst/>
          </a:prstGeom>
          <a:noFill/>
        </p:spPr>
        <p:txBody>
          <a:bodyPr wrap="square" anchor="t">
            <a:spAutoFit/>
          </a:bodyPr>
          <a:lstStyle/>
          <a:p>
            <a:pPr algn="ctr">
              <a:lnSpc>
                <a:spcPct val="140000"/>
              </a:lnSpc>
            </a:pPr>
            <a:r>
              <a:rPr sz="1100" b="0" i="0">
                <a:solidFill>
                  <a:srgbClr val="0F2D40"/>
                </a:solidFill>
                <a:latin typeface="Calibri"/>
              </a:rPr>
              <a:t>Consequent üyelik fonksiyonunu</a:t>
            </a:r>
          </a:p>
          <a:p>
            <a:pPr algn="ctr">
              <a:lnSpc>
                <a:spcPct val="140000"/>
              </a:lnSpc>
            </a:pPr>
            <a:r>
              <a:rPr sz="1100" b="0" i="0">
                <a:solidFill>
                  <a:srgbClr val="0F2D40"/>
                </a:solidFill>
                <a:latin typeface="Calibri"/>
              </a:rPr>
              <a:t>w ile kırp (min-clipping)</a:t>
            </a:r>
          </a:p>
        </p:txBody>
      </p:sp>
      <p:sp>
        <p:nvSpPr>
          <p:cNvPr id="20" name="Right Arrow 19"/>
          <p:cNvSpPr/>
          <p:nvPr/>
        </p:nvSpPr>
        <p:spPr>
          <a:xfrm>
            <a:off x="7155180" y="3977639"/>
            <a:ext cx="228600" cy="365760"/>
          </a:xfrm>
          <a:prstGeom prst="rightArrow">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046719" y="1874520"/>
            <a:ext cx="548640" cy="548640"/>
          </a:xfrm>
          <a:prstGeom prst="ellipse">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Light"/>
              </a:rPr>
              <a:t>4</a:t>
            </a:r>
          </a:p>
        </p:txBody>
      </p:sp>
      <p:sp>
        <p:nvSpPr>
          <p:cNvPr id="22" name="Rounded Rectangle 21"/>
          <p:cNvSpPr/>
          <p:nvPr/>
        </p:nvSpPr>
        <p:spPr>
          <a:xfrm>
            <a:off x="7269479" y="2560320"/>
            <a:ext cx="2103120" cy="3200400"/>
          </a:xfrm>
          <a:prstGeom prst="round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60919" y="2651760"/>
            <a:ext cx="1920239" cy="342210"/>
          </a:xfrm>
          <a:prstGeom prst="rect">
            <a:avLst/>
          </a:prstGeom>
          <a:noFill/>
        </p:spPr>
        <p:txBody>
          <a:bodyPr wrap="square" anchor="t">
            <a:spAutoFit/>
          </a:bodyPr>
          <a:lstStyle/>
          <a:p>
            <a:pPr algn="ctr">
              <a:lnSpc>
                <a:spcPct val="115000"/>
              </a:lnSpc>
            </a:pPr>
            <a:r>
              <a:rPr sz="1500" b="1" i="0" dirty="0">
                <a:solidFill>
                  <a:srgbClr val="0F2D40"/>
                </a:solidFill>
                <a:latin typeface="Calibri Light"/>
              </a:rPr>
              <a:t>Aggregation</a:t>
            </a:r>
          </a:p>
        </p:txBody>
      </p:sp>
      <p:sp>
        <p:nvSpPr>
          <p:cNvPr id="24" name="TextBox 23"/>
          <p:cNvSpPr txBox="1"/>
          <p:nvPr/>
        </p:nvSpPr>
        <p:spPr>
          <a:xfrm>
            <a:off x="7360919" y="3383280"/>
            <a:ext cx="1920239" cy="2194560"/>
          </a:xfrm>
          <a:prstGeom prst="rect">
            <a:avLst/>
          </a:prstGeom>
          <a:noFill/>
        </p:spPr>
        <p:txBody>
          <a:bodyPr wrap="square" anchor="t">
            <a:spAutoFit/>
          </a:bodyPr>
          <a:lstStyle/>
          <a:p>
            <a:pPr algn="ctr">
              <a:lnSpc>
                <a:spcPct val="140000"/>
              </a:lnSpc>
            </a:pPr>
            <a:r>
              <a:rPr sz="1100" b="0" i="0">
                <a:solidFill>
                  <a:srgbClr val="0F2D40"/>
                </a:solidFill>
                <a:latin typeface="Calibri"/>
              </a:rPr>
              <a:t>Tüm kırpılmış çıkışları</a:t>
            </a:r>
          </a:p>
          <a:p>
            <a:pPr algn="ctr">
              <a:lnSpc>
                <a:spcPct val="140000"/>
              </a:lnSpc>
            </a:pPr>
            <a:r>
              <a:rPr sz="1100" b="0" i="0">
                <a:solidFill>
                  <a:srgbClr val="0F2D40"/>
                </a:solidFill>
                <a:latin typeface="Calibri"/>
              </a:rPr>
              <a:t>max operatörü ile birleştir</a:t>
            </a:r>
          </a:p>
        </p:txBody>
      </p:sp>
      <p:sp>
        <p:nvSpPr>
          <p:cNvPr id="25" name="Right Arrow 24"/>
          <p:cNvSpPr/>
          <p:nvPr/>
        </p:nvSpPr>
        <p:spPr>
          <a:xfrm>
            <a:off x="9395459" y="3977639"/>
            <a:ext cx="228600" cy="365760"/>
          </a:xfrm>
          <a:prstGeom prst="rightArrow">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286999" y="1874520"/>
            <a:ext cx="548640" cy="548640"/>
          </a:xfrm>
          <a:prstGeom prst="ellipse">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Light"/>
              </a:rPr>
              <a:t>5</a:t>
            </a:r>
          </a:p>
        </p:txBody>
      </p:sp>
      <p:sp>
        <p:nvSpPr>
          <p:cNvPr id="27" name="Rounded Rectangle 26"/>
          <p:cNvSpPr/>
          <p:nvPr/>
        </p:nvSpPr>
        <p:spPr>
          <a:xfrm>
            <a:off x="9509759" y="2560320"/>
            <a:ext cx="2103120" cy="3200400"/>
          </a:xfrm>
          <a:prstGeom prst="round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199" y="2651760"/>
            <a:ext cx="1920239" cy="342210"/>
          </a:xfrm>
          <a:prstGeom prst="rect">
            <a:avLst/>
          </a:prstGeom>
          <a:noFill/>
        </p:spPr>
        <p:txBody>
          <a:bodyPr wrap="square" anchor="t">
            <a:spAutoFit/>
          </a:bodyPr>
          <a:lstStyle/>
          <a:p>
            <a:pPr algn="ctr">
              <a:lnSpc>
                <a:spcPct val="115000"/>
              </a:lnSpc>
            </a:pPr>
            <a:r>
              <a:rPr lang="tr-TR" sz="1500" b="1" i="0" dirty="0" err="1">
                <a:solidFill>
                  <a:srgbClr val="0F2D40"/>
                </a:solidFill>
                <a:latin typeface="Calibri Light"/>
              </a:rPr>
              <a:t>Defuzzification</a:t>
            </a:r>
            <a:endParaRPr sz="1500" b="1" i="0" dirty="0">
              <a:solidFill>
                <a:srgbClr val="0F2D40"/>
              </a:solidFill>
              <a:latin typeface="Calibri Light"/>
            </a:endParaRPr>
          </a:p>
        </p:txBody>
      </p:sp>
      <p:sp>
        <p:nvSpPr>
          <p:cNvPr id="29" name="TextBox 28"/>
          <p:cNvSpPr txBox="1"/>
          <p:nvPr/>
        </p:nvSpPr>
        <p:spPr>
          <a:xfrm>
            <a:off x="9601199" y="3383280"/>
            <a:ext cx="1920239" cy="2194560"/>
          </a:xfrm>
          <a:prstGeom prst="rect">
            <a:avLst/>
          </a:prstGeom>
          <a:noFill/>
        </p:spPr>
        <p:txBody>
          <a:bodyPr wrap="square" anchor="t">
            <a:spAutoFit/>
          </a:bodyPr>
          <a:lstStyle/>
          <a:p>
            <a:pPr algn="ctr">
              <a:lnSpc>
                <a:spcPct val="140000"/>
              </a:lnSpc>
            </a:pPr>
            <a:r>
              <a:rPr sz="1100" b="0" i="0">
                <a:solidFill>
                  <a:srgbClr val="0F2D40"/>
                </a:solidFill>
                <a:latin typeface="Calibri"/>
              </a:rPr>
              <a:t>Toplam bulanık küme →</a:t>
            </a:r>
          </a:p>
          <a:p>
            <a:pPr algn="ctr">
              <a:lnSpc>
                <a:spcPct val="140000"/>
              </a:lnSpc>
            </a:pPr>
            <a:r>
              <a:rPr sz="1100" b="0" i="0">
                <a:solidFill>
                  <a:srgbClr val="0F2D40"/>
                </a:solidFill>
                <a:latin typeface="Calibri"/>
              </a:rPr>
              <a:t>tek keskin sayı (centroid)</a:t>
            </a:r>
          </a:p>
        </p:txBody>
      </p:sp>
      <p:sp>
        <p:nvSpPr>
          <p:cNvPr id="30" name="TextBox 29"/>
          <p:cNvSpPr txBox="1"/>
          <p:nvPr/>
        </p:nvSpPr>
        <p:spPr>
          <a:xfrm>
            <a:off x="640080" y="5989320"/>
            <a:ext cx="10972800" cy="365760"/>
          </a:xfrm>
          <a:prstGeom prst="rect">
            <a:avLst/>
          </a:prstGeom>
          <a:noFill/>
        </p:spPr>
        <p:txBody>
          <a:bodyPr wrap="square" anchor="t">
            <a:spAutoFit/>
          </a:bodyPr>
          <a:lstStyle/>
          <a:p>
            <a:pPr algn="l">
              <a:lnSpc>
                <a:spcPct val="115000"/>
              </a:lnSpc>
            </a:pPr>
            <a:r>
              <a:rPr sz="1400" b="1" i="0">
                <a:solidFill>
                  <a:srgbClr val="0F2D40"/>
                </a:solidFill>
                <a:latin typeface="Calibri"/>
              </a:rPr>
              <a:t>T-norm (AND): </a:t>
            </a:r>
          </a:p>
        </p:txBody>
      </p:sp>
      <p:sp>
        <p:nvSpPr>
          <p:cNvPr id="31" name="TextBox 30"/>
          <p:cNvSpPr txBox="1"/>
          <p:nvPr/>
        </p:nvSpPr>
        <p:spPr>
          <a:xfrm>
            <a:off x="640080" y="5943600"/>
            <a:ext cx="10972800" cy="640080"/>
          </a:xfrm>
          <a:prstGeom prst="rect">
            <a:avLst/>
          </a:prstGeom>
          <a:noFill/>
        </p:spPr>
        <p:txBody>
          <a:bodyPr wrap="square">
            <a:spAutoFit/>
          </a:bodyPr>
          <a:lstStyle/>
          <a:p>
            <a:pPr algn="ctr"/>
            <a:r>
              <a:rPr sz="1800">
                <a:solidFill>
                  <a:srgbClr val="0E6E76"/>
                </a:solidFill>
                <a:latin typeface="Cambria Math"/>
              </a:rPr>
              <a:t>                              wᵢ = min( μ₁(x₁),  μ₂(x₂),  μ₃(x₃),  μ₄(x₄) )</a:t>
            </a:r>
          </a:p>
        </p:txBody>
      </p:sp>
      <p:sp>
        <p:nvSpPr>
          <p:cNvPr id="32" name="TextBox 31"/>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33" name="TextBox 32"/>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6 / 14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4 Girdi Değişkeni</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Hekimden alınan klinik veriler</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54480"/>
            <a:ext cx="5303520" cy="2194560"/>
          </a:xfrm>
          <a:prstGeom prst="roundRect">
            <a:avLst/>
          </a:prstGeom>
          <a:solidFill>
            <a:srgbClr val="FFFFFF"/>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54480"/>
            <a:ext cx="137160" cy="2194560"/>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91639"/>
            <a:ext cx="4937760" cy="365760"/>
          </a:xfrm>
          <a:prstGeom prst="rect">
            <a:avLst/>
          </a:prstGeom>
          <a:noFill/>
        </p:spPr>
        <p:txBody>
          <a:bodyPr wrap="square" anchor="t">
            <a:spAutoFit/>
          </a:bodyPr>
          <a:lstStyle/>
          <a:p>
            <a:pPr algn="l">
              <a:lnSpc>
                <a:spcPct val="115000"/>
              </a:lnSpc>
            </a:pPr>
            <a:r>
              <a:rPr sz="1800" b="1" i="0">
                <a:solidFill>
                  <a:srgbClr val="0F2D40"/>
                </a:solidFill>
                <a:latin typeface="Calibri Light"/>
              </a:rPr>
              <a:t>TOLERANS</a:t>
            </a:r>
          </a:p>
        </p:txBody>
      </p:sp>
      <p:sp>
        <p:nvSpPr>
          <p:cNvPr id="9" name="TextBox 8"/>
          <p:cNvSpPr txBox="1"/>
          <p:nvPr/>
        </p:nvSpPr>
        <p:spPr>
          <a:xfrm>
            <a:off x="914400" y="2103120"/>
            <a:ext cx="4937760" cy="365760"/>
          </a:xfrm>
          <a:prstGeom prst="rect">
            <a:avLst/>
          </a:prstGeom>
          <a:noFill/>
        </p:spPr>
        <p:txBody>
          <a:bodyPr wrap="square" anchor="t">
            <a:spAutoFit/>
          </a:bodyPr>
          <a:lstStyle/>
          <a:p>
            <a:pPr algn="l">
              <a:lnSpc>
                <a:spcPct val="115000"/>
              </a:lnSpc>
            </a:pPr>
            <a:r>
              <a:rPr sz="1400" b="1" i="0">
                <a:solidFill>
                  <a:srgbClr val="0E6E76"/>
                </a:solidFill>
                <a:latin typeface="Calibri"/>
              </a:rPr>
              <a:t>0 – 10</a:t>
            </a:r>
          </a:p>
        </p:txBody>
      </p:sp>
      <p:sp>
        <p:nvSpPr>
          <p:cNvPr id="10" name="TextBox 9"/>
          <p:cNvSpPr txBox="1"/>
          <p:nvPr/>
        </p:nvSpPr>
        <p:spPr>
          <a:xfrm>
            <a:off x="914400" y="2514600"/>
            <a:ext cx="4937760" cy="457200"/>
          </a:xfrm>
          <a:prstGeom prst="rect">
            <a:avLst/>
          </a:prstGeom>
          <a:noFill/>
        </p:spPr>
        <p:txBody>
          <a:bodyPr wrap="square" anchor="t">
            <a:spAutoFit/>
          </a:bodyPr>
          <a:lstStyle/>
          <a:p>
            <a:pPr algn="l">
              <a:lnSpc>
                <a:spcPct val="115000"/>
              </a:lnSpc>
            </a:pPr>
            <a:r>
              <a:rPr sz="1200" b="0" i="1">
                <a:solidFill>
                  <a:srgbClr val="556570"/>
                </a:solidFill>
                <a:latin typeface="Calibri"/>
              </a:rPr>
              <a:t>Hastanın tedaviye uyum kapasitesi</a:t>
            </a:r>
          </a:p>
        </p:txBody>
      </p:sp>
      <p:sp>
        <p:nvSpPr>
          <p:cNvPr id="11" name="TextBox 10"/>
          <p:cNvSpPr txBox="1"/>
          <p:nvPr/>
        </p:nvSpPr>
        <p:spPr>
          <a:xfrm>
            <a:off x="914400" y="2971800"/>
            <a:ext cx="4937760" cy="365760"/>
          </a:xfrm>
          <a:prstGeom prst="rect">
            <a:avLst/>
          </a:prstGeom>
          <a:noFill/>
        </p:spPr>
        <p:txBody>
          <a:bodyPr wrap="square" anchor="t">
            <a:spAutoFit/>
          </a:bodyPr>
          <a:lstStyle/>
          <a:p>
            <a:pPr algn="l">
              <a:lnSpc>
                <a:spcPct val="115000"/>
              </a:lnSpc>
            </a:pPr>
            <a:r>
              <a:rPr sz="1100" b="0" i="0">
                <a:solidFill>
                  <a:srgbClr val="556570"/>
                </a:solidFill>
                <a:latin typeface="Calibri"/>
              </a:rPr>
              <a:t>Dilsel kategoriler:</a:t>
            </a:r>
          </a:p>
        </p:txBody>
      </p:sp>
      <p:sp>
        <p:nvSpPr>
          <p:cNvPr id="12" name="TextBox 11"/>
          <p:cNvSpPr txBox="1"/>
          <p:nvPr/>
        </p:nvSpPr>
        <p:spPr>
          <a:xfrm>
            <a:off x="914400" y="3246120"/>
            <a:ext cx="4937760" cy="457200"/>
          </a:xfrm>
          <a:prstGeom prst="rect">
            <a:avLst/>
          </a:prstGeom>
          <a:noFill/>
        </p:spPr>
        <p:txBody>
          <a:bodyPr wrap="square" anchor="t">
            <a:spAutoFit/>
          </a:bodyPr>
          <a:lstStyle/>
          <a:p>
            <a:pPr algn="l">
              <a:lnSpc>
                <a:spcPct val="115000"/>
              </a:lnSpc>
            </a:pPr>
            <a:r>
              <a:rPr sz="1300" b="1" i="0">
                <a:solidFill>
                  <a:srgbClr val="0F2D40"/>
                </a:solidFill>
                <a:latin typeface="Calibri"/>
              </a:rPr>
              <a:t>Edemez · Belirsiz · Edebilir</a:t>
            </a:r>
          </a:p>
        </p:txBody>
      </p:sp>
      <p:sp>
        <p:nvSpPr>
          <p:cNvPr id="13" name="Rounded Rectangle 12"/>
          <p:cNvSpPr/>
          <p:nvPr/>
        </p:nvSpPr>
        <p:spPr>
          <a:xfrm>
            <a:off x="6263640" y="1554480"/>
            <a:ext cx="5303520" cy="2194560"/>
          </a:xfrm>
          <a:prstGeom prst="roundRect">
            <a:avLst/>
          </a:prstGeom>
          <a:solidFill>
            <a:srgbClr val="FFFFFF"/>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54480"/>
            <a:ext cx="137160" cy="2194560"/>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59" y="1691639"/>
            <a:ext cx="4937760" cy="365760"/>
          </a:xfrm>
          <a:prstGeom prst="rect">
            <a:avLst/>
          </a:prstGeom>
          <a:noFill/>
        </p:spPr>
        <p:txBody>
          <a:bodyPr wrap="square" anchor="t">
            <a:spAutoFit/>
          </a:bodyPr>
          <a:lstStyle/>
          <a:p>
            <a:pPr algn="l">
              <a:lnSpc>
                <a:spcPct val="115000"/>
              </a:lnSpc>
            </a:pPr>
            <a:r>
              <a:rPr sz="1800" b="1" i="0">
                <a:solidFill>
                  <a:srgbClr val="0F2D40"/>
                </a:solidFill>
                <a:latin typeface="Calibri Light"/>
              </a:rPr>
              <a:t>AĞRI PROFİLİ</a:t>
            </a:r>
          </a:p>
        </p:txBody>
      </p:sp>
      <p:sp>
        <p:nvSpPr>
          <p:cNvPr id="16" name="TextBox 15"/>
          <p:cNvSpPr txBox="1"/>
          <p:nvPr/>
        </p:nvSpPr>
        <p:spPr>
          <a:xfrm>
            <a:off x="6537959" y="2103120"/>
            <a:ext cx="4937760" cy="365760"/>
          </a:xfrm>
          <a:prstGeom prst="rect">
            <a:avLst/>
          </a:prstGeom>
          <a:noFill/>
        </p:spPr>
        <p:txBody>
          <a:bodyPr wrap="square" anchor="t">
            <a:spAutoFit/>
          </a:bodyPr>
          <a:lstStyle/>
          <a:p>
            <a:pPr algn="l">
              <a:lnSpc>
                <a:spcPct val="115000"/>
              </a:lnSpc>
            </a:pPr>
            <a:r>
              <a:rPr sz="1400" b="1" i="0">
                <a:solidFill>
                  <a:srgbClr val="0E6E76"/>
                </a:solidFill>
                <a:latin typeface="Calibri"/>
              </a:rPr>
              <a:t>0 – 10 NRS</a:t>
            </a:r>
          </a:p>
        </p:txBody>
      </p:sp>
      <p:sp>
        <p:nvSpPr>
          <p:cNvPr id="17" name="TextBox 16"/>
          <p:cNvSpPr txBox="1"/>
          <p:nvPr/>
        </p:nvSpPr>
        <p:spPr>
          <a:xfrm>
            <a:off x="6537959" y="2514600"/>
            <a:ext cx="4937760" cy="457200"/>
          </a:xfrm>
          <a:prstGeom prst="rect">
            <a:avLst/>
          </a:prstGeom>
          <a:noFill/>
        </p:spPr>
        <p:txBody>
          <a:bodyPr wrap="square" anchor="t">
            <a:spAutoFit/>
          </a:bodyPr>
          <a:lstStyle/>
          <a:p>
            <a:pPr algn="l">
              <a:lnSpc>
                <a:spcPct val="115000"/>
              </a:lnSpc>
            </a:pPr>
            <a:r>
              <a:rPr sz="1200" b="0" i="1">
                <a:solidFill>
                  <a:srgbClr val="556570"/>
                </a:solidFill>
                <a:latin typeface="Calibri"/>
              </a:rPr>
              <a:t>Numerical Rating Scale</a:t>
            </a:r>
          </a:p>
        </p:txBody>
      </p:sp>
      <p:sp>
        <p:nvSpPr>
          <p:cNvPr id="18" name="TextBox 17"/>
          <p:cNvSpPr txBox="1"/>
          <p:nvPr/>
        </p:nvSpPr>
        <p:spPr>
          <a:xfrm>
            <a:off x="6537959" y="2971800"/>
            <a:ext cx="4937760" cy="365760"/>
          </a:xfrm>
          <a:prstGeom prst="rect">
            <a:avLst/>
          </a:prstGeom>
          <a:noFill/>
        </p:spPr>
        <p:txBody>
          <a:bodyPr wrap="square" anchor="t">
            <a:spAutoFit/>
          </a:bodyPr>
          <a:lstStyle/>
          <a:p>
            <a:pPr algn="l">
              <a:lnSpc>
                <a:spcPct val="115000"/>
              </a:lnSpc>
            </a:pPr>
            <a:r>
              <a:rPr sz="1100" b="0" i="0">
                <a:solidFill>
                  <a:srgbClr val="556570"/>
                </a:solidFill>
                <a:latin typeface="Calibri"/>
              </a:rPr>
              <a:t>Dilsel kategoriler:</a:t>
            </a:r>
          </a:p>
        </p:txBody>
      </p:sp>
      <p:sp>
        <p:nvSpPr>
          <p:cNvPr id="19" name="TextBox 18"/>
          <p:cNvSpPr txBox="1"/>
          <p:nvPr/>
        </p:nvSpPr>
        <p:spPr>
          <a:xfrm>
            <a:off x="6537959" y="3246120"/>
            <a:ext cx="4937760" cy="457200"/>
          </a:xfrm>
          <a:prstGeom prst="rect">
            <a:avLst/>
          </a:prstGeom>
          <a:noFill/>
        </p:spPr>
        <p:txBody>
          <a:bodyPr wrap="square" anchor="t">
            <a:spAutoFit/>
          </a:bodyPr>
          <a:lstStyle/>
          <a:p>
            <a:pPr algn="l">
              <a:lnSpc>
                <a:spcPct val="115000"/>
              </a:lnSpc>
            </a:pPr>
            <a:r>
              <a:rPr sz="1300" b="1" i="0">
                <a:solidFill>
                  <a:srgbClr val="0F2D40"/>
                </a:solidFill>
                <a:latin typeface="Calibri"/>
              </a:rPr>
              <a:t>Yok · Kısa · Uzun · Spontan</a:t>
            </a:r>
          </a:p>
        </p:txBody>
      </p:sp>
      <p:sp>
        <p:nvSpPr>
          <p:cNvPr id="20" name="Rounded Rectangle 19"/>
          <p:cNvSpPr/>
          <p:nvPr/>
        </p:nvSpPr>
        <p:spPr>
          <a:xfrm>
            <a:off x="640080" y="4023360"/>
            <a:ext cx="5303520" cy="2194560"/>
          </a:xfrm>
          <a:prstGeom prst="roundRect">
            <a:avLst/>
          </a:prstGeom>
          <a:solidFill>
            <a:srgbClr val="FFFFFF"/>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4023360"/>
            <a:ext cx="137160" cy="2194560"/>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160520"/>
            <a:ext cx="4937760" cy="365760"/>
          </a:xfrm>
          <a:prstGeom prst="rect">
            <a:avLst/>
          </a:prstGeom>
          <a:noFill/>
        </p:spPr>
        <p:txBody>
          <a:bodyPr wrap="square" anchor="t">
            <a:spAutoFit/>
          </a:bodyPr>
          <a:lstStyle/>
          <a:p>
            <a:pPr algn="l">
              <a:lnSpc>
                <a:spcPct val="115000"/>
              </a:lnSpc>
            </a:pPr>
            <a:r>
              <a:rPr sz="1800" b="1" i="0">
                <a:solidFill>
                  <a:srgbClr val="0F2D40"/>
                </a:solidFill>
                <a:latin typeface="Calibri Light"/>
              </a:rPr>
              <a:t>ÇÜRÜK DERİNLİĞİ</a:t>
            </a:r>
          </a:p>
        </p:txBody>
      </p:sp>
      <p:sp>
        <p:nvSpPr>
          <p:cNvPr id="23" name="TextBox 22"/>
          <p:cNvSpPr txBox="1"/>
          <p:nvPr/>
        </p:nvSpPr>
        <p:spPr>
          <a:xfrm>
            <a:off x="914400" y="4572000"/>
            <a:ext cx="4937760" cy="365760"/>
          </a:xfrm>
          <a:prstGeom prst="rect">
            <a:avLst/>
          </a:prstGeom>
          <a:noFill/>
        </p:spPr>
        <p:txBody>
          <a:bodyPr wrap="square" anchor="t">
            <a:spAutoFit/>
          </a:bodyPr>
          <a:lstStyle/>
          <a:p>
            <a:pPr algn="l">
              <a:lnSpc>
                <a:spcPct val="115000"/>
              </a:lnSpc>
            </a:pPr>
            <a:r>
              <a:rPr sz="1400" b="1" i="0">
                <a:solidFill>
                  <a:srgbClr val="0E6E76"/>
                </a:solidFill>
                <a:latin typeface="Calibri"/>
              </a:rPr>
              <a:t>0 – 100 %</a:t>
            </a:r>
          </a:p>
        </p:txBody>
      </p:sp>
      <p:sp>
        <p:nvSpPr>
          <p:cNvPr id="24" name="TextBox 23"/>
          <p:cNvSpPr txBox="1"/>
          <p:nvPr/>
        </p:nvSpPr>
        <p:spPr>
          <a:xfrm>
            <a:off x="914400" y="4983480"/>
            <a:ext cx="4937760" cy="457200"/>
          </a:xfrm>
          <a:prstGeom prst="rect">
            <a:avLst/>
          </a:prstGeom>
          <a:noFill/>
        </p:spPr>
        <p:txBody>
          <a:bodyPr wrap="square" anchor="t">
            <a:spAutoFit/>
          </a:bodyPr>
          <a:lstStyle/>
          <a:p>
            <a:pPr algn="l">
              <a:lnSpc>
                <a:spcPct val="115000"/>
              </a:lnSpc>
            </a:pPr>
            <a:r>
              <a:rPr sz="1200" b="0" i="1">
                <a:solidFill>
                  <a:srgbClr val="556570"/>
                </a:solidFill>
                <a:latin typeface="Calibri"/>
              </a:rPr>
              <a:t>Radyografik ilerleme yüzdesi</a:t>
            </a:r>
          </a:p>
        </p:txBody>
      </p:sp>
      <p:sp>
        <p:nvSpPr>
          <p:cNvPr id="25" name="TextBox 24"/>
          <p:cNvSpPr txBox="1"/>
          <p:nvPr/>
        </p:nvSpPr>
        <p:spPr>
          <a:xfrm>
            <a:off x="914400" y="5440680"/>
            <a:ext cx="4937760" cy="365760"/>
          </a:xfrm>
          <a:prstGeom prst="rect">
            <a:avLst/>
          </a:prstGeom>
          <a:noFill/>
        </p:spPr>
        <p:txBody>
          <a:bodyPr wrap="square" anchor="t">
            <a:spAutoFit/>
          </a:bodyPr>
          <a:lstStyle/>
          <a:p>
            <a:pPr algn="l">
              <a:lnSpc>
                <a:spcPct val="115000"/>
              </a:lnSpc>
            </a:pPr>
            <a:r>
              <a:rPr sz="1100" b="0" i="0">
                <a:solidFill>
                  <a:srgbClr val="556570"/>
                </a:solidFill>
                <a:latin typeface="Calibri"/>
              </a:rPr>
              <a:t>Dilsel kategoriler:</a:t>
            </a:r>
          </a:p>
        </p:txBody>
      </p:sp>
      <p:sp>
        <p:nvSpPr>
          <p:cNvPr id="26" name="TextBox 25"/>
          <p:cNvSpPr txBox="1"/>
          <p:nvPr/>
        </p:nvSpPr>
        <p:spPr>
          <a:xfrm>
            <a:off x="914400" y="5715000"/>
            <a:ext cx="4937760" cy="457200"/>
          </a:xfrm>
          <a:prstGeom prst="rect">
            <a:avLst/>
          </a:prstGeom>
          <a:noFill/>
        </p:spPr>
        <p:txBody>
          <a:bodyPr wrap="square" anchor="t">
            <a:spAutoFit/>
          </a:bodyPr>
          <a:lstStyle/>
          <a:p>
            <a:pPr algn="l">
              <a:lnSpc>
                <a:spcPct val="115000"/>
              </a:lnSpc>
            </a:pPr>
            <a:r>
              <a:rPr sz="1300" b="1" i="0">
                <a:solidFill>
                  <a:srgbClr val="0F2D40"/>
                </a:solidFill>
                <a:latin typeface="Calibri"/>
              </a:rPr>
              <a:t>Mine · D1 · D2 · D3 · D4</a:t>
            </a:r>
          </a:p>
        </p:txBody>
      </p:sp>
      <p:sp>
        <p:nvSpPr>
          <p:cNvPr id="27" name="Rounded Rectangle 26"/>
          <p:cNvSpPr/>
          <p:nvPr/>
        </p:nvSpPr>
        <p:spPr>
          <a:xfrm>
            <a:off x="6263640" y="4023360"/>
            <a:ext cx="5303520" cy="2194560"/>
          </a:xfrm>
          <a:prstGeom prst="roundRect">
            <a:avLst/>
          </a:prstGeom>
          <a:solidFill>
            <a:srgbClr val="FFFFFF"/>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63640" y="4023360"/>
            <a:ext cx="137160" cy="2194560"/>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37959" y="4160520"/>
            <a:ext cx="4937760" cy="365760"/>
          </a:xfrm>
          <a:prstGeom prst="rect">
            <a:avLst/>
          </a:prstGeom>
          <a:noFill/>
        </p:spPr>
        <p:txBody>
          <a:bodyPr wrap="square" anchor="t">
            <a:spAutoFit/>
          </a:bodyPr>
          <a:lstStyle/>
          <a:p>
            <a:pPr algn="l">
              <a:lnSpc>
                <a:spcPct val="115000"/>
              </a:lnSpc>
            </a:pPr>
            <a:r>
              <a:rPr sz="1800" b="1" i="0">
                <a:solidFill>
                  <a:srgbClr val="0F2D40"/>
                </a:solidFill>
                <a:latin typeface="Calibri Light"/>
              </a:rPr>
              <a:t>HASTA YAŞI</a:t>
            </a:r>
          </a:p>
        </p:txBody>
      </p:sp>
      <p:sp>
        <p:nvSpPr>
          <p:cNvPr id="30" name="TextBox 29"/>
          <p:cNvSpPr txBox="1"/>
          <p:nvPr/>
        </p:nvSpPr>
        <p:spPr>
          <a:xfrm>
            <a:off x="6537959" y="4572000"/>
            <a:ext cx="4937760" cy="325538"/>
          </a:xfrm>
          <a:prstGeom prst="rect">
            <a:avLst/>
          </a:prstGeom>
          <a:noFill/>
        </p:spPr>
        <p:txBody>
          <a:bodyPr wrap="square" anchor="t">
            <a:spAutoFit/>
          </a:bodyPr>
          <a:lstStyle/>
          <a:p>
            <a:pPr algn="l">
              <a:lnSpc>
                <a:spcPct val="115000"/>
              </a:lnSpc>
            </a:pPr>
            <a:r>
              <a:rPr sz="1400" b="1" i="0" dirty="0">
                <a:solidFill>
                  <a:srgbClr val="0E6E76"/>
                </a:solidFill>
                <a:latin typeface="Calibri"/>
              </a:rPr>
              <a:t>6 – </a:t>
            </a:r>
            <a:r>
              <a:rPr lang="tr-TR" sz="1400" b="1" i="0" dirty="0">
                <a:solidFill>
                  <a:srgbClr val="0E6E76"/>
                </a:solidFill>
                <a:latin typeface="Calibri"/>
              </a:rPr>
              <a:t>50+</a:t>
            </a:r>
            <a:endParaRPr sz="1400" b="1" i="0" dirty="0">
              <a:solidFill>
                <a:srgbClr val="0E6E76"/>
              </a:solidFill>
              <a:latin typeface="Calibri"/>
            </a:endParaRPr>
          </a:p>
        </p:txBody>
      </p:sp>
      <p:sp>
        <p:nvSpPr>
          <p:cNvPr id="31" name="TextBox 30"/>
          <p:cNvSpPr txBox="1"/>
          <p:nvPr/>
        </p:nvSpPr>
        <p:spPr>
          <a:xfrm>
            <a:off x="6537959" y="4983480"/>
            <a:ext cx="4937760" cy="457200"/>
          </a:xfrm>
          <a:prstGeom prst="rect">
            <a:avLst/>
          </a:prstGeom>
          <a:noFill/>
        </p:spPr>
        <p:txBody>
          <a:bodyPr wrap="square" anchor="t">
            <a:spAutoFit/>
          </a:bodyPr>
          <a:lstStyle/>
          <a:p>
            <a:pPr algn="l">
              <a:lnSpc>
                <a:spcPct val="115000"/>
              </a:lnSpc>
            </a:pPr>
            <a:r>
              <a:rPr sz="1200" b="0" i="1">
                <a:solidFill>
                  <a:srgbClr val="556570"/>
                </a:solidFill>
                <a:latin typeface="Calibri"/>
              </a:rPr>
              <a:t>Pulpa biyolojisi &amp; uyum</a:t>
            </a:r>
          </a:p>
        </p:txBody>
      </p:sp>
      <p:sp>
        <p:nvSpPr>
          <p:cNvPr id="32" name="TextBox 31"/>
          <p:cNvSpPr txBox="1"/>
          <p:nvPr/>
        </p:nvSpPr>
        <p:spPr>
          <a:xfrm>
            <a:off x="6537959" y="5440680"/>
            <a:ext cx="4937760" cy="365760"/>
          </a:xfrm>
          <a:prstGeom prst="rect">
            <a:avLst/>
          </a:prstGeom>
          <a:noFill/>
        </p:spPr>
        <p:txBody>
          <a:bodyPr wrap="square" anchor="t">
            <a:spAutoFit/>
          </a:bodyPr>
          <a:lstStyle/>
          <a:p>
            <a:pPr algn="l">
              <a:lnSpc>
                <a:spcPct val="115000"/>
              </a:lnSpc>
            </a:pPr>
            <a:r>
              <a:rPr sz="1100" b="0" i="0">
                <a:solidFill>
                  <a:srgbClr val="556570"/>
                </a:solidFill>
                <a:latin typeface="Calibri"/>
              </a:rPr>
              <a:t>Dilsel kategoriler:</a:t>
            </a:r>
          </a:p>
        </p:txBody>
      </p:sp>
      <p:sp>
        <p:nvSpPr>
          <p:cNvPr id="33" name="TextBox 32"/>
          <p:cNvSpPr txBox="1"/>
          <p:nvPr/>
        </p:nvSpPr>
        <p:spPr>
          <a:xfrm>
            <a:off x="6537959" y="5715000"/>
            <a:ext cx="4937760" cy="457200"/>
          </a:xfrm>
          <a:prstGeom prst="rect">
            <a:avLst/>
          </a:prstGeom>
          <a:noFill/>
        </p:spPr>
        <p:txBody>
          <a:bodyPr wrap="square" anchor="t">
            <a:spAutoFit/>
          </a:bodyPr>
          <a:lstStyle/>
          <a:p>
            <a:pPr algn="l">
              <a:lnSpc>
                <a:spcPct val="115000"/>
              </a:lnSpc>
            </a:pPr>
            <a:r>
              <a:rPr sz="1300" b="1" i="0">
                <a:solidFill>
                  <a:srgbClr val="0F2D40"/>
                </a:solidFill>
                <a:latin typeface="Calibri"/>
              </a:rPr>
              <a:t>Çocuk · Genç · Orta · İleri</a:t>
            </a:r>
          </a:p>
        </p:txBody>
      </p:sp>
      <p:sp>
        <p:nvSpPr>
          <p:cNvPr id="34" name="TextBox 33"/>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35" name="TextBox 34"/>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7 / 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Üyelik Fonksiyonu Parametreleri</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Klinik literatürle uyumlu sınırlar</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554480"/>
            <a:ext cx="10698480" cy="411480"/>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00200"/>
            <a:ext cx="1920239" cy="320040"/>
          </a:xfrm>
          <a:prstGeom prst="rect">
            <a:avLst/>
          </a:prstGeom>
          <a:noFill/>
        </p:spPr>
        <p:txBody>
          <a:bodyPr wrap="square" anchor="t">
            <a:spAutoFit/>
          </a:bodyPr>
          <a:lstStyle/>
          <a:p>
            <a:pPr algn="l">
              <a:lnSpc>
                <a:spcPct val="115000"/>
              </a:lnSpc>
            </a:pPr>
            <a:r>
              <a:rPr sz="1300" b="1" i="0">
                <a:solidFill>
                  <a:srgbClr val="FFFFFF"/>
                </a:solidFill>
                <a:latin typeface="Calibri Light"/>
              </a:rPr>
              <a:t>Değişken</a:t>
            </a:r>
          </a:p>
        </p:txBody>
      </p:sp>
      <p:sp>
        <p:nvSpPr>
          <p:cNvPr id="8" name="TextBox 7"/>
          <p:cNvSpPr txBox="1"/>
          <p:nvPr/>
        </p:nvSpPr>
        <p:spPr>
          <a:xfrm>
            <a:off x="2880360" y="1600200"/>
            <a:ext cx="2286000" cy="320040"/>
          </a:xfrm>
          <a:prstGeom prst="rect">
            <a:avLst/>
          </a:prstGeom>
          <a:noFill/>
        </p:spPr>
        <p:txBody>
          <a:bodyPr wrap="square" anchor="t">
            <a:spAutoFit/>
          </a:bodyPr>
          <a:lstStyle/>
          <a:p>
            <a:pPr algn="l">
              <a:lnSpc>
                <a:spcPct val="115000"/>
              </a:lnSpc>
            </a:pPr>
            <a:r>
              <a:rPr sz="1300" b="1" i="0">
                <a:solidFill>
                  <a:srgbClr val="FFFFFF"/>
                </a:solidFill>
                <a:latin typeface="Calibri Light"/>
              </a:rPr>
              <a:t>Küme</a:t>
            </a:r>
          </a:p>
        </p:txBody>
      </p:sp>
      <p:sp>
        <p:nvSpPr>
          <p:cNvPr id="9" name="TextBox 8"/>
          <p:cNvSpPr txBox="1"/>
          <p:nvPr/>
        </p:nvSpPr>
        <p:spPr>
          <a:xfrm>
            <a:off x="5349240" y="1600200"/>
            <a:ext cx="1737360" cy="320040"/>
          </a:xfrm>
          <a:prstGeom prst="rect">
            <a:avLst/>
          </a:prstGeom>
          <a:noFill/>
        </p:spPr>
        <p:txBody>
          <a:bodyPr wrap="square" anchor="t">
            <a:spAutoFit/>
          </a:bodyPr>
          <a:lstStyle/>
          <a:p>
            <a:pPr algn="l">
              <a:lnSpc>
                <a:spcPct val="115000"/>
              </a:lnSpc>
            </a:pPr>
            <a:r>
              <a:rPr sz="1300" b="1" i="0">
                <a:solidFill>
                  <a:srgbClr val="FFFFFF"/>
                </a:solidFill>
                <a:latin typeface="Calibri Light"/>
              </a:rPr>
              <a:t>Tip</a:t>
            </a:r>
          </a:p>
        </p:txBody>
      </p:sp>
      <p:sp>
        <p:nvSpPr>
          <p:cNvPr id="10" name="TextBox 9"/>
          <p:cNvSpPr txBox="1"/>
          <p:nvPr/>
        </p:nvSpPr>
        <p:spPr>
          <a:xfrm>
            <a:off x="7269480" y="1600200"/>
            <a:ext cx="4023359" cy="320040"/>
          </a:xfrm>
          <a:prstGeom prst="rect">
            <a:avLst/>
          </a:prstGeom>
          <a:noFill/>
        </p:spPr>
        <p:txBody>
          <a:bodyPr wrap="square" anchor="t">
            <a:spAutoFit/>
          </a:bodyPr>
          <a:lstStyle/>
          <a:p>
            <a:pPr algn="l">
              <a:lnSpc>
                <a:spcPct val="115000"/>
              </a:lnSpc>
            </a:pPr>
            <a:r>
              <a:rPr sz="1300" b="1" i="0">
                <a:solidFill>
                  <a:srgbClr val="FFFFFF"/>
                </a:solidFill>
                <a:latin typeface="Calibri Light"/>
              </a:rPr>
              <a:t>Parametreler</a:t>
            </a:r>
          </a:p>
        </p:txBody>
      </p:sp>
      <p:sp>
        <p:nvSpPr>
          <p:cNvPr id="11" name="Rectangle 10"/>
          <p:cNvSpPr/>
          <p:nvPr/>
        </p:nvSpPr>
        <p:spPr>
          <a:xfrm>
            <a:off x="640080" y="1965960"/>
            <a:ext cx="10698480" cy="292608"/>
          </a:xfrm>
          <a:prstGeom prst="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1993391"/>
            <a:ext cx="1920239" cy="274320"/>
          </a:xfrm>
          <a:prstGeom prst="rect">
            <a:avLst/>
          </a:prstGeom>
          <a:noFill/>
        </p:spPr>
        <p:txBody>
          <a:bodyPr wrap="square" anchor="t">
            <a:spAutoFit/>
          </a:bodyPr>
          <a:lstStyle/>
          <a:p>
            <a:pPr algn="l">
              <a:lnSpc>
                <a:spcPct val="115000"/>
              </a:lnSpc>
            </a:pPr>
            <a:r>
              <a:rPr sz="1200" b="0" i="0">
                <a:solidFill>
                  <a:srgbClr val="0F2D40"/>
                </a:solidFill>
                <a:latin typeface="Calibri"/>
              </a:rPr>
              <a:t>Tolerans</a:t>
            </a:r>
          </a:p>
        </p:txBody>
      </p:sp>
      <p:sp>
        <p:nvSpPr>
          <p:cNvPr id="13" name="TextBox 12"/>
          <p:cNvSpPr txBox="1"/>
          <p:nvPr/>
        </p:nvSpPr>
        <p:spPr>
          <a:xfrm>
            <a:off x="2880360" y="1993391"/>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Edemez</a:t>
            </a:r>
          </a:p>
        </p:txBody>
      </p:sp>
      <p:sp>
        <p:nvSpPr>
          <p:cNvPr id="14" name="TextBox 13"/>
          <p:cNvSpPr txBox="1"/>
          <p:nvPr/>
        </p:nvSpPr>
        <p:spPr>
          <a:xfrm>
            <a:off x="5349240" y="1993391"/>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Yamuk</a:t>
            </a:r>
          </a:p>
        </p:txBody>
      </p:sp>
      <p:sp>
        <p:nvSpPr>
          <p:cNvPr id="15" name="TextBox 14"/>
          <p:cNvSpPr txBox="1"/>
          <p:nvPr/>
        </p:nvSpPr>
        <p:spPr>
          <a:xfrm>
            <a:off x="7269480" y="1993391"/>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[0, 0, 2, 4]</a:t>
            </a:r>
          </a:p>
        </p:txBody>
      </p:sp>
      <p:sp>
        <p:nvSpPr>
          <p:cNvPr id="16" name="TextBox 15"/>
          <p:cNvSpPr txBox="1"/>
          <p:nvPr/>
        </p:nvSpPr>
        <p:spPr>
          <a:xfrm>
            <a:off x="777240" y="2285999"/>
            <a:ext cx="1920239" cy="274320"/>
          </a:xfrm>
          <a:prstGeom prst="rect">
            <a:avLst/>
          </a:prstGeom>
          <a:noFill/>
        </p:spPr>
        <p:txBody>
          <a:bodyPr wrap="square" anchor="t">
            <a:spAutoFit/>
          </a:bodyPr>
          <a:lstStyle/>
          <a:p>
            <a:pPr algn="l">
              <a:lnSpc>
                <a:spcPct val="115000"/>
              </a:lnSpc>
            </a:pPr>
            <a:r>
              <a:rPr sz="1200" b="0" i="0">
                <a:solidFill>
                  <a:srgbClr val="0F2D40"/>
                </a:solidFill>
                <a:latin typeface="Calibri"/>
              </a:rPr>
              <a:t>(0–10)</a:t>
            </a:r>
          </a:p>
        </p:txBody>
      </p:sp>
      <p:sp>
        <p:nvSpPr>
          <p:cNvPr id="17" name="TextBox 16"/>
          <p:cNvSpPr txBox="1"/>
          <p:nvPr/>
        </p:nvSpPr>
        <p:spPr>
          <a:xfrm>
            <a:off x="2880360" y="2285999"/>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Belirsiz</a:t>
            </a:r>
          </a:p>
        </p:txBody>
      </p:sp>
      <p:sp>
        <p:nvSpPr>
          <p:cNvPr id="18" name="TextBox 17"/>
          <p:cNvSpPr txBox="1"/>
          <p:nvPr/>
        </p:nvSpPr>
        <p:spPr>
          <a:xfrm>
            <a:off x="5349240" y="2285999"/>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Üçgen</a:t>
            </a:r>
          </a:p>
        </p:txBody>
      </p:sp>
      <p:sp>
        <p:nvSpPr>
          <p:cNvPr id="19" name="TextBox 18"/>
          <p:cNvSpPr txBox="1"/>
          <p:nvPr/>
        </p:nvSpPr>
        <p:spPr>
          <a:xfrm>
            <a:off x="7269480" y="2285999"/>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[3, 5, 7]</a:t>
            </a:r>
          </a:p>
        </p:txBody>
      </p:sp>
      <p:sp>
        <p:nvSpPr>
          <p:cNvPr id="20" name="Rectangle 19"/>
          <p:cNvSpPr/>
          <p:nvPr/>
        </p:nvSpPr>
        <p:spPr>
          <a:xfrm>
            <a:off x="640080" y="2551176"/>
            <a:ext cx="10698480" cy="292608"/>
          </a:xfrm>
          <a:prstGeom prst="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2578608"/>
            <a:ext cx="1920239" cy="274320"/>
          </a:xfrm>
          <a:prstGeom prst="rect">
            <a:avLst/>
          </a:prstGeom>
          <a:noFill/>
        </p:spPr>
        <p:txBody>
          <a:bodyPr wrap="square" anchor="t">
            <a:spAutoFit/>
          </a:bodyPr>
          <a:lstStyle/>
          <a:p>
            <a:pPr algn="l">
              <a:lnSpc>
                <a:spcPct val="115000"/>
              </a:lnSpc>
            </a:pPr>
            <a:endParaRPr/>
          </a:p>
        </p:txBody>
      </p:sp>
      <p:sp>
        <p:nvSpPr>
          <p:cNvPr id="22" name="TextBox 21"/>
          <p:cNvSpPr txBox="1"/>
          <p:nvPr/>
        </p:nvSpPr>
        <p:spPr>
          <a:xfrm>
            <a:off x="2880360" y="2578608"/>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Edebilir</a:t>
            </a:r>
          </a:p>
        </p:txBody>
      </p:sp>
      <p:sp>
        <p:nvSpPr>
          <p:cNvPr id="23" name="TextBox 22"/>
          <p:cNvSpPr txBox="1"/>
          <p:nvPr/>
        </p:nvSpPr>
        <p:spPr>
          <a:xfrm>
            <a:off x="5349240" y="2578608"/>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Yamuk</a:t>
            </a:r>
          </a:p>
        </p:txBody>
      </p:sp>
      <p:sp>
        <p:nvSpPr>
          <p:cNvPr id="24" name="TextBox 23"/>
          <p:cNvSpPr txBox="1"/>
          <p:nvPr/>
        </p:nvSpPr>
        <p:spPr>
          <a:xfrm>
            <a:off x="7269480" y="2578608"/>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[6, 8, 10, 10]</a:t>
            </a:r>
          </a:p>
        </p:txBody>
      </p:sp>
      <p:sp>
        <p:nvSpPr>
          <p:cNvPr id="25" name="TextBox 24"/>
          <p:cNvSpPr txBox="1"/>
          <p:nvPr/>
        </p:nvSpPr>
        <p:spPr>
          <a:xfrm>
            <a:off x="777240" y="2871215"/>
            <a:ext cx="1920239" cy="274320"/>
          </a:xfrm>
          <a:prstGeom prst="rect">
            <a:avLst/>
          </a:prstGeom>
          <a:noFill/>
        </p:spPr>
        <p:txBody>
          <a:bodyPr wrap="square" anchor="t">
            <a:spAutoFit/>
          </a:bodyPr>
          <a:lstStyle/>
          <a:p>
            <a:pPr algn="l">
              <a:lnSpc>
                <a:spcPct val="115000"/>
              </a:lnSpc>
            </a:pPr>
            <a:r>
              <a:rPr sz="1200" b="0" i="0">
                <a:solidFill>
                  <a:srgbClr val="0F2D40"/>
                </a:solidFill>
                <a:latin typeface="Calibri"/>
              </a:rPr>
              <a:t>Ağrı</a:t>
            </a:r>
          </a:p>
        </p:txBody>
      </p:sp>
      <p:sp>
        <p:nvSpPr>
          <p:cNvPr id="26" name="TextBox 25"/>
          <p:cNvSpPr txBox="1"/>
          <p:nvPr/>
        </p:nvSpPr>
        <p:spPr>
          <a:xfrm>
            <a:off x="2880360" y="2871215"/>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Yok</a:t>
            </a:r>
          </a:p>
        </p:txBody>
      </p:sp>
      <p:sp>
        <p:nvSpPr>
          <p:cNvPr id="27" name="TextBox 26"/>
          <p:cNvSpPr txBox="1"/>
          <p:nvPr/>
        </p:nvSpPr>
        <p:spPr>
          <a:xfrm>
            <a:off x="5349240" y="2871215"/>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Yamuk</a:t>
            </a:r>
          </a:p>
        </p:txBody>
      </p:sp>
      <p:sp>
        <p:nvSpPr>
          <p:cNvPr id="28" name="TextBox 27"/>
          <p:cNvSpPr txBox="1"/>
          <p:nvPr/>
        </p:nvSpPr>
        <p:spPr>
          <a:xfrm>
            <a:off x="7269480" y="2871215"/>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[0, 0, 1, 3]</a:t>
            </a:r>
          </a:p>
        </p:txBody>
      </p:sp>
      <p:sp>
        <p:nvSpPr>
          <p:cNvPr id="29" name="Rectangle 28"/>
          <p:cNvSpPr/>
          <p:nvPr/>
        </p:nvSpPr>
        <p:spPr>
          <a:xfrm>
            <a:off x="640080" y="3136391"/>
            <a:ext cx="10698480" cy="292608"/>
          </a:xfrm>
          <a:prstGeom prst="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3163823"/>
            <a:ext cx="1920239" cy="274320"/>
          </a:xfrm>
          <a:prstGeom prst="rect">
            <a:avLst/>
          </a:prstGeom>
          <a:noFill/>
        </p:spPr>
        <p:txBody>
          <a:bodyPr wrap="square" anchor="t">
            <a:spAutoFit/>
          </a:bodyPr>
          <a:lstStyle/>
          <a:p>
            <a:pPr algn="l">
              <a:lnSpc>
                <a:spcPct val="115000"/>
              </a:lnSpc>
            </a:pPr>
            <a:r>
              <a:rPr sz="1200" b="0" i="0">
                <a:solidFill>
                  <a:srgbClr val="0F2D40"/>
                </a:solidFill>
                <a:latin typeface="Calibri"/>
              </a:rPr>
              <a:t>(0–10)</a:t>
            </a:r>
          </a:p>
        </p:txBody>
      </p:sp>
      <p:sp>
        <p:nvSpPr>
          <p:cNvPr id="31" name="TextBox 30"/>
          <p:cNvSpPr txBox="1"/>
          <p:nvPr/>
        </p:nvSpPr>
        <p:spPr>
          <a:xfrm>
            <a:off x="2880360" y="3163823"/>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Kısa</a:t>
            </a:r>
          </a:p>
        </p:txBody>
      </p:sp>
      <p:sp>
        <p:nvSpPr>
          <p:cNvPr id="32" name="TextBox 31"/>
          <p:cNvSpPr txBox="1"/>
          <p:nvPr/>
        </p:nvSpPr>
        <p:spPr>
          <a:xfrm>
            <a:off x="5349240" y="3163823"/>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Üçgen</a:t>
            </a:r>
          </a:p>
        </p:txBody>
      </p:sp>
      <p:sp>
        <p:nvSpPr>
          <p:cNvPr id="33" name="TextBox 32"/>
          <p:cNvSpPr txBox="1"/>
          <p:nvPr/>
        </p:nvSpPr>
        <p:spPr>
          <a:xfrm>
            <a:off x="7269480" y="3163823"/>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[2, 4, 6]</a:t>
            </a:r>
          </a:p>
        </p:txBody>
      </p:sp>
      <p:sp>
        <p:nvSpPr>
          <p:cNvPr id="34" name="TextBox 33"/>
          <p:cNvSpPr txBox="1"/>
          <p:nvPr/>
        </p:nvSpPr>
        <p:spPr>
          <a:xfrm>
            <a:off x="777240" y="3456432"/>
            <a:ext cx="1920239" cy="274320"/>
          </a:xfrm>
          <a:prstGeom prst="rect">
            <a:avLst/>
          </a:prstGeom>
          <a:noFill/>
        </p:spPr>
        <p:txBody>
          <a:bodyPr wrap="square" anchor="t">
            <a:spAutoFit/>
          </a:bodyPr>
          <a:lstStyle/>
          <a:p>
            <a:pPr algn="l">
              <a:lnSpc>
                <a:spcPct val="115000"/>
              </a:lnSpc>
            </a:pPr>
            <a:endParaRPr/>
          </a:p>
        </p:txBody>
      </p:sp>
      <p:sp>
        <p:nvSpPr>
          <p:cNvPr id="35" name="TextBox 34"/>
          <p:cNvSpPr txBox="1"/>
          <p:nvPr/>
        </p:nvSpPr>
        <p:spPr>
          <a:xfrm>
            <a:off x="2880360" y="3456432"/>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Uzun</a:t>
            </a:r>
          </a:p>
        </p:txBody>
      </p:sp>
      <p:sp>
        <p:nvSpPr>
          <p:cNvPr id="36" name="TextBox 35"/>
          <p:cNvSpPr txBox="1"/>
          <p:nvPr/>
        </p:nvSpPr>
        <p:spPr>
          <a:xfrm>
            <a:off x="5349240" y="3456432"/>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Üçgen</a:t>
            </a:r>
          </a:p>
        </p:txBody>
      </p:sp>
      <p:sp>
        <p:nvSpPr>
          <p:cNvPr id="37" name="TextBox 36"/>
          <p:cNvSpPr txBox="1"/>
          <p:nvPr/>
        </p:nvSpPr>
        <p:spPr>
          <a:xfrm>
            <a:off x="7269480" y="3456432"/>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[4, 6, 8]</a:t>
            </a:r>
          </a:p>
        </p:txBody>
      </p:sp>
      <p:sp>
        <p:nvSpPr>
          <p:cNvPr id="38" name="Rectangle 37"/>
          <p:cNvSpPr/>
          <p:nvPr/>
        </p:nvSpPr>
        <p:spPr>
          <a:xfrm>
            <a:off x="640080" y="3721608"/>
            <a:ext cx="10698480" cy="292608"/>
          </a:xfrm>
          <a:prstGeom prst="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7240" y="3749040"/>
            <a:ext cx="1920239" cy="274320"/>
          </a:xfrm>
          <a:prstGeom prst="rect">
            <a:avLst/>
          </a:prstGeom>
          <a:noFill/>
        </p:spPr>
        <p:txBody>
          <a:bodyPr wrap="square" anchor="t">
            <a:spAutoFit/>
          </a:bodyPr>
          <a:lstStyle/>
          <a:p>
            <a:pPr algn="l">
              <a:lnSpc>
                <a:spcPct val="115000"/>
              </a:lnSpc>
            </a:pPr>
            <a:endParaRPr/>
          </a:p>
        </p:txBody>
      </p:sp>
      <p:sp>
        <p:nvSpPr>
          <p:cNvPr id="40" name="TextBox 39"/>
          <p:cNvSpPr txBox="1"/>
          <p:nvPr/>
        </p:nvSpPr>
        <p:spPr>
          <a:xfrm>
            <a:off x="2880360" y="3749040"/>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Spontan</a:t>
            </a:r>
          </a:p>
        </p:txBody>
      </p:sp>
      <p:sp>
        <p:nvSpPr>
          <p:cNvPr id="41" name="TextBox 40"/>
          <p:cNvSpPr txBox="1"/>
          <p:nvPr/>
        </p:nvSpPr>
        <p:spPr>
          <a:xfrm>
            <a:off x="5349240" y="3749040"/>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Yamuk</a:t>
            </a:r>
          </a:p>
        </p:txBody>
      </p:sp>
      <p:sp>
        <p:nvSpPr>
          <p:cNvPr id="42" name="TextBox 41"/>
          <p:cNvSpPr txBox="1"/>
          <p:nvPr/>
        </p:nvSpPr>
        <p:spPr>
          <a:xfrm>
            <a:off x="7269480" y="3749040"/>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[7, 9, 10, 10]</a:t>
            </a:r>
          </a:p>
        </p:txBody>
      </p:sp>
      <p:sp>
        <p:nvSpPr>
          <p:cNvPr id="43" name="TextBox 42"/>
          <p:cNvSpPr txBox="1"/>
          <p:nvPr/>
        </p:nvSpPr>
        <p:spPr>
          <a:xfrm>
            <a:off x="777240" y="4041648"/>
            <a:ext cx="1920239" cy="274320"/>
          </a:xfrm>
          <a:prstGeom prst="rect">
            <a:avLst/>
          </a:prstGeom>
          <a:noFill/>
        </p:spPr>
        <p:txBody>
          <a:bodyPr wrap="square" anchor="t">
            <a:spAutoFit/>
          </a:bodyPr>
          <a:lstStyle/>
          <a:p>
            <a:pPr algn="l">
              <a:lnSpc>
                <a:spcPct val="115000"/>
              </a:lnSpc>
            </a:pPr>
            <a:r>
              <a:rPr sz="1200" b="0" i="0">
                <a:solidFill>
                  <a:srgbClr val="0F2D40"/>
                </a:solidFill>
                <a:latin typeface="Calibri"/>
              </a:rPr>
              <a:t>Çürük</a:t>
            </a:r>
          </a:p>
        </p:txBody>
      </p:sp>
      <p:sp>
        <p:nvSpPr>
          <p:cNvPr id="44" name="TextBox 43"/>
          <p:cNvSpPr txBox="1"/>
          <p:nvPr/>
        </p:nvSpPr>
        <p:spPr>
          <a:xfrm>
            <a:off x="2880360" y="4041648"/>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Mine</a:t>
            </a:r>
          </a:p>
        </p:txBody>
      </p:sp>
      <p:sp>
        <p:nvSpPr>
          <p:cNvPr id="45" name="TextBox 44"/>
          <p:cNvSpPr txBox="1"/>
          <p:nvPr/>
        </p:nvSpPr>
        <p:spPr>
          <a:xfrm>
            <a:off x="5349240" y="4041648"/>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Yamuk</a:t>
            </a:r>
          </a:p>
        </p:txBody>
      </p:sp>
      <p:sp>
        <p:nvSpPr>
          <p:cNvPr id="46" name="TextBox 45"/>
          <p:cNvSpPr txBox="1"/>
          <p:nvPr/>
        </p:nvSpPr>
        <p:spPr>
          <a:xfrm>
            <a:off x="7269480" y="4041648"/>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[0, 0, 10, 25]</a:t>
            </a:r>
          </a:p>
        </p:txBody>
      </p:sp>
      <p:sp>
        <p:nvSpPr>
          <p:cNvPr id="47" name="Rectangle 46"/>
          <p:cNvSpPr/>
          <p:nvPr/>
        </p:nvSpPr>
        <p:spPr>
          <a:xfrm>
            <a:off x="640080" y="4306824"/>
            <a:ext cx="10698480" cy="292608"/>
          </a:xfrm>
          <a:prstGeom prst="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7240" y="4334256"/>
            <a:ext cx="1920239" cy="274320"/>
          </a:xfrm>
          <a:prstGeom prst="rect">
            <a:avLst/>
          </a:prstGeom>
          <a:noFill/>
        </p:spPr>
        <p:txBody>
          <a:bodyPr wrap="square" anchor="t">
            <a:spAutoFit/>
          </a:bodyPr>
          <a:lstStyle/>
          <a:p>
            <a:pPr algn="l">
              <a:lnSpc>
                <a:spcPct val="115000"/>
              </a:lnSpc>
            </a:pPr>
            <a:r>
              <a:rPr sz="1200" b="0" i="0">
                <a:solidFill>
                  <a:srgbClr val="0F2D40"/>
                </a:solidFill>
                <a:latin typeface="Calibri"/>
              </a:rPr>
              <a:t>(0–100 %)</a:t>
            </a:r>
          </a:p>
        </p:txBody>
      </p:sp>
      <p:sp>
        <p:nvSpPr>
          <p:cNvPr id="49" name="TextBox 48"/>
          <p:cNvSpPr txBox="1"/>
          <p:nvPr/>
        </p:nvSpPr>
        <p:spPr>
          <a:xfrm>
            <a:off x="2880360" y="4334256"/>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D1–D4</a:t>
            </a:r>
          </a:p>
        </p:txBody>
      </p:sp>
      <p:sp>
        <p:nvSpPr>
          <p:cNvPr id="50" name="TextBox 49"/>
          <p:cNvSpPr txBox="1"/>
          <p:nvPr/>
        </p:nvSpPr>
        <p:spPr>
          <a:xfrm>
            <a:off x="5349240" y="4334256"/>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Üçgen</a:t>
            </a:r>
          </a:p>
        </p:txBody>
      </p:sp>
      <p:sp>
        <p:nvSpPr>
          <p:cNvPr id="51" name="TextBox 50"/>
          <p:cNvSpPr txBox="1"/>
          <p:nvPr/>
        </p:nvSpPr>
        <p:spPr>
          <a:xfrm>
            <a:off x="7269480" y="4334256"/>
            <a:ext cx="4023359" cy="274320"/>
          </a:xfrm>
          <a:prstGeom prst="rect">
            <a:avLst/>
          </a:prstGeom>
          <a:noFill/>
        </p:spPr>
        <p:txBody>
          <a:bodyPr wrap="square" anchor="t">
            <a:spAutoFit/>
          </a:bodyPr>
          <a:lstStyle/>
          <a:p>
            <a:pPr algn="l">
              <a:lnSpc>
                <a:spcPct val="115000"/>
              </a:lnSpc>
            </a:pPr>
            <a:r>
              <a:rPr sz="1200" b="0" i="0">
                <a:solidFill>
                  <a:srgbClr val="0F2D40"/>
                </a:solidFill>
                <a:latin typeface="Calibri"/>
              </a:rPr>
              <a:t>5 farklı küme</a:t>
            </a:r>
          </a:p>
        </p:txBody>
      </p:sp>
      <p:sp>
        <p:nvSpPr>
          <p:cNvPr id="52" name="TextBox 51"/>
          <p:cNvSpPr txBox="1"/>
          <p:nvPr/>
        </p:nvSpPr>
        <p:spPr>
          <a:xfrm>
            <a:off x="777240" y="4626864"/>
            <a:ext cx="1920239" cy="274320"/>
          </a:xfrm>
          <a:prstGeom prst="rect">
            <a:avLst/>
          </a:prstGeom>
          <a:noFill/>
        </p:spPr>
        <p:txBody>
          <a:bodyPr wrap="square" anchor="t">
            <a:spAutoFit/>
          </a:bodyPr>
          <a:lstStyle/>
          <a:p>
            <a:pPr algn="l">
              <a:lnSpc>
                <a:spcPct val="115000"/>
              </a:lnSpc>
            </a:pPr>
            <a:endParaRPr/>
          </a:p>
        </p:txBody>
      </p:sp>
      <p:sp>
        <p:nvSpPr>
          <p:cNvPr id="53" name="TextBox 52"/>
          <p:cNvSpPr txBox="1"/>
          <p:nvPr/>
        </p:nvSpPr>
        <p:spPr>
          <a:xfrm>
            <a:off x="2880360" y="4626864"/>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Pulpa</a:t>
            </a:r>
          </a:p>
        </p:txBody>
      </p:sp>
      <p:sp>
        <p:nvSpPr>
          <p:cNvPr id="54" name="TextBox 53"/>
          <p:cNvSpPr txBox="1"/>
          <p:nvPr/>
        </p:nvSpPr>
        <p:spPr>
          <a:xfrm>
            <a:off x="5349240" y="4626864"/>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Yamuk</a:t>
            </a:r>
          </a:p>
        </p:txBody>
      </p:sp>
      <p:sp>
        <p:nvSpPr>
          <p:cNvPr id="55" name="TextBox 54"/>
          <p:cNvSpPr txBox="1"/>
          <p:nvPr/>
        </p:nvSpPr>
        <p:spPr>
          <a:xfrm>
            <a:off x="7269480" y="4626864"/>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[85, 95, 100, 100]</a:t>
            </a:r>
          </a:p>
        </p:txBody>
      </p:sp>
      <p:sp>
        <p:nvSpPr>
          <p:cNvPr id="56" name="Rectangle 55"/>
          <p:cNvSpPr/>
          <p:nvPr/>
        </p:nvSpPr>
        <p:spPr>
          <a:xfrm>
            <a:off x="640080" y="4892040"/>
            <a:ext cx="10698480" cy="292608"/>
          </a:xfrm>
          <a:prstGeom prst="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77240" y="4919472"/>
            <a:ext cx="1920239" cy="274320"/>
          </a:xfrm>
          <a:prstGeom prst="rect">
            <a:avLst/>
          </a:prstGeom>
          <a:noFill/>
        </p:spPr>
        <p:txBody>
          <a:bodyPr wrap="square" anchor="t">
            <a:spAutoFit/>
          </a:bodyPr>
          <a:lstStyle/>
          <a:p>
            <a:pPr algn="l">
              <a:lnSpc>
                <a:spcPct val="115000"/>
              </a:lnSpc>
            </a:pPr>
            <a:r>
              <a:rPr sz="1200" b="0" i="0">
                <a:solidFill>
                  <a:srgbClr val="0F2D40"/>
                </a:solidFill>
                <a:latin typeface="Calibri"/>
              </a:rPr>
              <a:t>Yaş</a:t>
            </a:r>
          </a:p>
        </p:txBody>
      </p:sp>
      <p:sp>
        <p:nvSpPr>
          <p:cNvPr id="58" name="TextBox 57"/>
          <p:cNvSpPr txBox="1"/>
          <p:nvPr/>
        </p:nvSpPr>
        <p:spPr>
          <a:xfrm>
            <a:off x="2880360" y="4919472"/>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Çocuk</a:t>
            </a:r>
          </a:p>
        </p:txBody>
      </p:sp>
      <p:sp>
        <p:nvSpPr>
          <p:cNvPr id="59" name="TextBox 58"/>
          <p:cNvSpPr txBox="1"/>
          <p:nvPr/>
        </p:nvSpPr>
        <p:spPr>
          <a:xfrm>
            <a:off x="5349240" y="4919472"/>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Yamuk</a:t>
            </a:r>
          </a:p>
        </p:txBody>
      </p:sp>
      <p:sp>
        <p:nvSpPr>
          <p:cNvPr id="60" name="TextBox 59"/>
          <p:cNvSpPr txBox="1"/>
          <p:nvPr/>
        </p:nvSpPr>
        <p:spPr>
          <a:xfrm>
            <a:off x="7269480" y="4919472"/>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[6, 6, 12, 20]</a:t>
            </a:r>
          </a:p>
        </p:txBody>
      </p:sp>
      <p:sp>
        <p:nvSpPr>
          <p:cNvPr id="61" name="TextBox 60"/>
          <p:cNvSpPr txBox="1"/>
          <p:nvPr/>
        </p:nvSpPr>
        <p:spPr>
          <a:xfrm>
            <a:off x="777240" y="5212080"/>
            <a:ext cx="1920239" cy="274320"/>
          </a:xfrm>
          <a:prstGeom prst="rect">
            <a:avLst/>
          </a:prstGeom>
          <a:noFill/>
        </p:spPr>
        <p:txBody>
          <a:bodyPr wrap="square" anchor="t">
            <a:spAutoFit/>
          </a:bodyPr>
          <a:lstStyle/>
          <a:p>
            <a:pPr algn="l">
              <a:lnSpc>
                <a:spcPct val="115000"/>
              </a:lnSpc>
            </a:pPr>
            <a:r>
              <a:rPr sz="1200" b="0" i="0">
                <a:solidFill>
                  <a:srgbClr val="0F2D40"/>
                </a:solidFill>
                <a:latin typeface="Calibri"/>
              </a:rPr>
              <a:t>(6–80)</a:t>
            </a:r>
          </a:p>
        </p:txBody>
      </p:sp>
      <p:sp>
        <p:nvSpPr>
          <p:cNvPr id="62" name="TextBox 61"/>
          <p:cNvSpPr txBox="1"/>
          <p:nvPr/>
        </p:nvSpPr>
        <p:spPr>
          <a:xfrm>
            <a:off x="2880360" y="5212080"/>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Genç/Orta</a:t>
            </a:r>
          </a:p>
        </p:txBody>
      </p:sp>
      <p:sp>
        <p:nvSpPr>
          <p:cNvPr id="63" name="TextBox 62"/>
          <p:cNvSpPr txBox="1"/>
          <p:nvPr/>
        </p:nvSpPr>
        <p:spPr>
          <a:xfrm>
            <a:off x="5349240" y="5212080"/>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Üçgen</a:t>
            </a:r>
          </a:p>
        </p:txBody>
      </p:sp>
      <p:sp>
        <p:nvSpPr>
          <p:cNvPr id="64" name="TextBox 63"/>
          <p:cNvSpPr txBox="1"/>
          <p:nvPr/>
        </p:nvSpPr>
        <p:spPr>
          <a:xfrm>
            <a:off x="7269480" y="5212080"/>
            <a:ext cx="4023359" cy="274320"/>
          </a:xfrm>
          <a:prstGeom prst="rect">
            <a:avLst/>
          </a:prstGeom>
          <a:noFill/>
        </p:spPr>
        <p:txBody>
          <a:bodyPr wrap="square" anchor="t">
            <a:spAutoFit/>
          </a:bodyPr>
          <a:lstStyle/>
          <a:p>
            <a:pPr algn="l">
              <a:lnSpc>
                <a:spcPct val="115000"/>
              </a:lnSpc>
            </a:pPr>
            <a:r>
              <a:rPr sz="1200" b="0" i="0">
                <a:solidFill>
                  <a:srgbClr val="0F2D40"/>
                </a:solidFill>
                <a:latin typeface="Calibri"/>
              </a:rPr>
              <a:t>iki ara küme</a:t>
            </a:r>
          </a:p>
        </p:txBody>
      </p:sp>
      <p:sp>
        <p:nvSpPr>
          <p:cNvPr id="65" name="Rectangle 64"/>
          <p:cNvSpPr/>
          <p:nvPr/>
        </p:nvSpPr>
        <p:spPr>
          <a:xfrm>
            <a:off x="640080" y="5477256"/>
            <a:ext cx="10698480" cy="292608"/>
          </a:xfrm>
          <a:prstGeom prst="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77240" y="5504688"/>
            <a:ext cx="1920239" cy="274320"/>
          </a:xfrm>
          <a:prstGeom prst="rect">
            <a:avLst/>
          </a:prstGeom>
          <a:noFill/>
        </p:spPr>
        <p:txBody>
          <a:bodyPr wrap="square" anchor="t">
            <a:spAutoFit/>
          </a:bodyPr>
          <a:lstStyle/>
          <a:p>
            <a:pPr algn="l">
              <a:lnSpc>
                <a:spcPct val="115000"/>
              </a:lnSpc>
            </a:pPr>
            <a:endParaRPr/>
          </a:p>
        </p:txBody>
      </p:sp>
      <p:sp>
        <p:nvSpPr>
          <p:cNvPr id="67" name="TextBox 66"/>
          <p:cNvSpPr txBox="1"/>
          <p:nvPr/>
        </p:nvSpPr>
        <p:spPr>
          <a:xfrm>
            <a:off x="2880360" y="5504688"/>
            <a:ext cx="2286000" cy="274320"/>
          </a:xfrm>
          <a:prstGeom prst="rect">
            <a:avLst/>
          </a:prstGeom>
          <a:noFill/>
        </p:spPr>
        <p:txBody>
          <a:bodyPr wrap="square" anchor="t">
            <a:spAutoFit/>
          </a:bodyPr>
          <a:lstStyle/>
          <a:p>
            <a:pPr algn="l">
              <a:lnSpc>
                <a:spcPct val="115000"/>
              </a:lnSpc>
            </a:pPr>
            <a:r>
              <a:rPr sz="1200" b="0" i="0">
                <a:solidFill>
                  <a:srgbClr val="0F2D40"/>
                </a:solidFill>
                <a:latin typeface="Calibri"/>
              </a:rPr>
              <a:t>İleri</a:t>
            </a:r>
          </a:p>
        </p:txBody>
      </p:sp>
      <p:sp>
        <p:nvSpPr>
          <p:cNvPr id="68" name="TextBox 67"/>
          <p:cNvSpPr txBox="1"/>
          <p:nvPr/>
        </p:nvSpPr>
        <p:spPr>
          <a:xfrm>
            <a:off x="5349240" y="5504688"/>
            <a:ext cx="1737360" cy="274320"/>
          </a:xfrm>
          <a:prstGeom prst="rect">
            <a:avLst/>
          </a:prstGeom>
          <a:noFill/>
        </p:spPr>
        <p:txBody>
          <a:bodyPr wrap="square" anchor="t">
            <a:spAutoFit/>
          </a:bodyPr>
          <a:lstStyle/>
          <a:p>
            <a:pPr algn="l">
              <a:lnSpc>
                <a:spcPct val="115000"/>
              </a:lnSpc>
            </a:pPr>
            <a:r>
              <a:rPr sz="1200" b="0" i="0">
                <a:solidFill>
                  <a:srgbClr val="0F2D40"/>
                </a:solidFill>
                <a:latin typeface="Calibri"/>
              </a:rPr>
              <a:t>Yamuk</a:t>
            </a:r>
          </a:p>
        </p:txBody>
      </p:sp>
      <p:sp>
        <p:nvSpPr>
          <p:cNvPr id="69" name="TextBox 68"/>
          <p:cNvSpPr txBox="1"/>
          <p:nvPr/>
        </p:nvSpPr>
        <p:spPr>
          <a:xfrm>
            <a:off x="7269480" y="5504688"/>
            <a:ext cx="4023359" cy="274320"/>
          </a:xfrm>
          <a:prstGeom prst="rect">
            <a:avLst/>
          </a:prstGeom>
          <a:noFill/>
        </p:spPr>
        <p:txBody>
          <a:bodyPr wrap="square" anchor="t">
            <a:spAutoFit/>
          </a:bodyPr>
          <a:lstStyle/>
          <a:p>
            <a:pPr algn="l">
              <a:lnSpc>
                <a:spcPct val="115000"/>
              </a:lnSpc>
            </a:pPr>
            <a:r>
              <a:rPr sz="1200" b="0" i="0">
                <a:solidFill>
                  <a:srgbClr val="0F2D40"/>
                </a:solidFill>
                <a:latin typeface="Cambria Math"/>
              </a:rPr>
              <a:t>[48, 55, 80, 80]</a:t>
            </a:r>
          </a:p>
        </p:txBody>
      </p:sp>
      <p:sp>
        <p:nvSpPr>
          <p:cNvPr id="70" name="Rounded Rectangle 69"/>
          <p:cNvSpPr/>
          <p:nvPr/>
        </p:nvSpPr>
        <p:spPr>
          <a:xfrm>
            <a:off x="640080" y="5998464"/>
            <a:ext cx="10698480" cy="502920"/>
          </a:xfrm>
          <a:prstGeom prst="roundRect">
            <a:avLst/>
          </a:prstGeom>
          <a:solidFill>
            <a:srgbClr val="0F2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22960" y="6089904"/>
            <a:ext cx="10332720" cy="365760"/>
          </a:xfrm>
          <a:prstGeom prst="rect">
            <a:avLst/>
          </a:prstGeom>
          <a:noFill/>
        </p:spPr>
        <p:txBody>
          <a:bodyPr wrap="square" anchor="t">
            <a:spAutoFit/>
          </a:bodyPr>
          <a:lstStyle/>
          <a:p>
            <a:pPr algn="l">
              <a:lnSpc>
                <a:spcPct val="115000"/>
              </a:lnSpc>
            </a:pPr>
            <a:r>
              <a:rPr sz="1300" b="0" i="1">
                <a:solidFill>
                  <a:srgbClr val="FFFFFF"/>
                </a:solidFill>
                <a:latin typeface="Calibri"/>
              </a:rPr>
              <a:t>Parametreler klinik literatür (ICDAS, NRS) ve uzman görüşleri ışığında belirlendi.</a:t>
            </a:r>
          </a:p>
        </p:txBody>
      </p:sp>
      <p:sp>
        <p:nvSpPr>
          <p:cNvPr id="72" name="TextBox 71"/>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73" name="TextBox 72"/>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8 / 14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Kural Tabanı</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599 kural · 240 aktif</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54480"/>
            <a:ext cx="5303520" cy="4572000"/>
          </a:xfrm>
          <a:prstGeom prst="round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91640"/>
            <a:ext cx="4937760" cy="365760"/>
          </a:xfrm>
          <a:prstGeom prst="rect">
            <a:avLst/>
          </a:prstGeom>
          <a:noFill/>
        </p:spPr>
        <p:txBody>
          <a:bodyPr wrap="square" anchor="t">
            <a:spAutoFit/>
          </a:bodyPr>
          <a:lstStyle/>
          <a:p>
            <a:pPr algn="l">
              <a:lnSpc>
                <a:spcPct val="115000"/>
              </a:lnSpc>
            </a:pPr>
            <a:r>
              <a:rPr sz="1700" b="1" i="0">
                <a:solidFill>
                  <a:srgbClr val="0E6E76"/>
                </a:solidFill>
                <a:latin typeface="Calibri Light"/>
              </a:rPr>
              <a:t>Kural Sayıları</a:t>
            </a:r>
          </a:p>
        </p:txBody>
      </p:sp>
      <p:sp>
        <p:nvSpPr>
          <p:cNvPr id="8" name="TextBox 7"/>
          <p:cNvSpPr txBox="1"/>
          <p:nvPr/>
        </p:nvSpPr>
        <p:spPr>
          <a:xfrm>
            <a:off x="914400" y="2194560"/>
            <a:ext cx="4937760" cy="274320"/>
          </a:xfrm>
          <a:prstGeom prst="rect">
            <a:avLst/>
          </a:prstGeom>
          <a:noFill/>
        </p:spPr>
        <p:txBody>
          <a:bodyPr wrap="square" anchor="t">
            <a:spAutoFit/>
          </a:bodyPr>
          <a:lstStyle/>
          <a:p>
            <a:pPr algn="l">
              <a:lnSpc>
                <a:spcPct val="115000"/>
              </a:lnSpc>
            </a:pPr>
            <a:r>
              <a:rPr sz="1200" b="0" i="0">
                <a:solidFill>
                  <a:srgbClr val="0F2D40"/>
                </a:solidFill>
                <a:latin typeface="Calibri"/>
              </a:rPr>
              <a:t>Tekli (1 değişken)</a:t>
            </a:r>
          </a:p>
        </p:txBody>
      </p:sp>
      <p:sp>
        <p:nvSpPr>
          <p:cNvPr id="9" name="Rectangle 8"/>
          <p:cNvSpPr/>
          <p:nvPr/>
        </p:nvSpPr>
        <p:spPr>
          <a:xfrm>
            <a:off x="914400" y="2468879"/>
            <a:ext cx="3657600" cy="182880"/>
          </a:xfrm>
          <a:prstGeom prst="rect">
            <a:avLst/>
          </a:prstGeom>
          <a:solidFill>
            <a:srgbClr val="D8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2468879"/>
            <a:ext cx="235974" cy="182880"/>
          </a:xfrm>
          <a:prstGeom prst="rect">
            <a:avLst/>
          </a:prstGeom>
          <a:solidFill>
            <a:srgbClr val="55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2423160"/>
            <a:ext cx="1280160" cy="274320"/>
          </a:xfrm>
          <a:prstGeom prst="rect">
            <a:avLst/>
          </a:prstGeom>
          <a:noFill/>
        </p:spPr>
        <p:txBody>
          <a:bodyPr wrap="square" anchor="t">
            <a:spAutoFit/>
          </a:bodyPr>
          <a:lstStyle/>
          <a:p>
            <a:pPr algn="l">
              <a:lnSpc>
                <a:spcPct val="115000"/>
              </a:lnSpc>
            </a:pPr>
            <a:r>
              <a:rPr sz="1100" b="1" i="0">
                <a:solidFill>
                  <a:srgbClr val="556570"/>
                </a:solidFill>
                <a:latin typeface="Calibri"/>
              </a:rPr>
              <a:t>16 / 599</a:t>
            </a:r>
          </a:p>
        </p:txBody>
      </p:sp>
      <p:sp>
        <p:nvSpPr>
          <p:cNvPr id="12" name="TextBox 11"/>
          <p:cNvSpPr txBox="1"/>
          <p:nvPr/>
        </p:nvSpPr>
        <p:spPr>
          <a:xfrm>
            <a:off x="914400" y="2971800"/>
            <a:ext cx="4937760" cy="274320"/>
          </a:xfrm>
          <a:prstGeom prst="rect">
            <a:avLst/>
          </a:prstGeom>
          <a:noFill/>
        </p:spPr>
        <p:txBody>
          <a:bodyPr wrap="square" anchor="t">
            <a:spAutoFit/>
          </a:bodyPr>
          <a:lstStyle/>
          <a:p>
            <a:pPr algn="l">
              <a:lnSpc>
                <a:spcPct val="115000"/>
              </a:lnSpc>
            </a:pPr>
            <a:r>
              <a:rPr sz="1200" b="0" i="0">
                <a:solidFill>
                  <a:srgbClr val="0F2D40"/>
                </a:solidFill>
                <a:latin typeface="Calibri"/>
              </a:rPr>
              <a:t>İkili (2 değişken)</a:t>
            </a:r>
          </a:p>
        </p:txBody>
      </p:sp>
      <p:sp>
        <p:nvSpPr>
          <p:cNvPr id="13" name="Rectangle 12"/>
          <p:cNvSpPr/>
          <p:nvPr/>
        </p:nvSpPr>
        <p:spPr>
          <a:xfrm>
            <a:off x="914400" y="3246120"/>
            <a:ext cx="3657600" cy="182880"/>
          </a:xfrm>
          <a:prstGeom prst="rect">
            <a:avLst/>
          </a:prstGeom>
          <a:solidFill>
            <a:srgbClr val="D8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14400" y="3246120"/>
            <a:ext cx="1401096" cy="182880"/>
          </a:xfrm>
          <a:prstGeom prst="rect">
            <a:avLst/>
          </a:prstGeom>
          <a:solidFill>
            <a:srgbClr val="55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63440" y="3200400"/>
            <a:ext cx="1280160" cy="274320"/>
          </a:xfrm>
          <a:prstGeom prst="rect">
            <a:avLst/>
          </a:prstGeom>
          <a:noFill/>
        </p:spPr>
        <p:txBody>
          <a:bodyPr wrap="square" anchor="t">
            <a:spAutoFit/>
          </a:bodyPr>
          <a:lstStyle/>
          <a:p>
            <a:pPr algn="l">
              <a:lnSpc>
                <a:spcPct val="115000"/>
              </a:lnSpc>
            </a:pPr>
            <a:r>
              <a:rPr sz="1100" b="1" i="0">
                <a:solidFill>
                  <a:srgbClr val="556570"/>
                </a:solidFill>
                <a:latin typeface="Calibri"/>
              </a:rPr>
              <a:t>95 / 599</a:t>
            </a:r>
          </a:p>
        </p:txBody>
      </p:sp>
      <p:sp>
        <p:nvSpPr>
          <p:cNvPr id="16" name="TextBox 15"/>
          <p:cNvSpPr txBox="1"/>
          <p:nvPr/>
        </p:nvSpPr>
        <p:spPr>
          <a:xfrm>
            <a:off x="914400" y="3749039"/>
            <a:ext cx="4937760" cy="274320"/>
          </a:xfrm>
          <a:prstGeom prst="rect">
            <a:avLst/>
          </a:prstGeom>
          <a:noFill/>
        </p:spPr>
        <p:txBody>
          <a:bodyPr wrap="square" anchor="t">
            <a:spAutoFit/>
          </a:bodyPr>
          <a:lstStyle/>
          <a:p>
            <a:pPr algn="l">
              <a:lnSpc>
                <a:spcPct val="115000"/>
              </a:lnSpc>
            </a:pPr>
            <a:r>
              <a:rPr sz="1200" b="0" i="0">
                <a:solidFill>
                  <a:srgbClr val="0F2D40"/>
                </a:solidFill>
                <a:latin typeface="Calibri"/>
              </a:rPr>
              <a:t>Üçlü (3 değişken)</a:t>
            </a:r>
          </a:p>
        </p:txBody>
      </p:sp>
      <p:sp>
        <p:nvSpPr>
          <p:cNvPr id="17" name="Rectangle 16"/>
          <p:cNvSpPr/>
          <p:nvPr/>
        </p:nvSpPr>
        <p:spPr>
          <a:xfrm>
            <a:off x="914400" y="4023359"/>
            <a:ext cx="3657600" cy="182880"/>
          </a:xfrm>
          <a:prstGeom prst="rect">
            <a:avLst/>
          </a:prstGeom>
          <a:solidFill>
            <a:srgbClr val="D8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14400" y="4023359"/>
            <a:ext cx="3657600" cy="182880"/>
          </a:xfrm>
          <a:prstGeom prst="rect">
            <a:avLst/>
          </a:prstGeom>
          <a:solidFill>
            <a:srgbClr val="55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63440" y="3977639"/>
            <a:ext cx="1280160" cy="274320"/>
          </a:xfrm>
          <a:prstGeom prst="rect">
            <a:avLst/>
          </a:prstGeom>
          <a:noFill/>
        </p:spPr>
        <p:txBody>
          <a:bodyPr wrap="square" anchor="t">
            <a:spAutoFit/>
          </a:bodyPr>
          <a:lstStyle/>
          <a:p>
            <a:pPr algn="l">
              <a:lnSpc>
                <a:spcPct val="115000"/>
              </a:lnSpc>
            </a:pPr>
            <a:r>
              <a:rPr sz="1100" b="1" i="0">
                <a:solidFill>
                  <a:srgbClr val="556570"/>
                </a:solidFill>
                <a:latin typeface="Calibri"/>
              </a:rPr>
              <a:t>248 / 599</a:t>
            </a:r>
          </a:p>
        </p:txBody>
      </p:sp>
      <p:sp>
        <p:nvSpPr>
          <p:cNvPr id="20" name="TextBox 19"/>
          <p:cNvSpPr txBox="1"/>
          <p:nvPr/>
        </p:nvSpPr>
        <p:spPr>
          <a:xfrm>
            <a:off x="914400" y="4526279"/>
            <a:ext cx="4937760" cy="274320"/>
          </a:xfrm>
          <a:prstGeom prst="rect">
            <a:avLst/>
          </a:prstGeom>
          <a:noFill/>
        </p:spPr>
        <p:txBody>
          <a:bodyPr wrap="square" anchor="t">
            <a:spAutoFit/>
          </a:bodyPr>
          <a:lstStyle/>
          <a:p>
            <a:pPr algn="l">
              <a:lnSpc>
                <a:spcPct val="115000"/>
              </a:lnSpc>
            </a:pPr>
            <a:r>
              <a:rPr sz="1200" b="0" i="0">
                <a:solidFill>
                  <a:srgbClr val="0F2D40"/>
                </a:solidFill>
                <a:latin typeface="Calibri"/>
              </a:rPr>
              <a:t>Dörtlü (4 değ.) ✓</a:t>
            </a:r>
          </a:p>
        </p:txBody>
      </p:sp>
      <p:sp>
        <p:nvSpPr>
          <p:cNvPr id="21" name="Rectangle 20"/>
          <p:cNvSpPr/>
          <p:nvPr/>
        </p:nvSpPr>
        <p:spPr>
          <a:xfrm>
            <a:off x="914400" y="4800599"/>
            <a:ext cx="3657600" cy="182880"/>
          </a:xfrm>
          <a:prstGeom prst="rect">
            <a:avLst/>
          </a:prstGeom>
          <a:solidFill>
            <a:srgbClr val="D8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14400" y="4800599"/>
            <a:ext cx="3539612" cy="182880"/>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63440" y="4754879"/>
            <a:ext cx="1280160" cy="274320"/>
          </a:xfrm>
          <a:prstGeom prst="rect">
            <a:avLst/>
          </a:prstGeom>
          <a:noFill/>
        </p:spPr>
        <p:txBody>
          <a:bodyPr wrap="square" anchor="t">
            <a:spAutoFit/>
          </a:bodyPr>
          <a:lstStyle/>
          <a:p>
            <a:pPr algn="l">
              <a:lnSpc>
                <a:spcPct val="115000"/>
              </a:lnSpc>
            </a:pPr>
            <a:r>
              <a:rPr sz="1100" b="1" i="0">
                <a:solidFill>
                  <a:srgbClr val="14919B"/>
                </a:solidFill>
                <a:latin typeface="Calibri"/>
              </a:rPr>
              <a:t>240 (AKTİF)</a:t>
            </a:r>
          </a:p>
        </p:txBody>
      </p:sp>
      <p:sp>
        <p:nvSpPr>
          <p:cNvPr id="24" name="TextBox 23"/>
          <p:cNvSpPr txBox="1"/>
          <p:nvPr/>
        </p:nvSpPr>
        <p:spPr>
          <a:xfrm>
            <a:off x="914400" y="5486400"/>
            <a:ext cx="4937760" cy="548640"/>
          </a:xfrm>
          <a:prstGeom prst="rect">
            <a:avLst/>
          </a:prstGeom>
          <a:noFill/>
        </p:spPr>
        <p:txBody>
          <a:bodyPr wrap="square" anchor="t">
            <a:spAutoFit/>
          </a:bodyPr>
          <a:lstStyle/>
          <a:p>
            <a:pPr algn="l">
              <a:lnSpc>
                <a:spcPct val="130000"/>
              </a:lnSpc>
            </a:pPr>
            <a:r>
              <a:rPr sz="1100" b="0" i="1">
                <a:solidFill>
                  <a:srgbClr val="556570"/>
                </a:solidFill>
                <a:latin typeface="Calibri"/>
              </a:rPr>
              <a:t>Yalnızca dörtlü kurallar aktif:</a:t>
            </a:r>
          </a:p>
          <a:p>
            <a:pPr algn="l">
              <a:lnSpc>
                <a:spcPct val="130000"/>
              </a:lnSpc>
            </a:pPr>
            <a:r>
              <a:rPr sz="1100" b="0" i="1">
                <a:solidFill>
                  <a:srgbClr val="556570"/>
                </a:solidFill>
                <a:latin typeface="Calibri"/>
              </a:rPr>
              <a:t>Daha düşük dereceliler ortalamayı</a:t>
            </a:r>
          </a:p>
          <a:p>
            <a:pPr algn="l">
              <a:lnSpc>
                <a:spcPct val="130000"/>
              </a:lnSpc>
            </a:pPr>
            <a:r>
              <a:rPr sz="1100" b="0" i="1">
                <a:solidFill>
                  <a:srgbClr val="556570"/>
                </a:solidFill>
                <a:latin typeface="Calibri"/>
              </a:rPr>
              <a:t>orta bölgeye çekiyor.</a:t>
            </a:r>
          </a:p>
        </p:txBody>
      </p:sp>
      <p:sp>
        <p:nvSpPr>
          <p:cNvPr id="25" name="Rounded Rectangle 24"/>
          <p:cNvSpPr/>
          <p:nvPr/>
        </p:nvSpPr>
        <p:spPr>
          <a:xfrm>
            <a:off x="6263640" y="1554480"/>
            <a:ext cx="5303520" cy="4572000"/>
          </a:xfrm>
          <a:prstGeom prst="roundRect">
            <a:avLst/>
          </a:prstGeom>
          <a:solidFill>
            <a:srgbClr val="FFFFFF"/>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37960" y="1691640"/>
            <a:ext cx="4937760" cy="365760"/>
          </a:xfrm>
          <a:prstGeom prst="rect">
            <a:avLst/>
          </a:prstGeom>
          <a:noFill/>
        </p:spPr>
        <p:txBody>
          <a:bodyPr wrap="square" anchor="t">
            <a:spAutoFit/>
          </a:bodyPr>
          <a:lstStyle/>
          <a:p>
            <a:pPr algn="l">
              <a:lnSpc>
                <a:spcPct val="115000"/>
              </a:lnSpc>
            </a:pPr>
            <a:r>
              <a:rPr sz="1700" b="1" i="0">
                <a:solidFill>
                  <a:srgbClr val="0E6E76"/>
                </a:solidFill>
                <a:latin typeface="Calibri Light"/>
              </a:rPr>
              <a:t>Aktif 240 Kuralın Dağılımı</a:t>
            </a:r>
          </a:p>
        </p:txBody>
      </p:sp>
      <p:sp>
        <p:nvSpPr>
          <p:cNvPr id="27" name="TextBox 26"/>
          <p:cNvSpPr txBox="1"/>
          <p:nvPr/>
        </p:nvSpPr>
        <p:spPr>
          <a:xfrm>
            <a:off x="6537960" y="2286000"/>
            <a:ext cx="1463040" cy="502920"/>
          </a:xfrm>
          <a:prstGeom prst="rect">
            <a:avLst/>
          </a:prstGeom>
          <a:noFill/>
        </p:spPr>
        <p:txBody>
          <a:bodyPr wrap="square" anchor="ctr">
            <a:spAutoFit/>
          </a:bodyPr>
          <a:lstStyle/>
          <a:p>
            <a:pPr algn="l">
              <a:lnSpc>
                <a:spcPct val="115000"/>
              </a:lnSpc>
            </a:pPr>
            <a:r>
              <a:rPr sz="1400" b="1" i="0">
                <a:solidFill>
                  <a:srgbClr val="0F2D40"/>
                </a:solidFill>
                <a:latin typeface="Calibri"/>
              </a:rPr>
              <a:t>Dolgu</a:t>
            </a:r>
          </a:p>
        </p:txBody>
      </p:sp>
      <p:sp>
        <p:nvSpPr>
          <p:cNvPr id="28" name="Rectangle 27"/>
          <p:cNvSpPr/>
          <p:nvPr/>
        </p:nvSpPr>
        <p:spPr>
          <a:xfrm>
            <a:off x="8001000" y="2377440"/>
            <a:ext cx="2743200" cy="320040"/>
          </a:xfrm>
          <a:prstGeom prst="rect">
            <a:avLst/>
          </a:prstGeom>
          <a:solidFill>
            <a:srgbClr val="D8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001000" y="2377440"/>
            <a:ext cx="2571750" cy="32004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835640" y="2286000"/>
            <a:ext cx="914400" cy="502920"/>
          </a:xfrm>
          <a:prstGeom prst="rect">
            <a:avLst/>
          </a:prstGeom>
          <a:noFill/>
        </p:spPr>
        <p:txBody>
          <a:bodyPr wrap="square" anchor="ctr">
            <a:spAutoFit/>
          </a:bodyPr>
          <a:lstStyle/>
          <a:p>
            <a:pPr algn="l">
              <a:lnSpc>
                <a:spcPct val="115000"/>
              </a:lnSpc>
            </a:pPr>
            <a:r>
              <a:rPr sz="1400" b="1" i="0">
                <a:solidFill>
                  <a:srgbClr val="4CAF50"/>
                </a:solidFill>
                <a:latin typeface="Calibri"/>
              </a:rPr>
              <a:t>37,5 %</a:t>
            </a:r>
          </a:p>
        </p:txBody>
      </p:sp>
      <p:sp>
        <p:nvSpPr>
          <p:cNvPr id="31" name="TextBox 30"/>
          <p:cNvSpPr txBox="1"/>
          <p:nvPr/>
        </p:nvSpPr>
        <p:spPr>
          <a:xfrm>
            <a:off x="8046720" y="2852928"/>
            <a:ext cx="2743200" cy="274320"/>
          </a:xfrm>
          <a:prstGeom prst="rect">
            <a:avLst/>
          </a:prstGeom>
          <a:noFill/>
        </p:spPr>
        <p:txBody>
          <a:bodyPr wrap="square" anchor="t">
            <a:spAutoFit/>
          </a:bodyPr>
          <a:lstStyle/>
          <a:p>
            <a:pPr algn="l">
              <a:lnSpc>
                <a:spcPct val="115000"/>
              </a:lnSpc>
            </a:pPr>
            <a:r>
              <a:rPr sz="1000" b="0" i="0">
                <a:solidFill>
                  <a:srgbClr val="556570"/>
                </a:solidFill>
                <a:latin typeface="Calibri"/>
              </a:rPr>
              <a:t>90 kural</a:t>
            </a:r>
          </a:p>
        </p:txBody>
      </p:sp>
      <p:sp>
        <p:nvSpPr>
          <p:cNvPr id="32" name="TextBox 31"/>
          <p:cNvSpPr txBox="1"/>
          <p:nvPr/>
        </p:nvSpPr>
        <p:spPr>
          <a:xfrm>
            <a:off x="6537960" y="3200400"/>
            <a:ext cx="1463040" cy="502920"/>
          </a:xfrm>
          <a:prstGeom prst="rect">
            <a:avLst/>
          </a:prstGeom>
          <a:noFill/>
        </p:spPr>
        <p:txBody>
          <a:bodyPr wrap="square" anchor="ctr">
            <a:spAutoFit/>
          </a:bodyPr>
          <a:lstStyle/>
          <a:p>
            <a:pPr algn="l">
              <a:lnSpc>
                <a:spcPct val="115000"/>
              </a:lnSpc>
            </a:pPr>
            <a:r>
              <a:rPr sz="1400" b="1" i="0">
                <a:solidFill>
                  <a:srgbClr val="0F2D40"/>
                </a:solidFill>
                <a:latin typeface="Calibri"/>
              </a:rPr>
              <a:t>Belirsiz</a:t>
            </a:r>
          </a:p>
        </p:txBody>
      </p:sp>
      <p:sp>
        <p:nvSpPr>
          <p:cNvPr id="33" name="Rectangle 32"/>
          <p:cNvSpPr/>
          <p:nvPr/>
        </p:nvSpPr>
        <p:spPr>
          <a:xfrm>
            <a:off x="8001000" y="3291840"/>
            <a:ext cx="2743200" cy="320040"/>
          </a:xfrm>
          <a:prstGeom prst="rect">
            <a:avLst/>
          </a:prstGeom>
          <a:solidFill>
            <a:srgbClr val="D8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01000" y="3291840"/>
            <a:ext cx="1543050" cy="320040"/>
          </a:xfrm>
          <a:prstGeom prst="rect">
            <a:avLst/>
          </a:prstGeom>
          <a:solidFill>
            <a:srgbClr val="FFA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835640" y="3200400"/>
            <a:ext cx="914400" cy="502920"/>
          </a:xfrm>
          <a:prstGeom prst="rect">
            <a:avLst/>
          </a:prstGeom>
          <a:noFill/>
        </p:spPr>
        <p:txBody>
          <a:bodyPr wrap="square" anchor="ctr">
            <a:spAutoFit/>
          </a:bodyPr>
          <a:lstStyle/>
          <a:p>
            <a:pPr algn="l">
              <a:lnSpc>
                <a:spcPct val="115000"/>
              </a:lnSpc>
            </a:pPr>
            <a:r>
              <a:rPr sz="1400" b="1" i="0">
                <a:solidFill>
                  <a:srgbClr val="FFA726"/>
                </a:solidFill>
                <a:latin typeface="Calibri"/>
              </a:rPr>
              <a:t>22,5 %</a:t>
            </a:r>
          </a:p>
        </p:txBody>
      </p:sp>
      <p:sp>
        <p:nvSpPr>
          <p:cNvPr id="36" name="TextBox 35"/>
          <p:cNvSpPr txBox="1"/>
          <p:nvPr/>
        </p:nvSpPr>
        <p:spPr>
          <a:xfrm>
            <a:off x="8046720" y="3767328"/>
            <a:ext cx="2743200" cy="274320"/>
          </a:xfrm>
          <a:prstGeom prst="rect">
            <a:avLst/>
          </a:prstGeom>
          <a:noFill/>
        </p:spPr>
        <p:txBody>
          <a:bodyPr wrap="square" anchor="t">
            <a:spAutoFit/>
          </a:bodyPr>
          <a:lstStyle/>
          <a:p>
            <a:pPr algn="l">
              <a:lnSpc>
                <a:spcPct val="115000"/>
              </a:lnSpc>
            </a:pPr>
            <a:r>
              <a:rPr sz="1000" b="0" i="0">
                <a:solidFill>
                  <a:srgbClr val="556570"/>
                </a:solidFill>
                <a:latin typeface="Calibri"/>
              </a:rPr>
              <a:t>54 kural</a:t>
            </a:r>
          </a:p>
        </p:txBody>
      </p:sp>
      <p:sp>
        <p:nvSpPr>
          <p:cNvPr id="37" name="TextBox 36"/>
          <p:cNvSpPr txBox="1"/>
          <p:nvPr/>
        </p:nvSpPr>
        <p:spPr>
          <a:xfrm>
            <a:off x="6537960" y="4114800"/>
            <a:ext cx="1463040" cy="502920"/>
          </a:xfrm>
          <a:prstGeom prst="rect">
            <a:avLst/>
          </a:prstGeom>
          <a:noFill/>
        </p:spPr>
        <p:txBody>
          <a:bodyPr wrap="square" anchor="ctr">
            <a:spAutoFit/>
          </a:bodyPr>
          <a:lstStyle/>
          <a:p>
            <a:pPr algn="l">
              <a:lnSpc>
                <a:spcPct val="115000"/>
              </a:lnSpc>
            </a:pPr>
            <a:r>
              <a:rPr sz="1400" b="1" i="0">
                <a:solidFill>
                  <a:srgbClr val="0F2D40"/>
                </a:solidFill>
                <a:latin typeface="Calibri"/>
              </a:rPr>
              <a:t>Kanal</a:t>
            </a:r>
          </a:p>
        </p:txBody>
      </p:sp>
      <p:sp>
        <p:nvSpPr>
          <p:cNvPr id="38" name="Rectangle 37"/>
          <p:cNvSpPr/>
          <p:nvPr/>
        </p:nvSpPr>
        <p:spPr>
          <a:xfrm>
            <a:off x="8001000" y="4206240"/>
            <a:ext cx="2743200" cy="320040"/>
          </a:xfrm>
          <a:prstGeom prst="rect">
            <a:avLst/>
          </a:prstGeom>
          <a:solidFill>
            <a:srgbClr val="D8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01000" y="4206240"/>
            <a:ext cx="2743200" cy="320040"/>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835640" y="4114800"/>
            <a:ext cx="914400" cy="502920"/>
          </a:xfrm>
          <a:prstGeom prst="rect">
            <a:avLst/>
          </a:prstGeom>
          <a:noFill/>
        </p:spPr>
        <p:txBody>
          <a:bodyPr wrap="square" anchor="ctr">
            <a:spAutoFit/>
          </a:bodyPr>
          <a:lstStyle/>
          <a:p>
            <a:pPr algn="l">
              <a:lnSpc>
                <a:spcPct val="115000"/>
              </a:lnSpc>
            </a:pPr>
            <a:r>
              <a:rPr sz="1400" b="1" i="0">
                <a:solidFill>
                  <a:srgbClr val="E53935"/>
                </a:solidFill>
                <a:latin typeface="Calibri"/>
              </a:rPr>
              <a:t>40,0 %</a:t>
            </a:r>
          </a:p>
        </p:txBody>
      </p:sp>
      <p:sp>
        <p:nvSpPr>
          <p:cNvPr id="41" name="TextBox 40"/>
          <p:cNvSpPr txBox="1"/>
          <p:nvPr/>
        </p:nvSpPr>
        <p:spPr>
          <a:xfrm>
            <a:off x="8046720" y="4681728"/>
            <a:ext cx="2743200" cy="274320"/>
          </a:xfrm>
          <a:prstGeom prst="rect">
            <a:avLst/>
          </a:prstGeom>
          <a:noFill/>
        </p:spPr>
        <p:txBody>
          <a:bodyPr wrap="square" anchor="t">
            <a:spAutoFit/>
          </a:bodyPr>
          <a:lstStyle/>
          <a:p>
            <a:pPr algn="l">
              <a:lnSpc>
                <a:spcPct val="115000"/>
              </a:lnSpc>
            </a:pPr>
            <a:r>
              <a:rPr sz="1000" b="0" i="0">
                <a:solidFill>
                  <a:srgbClr val="556570"/>
                </a:solidFill>
                <a:latin typeface="Calibri"/>
              </a:rPr>
              <a:t>96 kural</a:t>
            </a:r>
          </a:p>
        </p:txBody>
      </p:sp>
      <p:sp>
        <p:nvSpPr>
          <p:cNvPr id="42" name="TextBox 41"/>
          <p:cNvSpPr txBox="1"/>
          <p:nvPr/>
        </p:nvSpPr>
        <p:spPr>
          <a:xfrm>
            <a:off x="6537960" y="5486400"/>
            <a:ext cx="4937760" cy="548640"/>
          </a:xfrm>
          <a:prstGeom prst="rect">
            <a:avLst/>
          </a:prstGeom>
          <a:noFill/>
        </p:spPr>
        <p:txBody>
          <a:bodyPr wrap="square" anchor="t">
            <a:spAutoFit/>
          </a:bodyPr>
          <a:lstStyle/>
          <a:p>
            <a:pPr algn="l">
              <a:lnSpc>
                <a:spcPct val="130000"/>
              </a:lnSpc>
            </a:pPr>
            <a:r>
              <a:rPr sz="1100" b="0" i="1">
                <a:solidFill>
                  <a:srgbClr val="556570"/>
                </a:solidFill>
                <a:latin typeface="Calibri"/>
              </a:rPr>
              <a:t>Üç sınıf dengeli temsil edildi —</a:t>
            </a:r>
          </a:p>
          <a:p>
            <a:pPr algn="l">
              <a:lnSpc>
                <a:spcPct val="130000"/>
              </a:lnSpc>
            </a:pPr>
            <a:r>
              <a:rPr sz="1100" b="0" i="1">
                <a:solidFill>
                  <a:srgbClr val="556570"/>
                </a:solidFill>
                <a:latin typeface="Calibri"/>
              </a:rPr>
              <a:t>bir karar tarafına aşırı meyil yok.</a:t>
            </a:r>
          </a:p>
        </p:txBody>
      </p:sp>
      <p:sp>
        <p:nvSpPr>
          <p:cNvPr id="43" name="TextBox 42"/>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44" name="TextBox 43"/>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9 / 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Çıkış: Kanal Gereklilik Yüzdesi</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Tek bir sayı yerine kademeli karar metriği</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54480"/>
            <a:ext cx="10972800" cy="457200"/>
          </a:xfrm>
          <a:prstGeom prst="rect">
            <a:avLst/>
          </a:prstGeom>
          <a:noFill/>
        </p:spPr>
        <p:txBody>
          <a:bodyPr wrap="square" anchor="t">
            <a:spAutoFit/>
          </a:bodyPr>
          <a:lstStyle/>
          <a:p>
            <a:pPr algn="ctr">
              <a:lnSpc>
                <a:spcPct val="115000"/>
              </a:lnSpc>
            </a:pPr>
            <a:r>
              <a:rPr sz="1800" b="1" i="0">
                <a:solidFill>
                  <a:srgbClr val="0F2D40"/>
                </a:solidFill>
                <a:latin typeface="Calibri Light"/>
              </a:rPr>
              <a:t>0 – 100 aralığında sürekli çıkış</a:t>
            </a:r>
          </a:p>
        </p:txBody>
      </p:sp>
      <p:sp>
        <p:nvSpPr>
          <p:cNvPr id="7" name="Rectangle 6"/>
          <p:cNvSpPr/>
          <p:nvPr/>
        </p:nvSpPr>
        <p:spPr>
          <a:xfrm>
            <a:off x="914400" y="2286000"/>
            <a:ext cx="3203143" cy="73152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286000"/>
            <a:ext cx="3203143" cy="731520"/>
          </a:xfrm>
          <a:prstGeom prst="rect">
            <a:avLst/>
          </a:prstGeom>
          <a:noFill/>
        </p:spPr>
        <p:txBody>
          <a:bodyPr wrap="square" anchor="ctr">
            <a:spAutoFit/>
          </a:bodyPr>
          <a:lstStyle/>
          <a:p>
            <a:pPr algn="ctr">
              <a:lnSpc>
                <a:spcPct val="115000"/>
              </a:lnSpc>
            </a:pPr>
            <a:r>
              <a:rPr sz="1800" b="1" i="0">
                <a:solidFill>
                  <a:srgbClr val="FFFFFF"/>
                </a:solidFill>
                <a:latin typeface="Calibri Light"/>
              </a:rPr>
              <a:t>Dolgu</a:t>
            </a:r>
          </a:p>
        </p:txBody>
      </p:sp>
      <p:sp>
        <p:nvSpPr>
          <p:cNvPr id="9" name="TextBox 8"/>
          <p:cNvSpPr txBox="1"/>
          <p:nvPr/>
        </p:nvSpPr>
        <p:spPr>
          <a:xfrm>
            <a:off x="914400" y="3063239"/>
            <a:ext cx="3203143" cy="320040"/>
          </a:xfrm>
          <a:prstGeom prst="rect">
            <a:avLst/>
          </a:prstGeom>
          <a:noFill/>
        </p:spPr>
        <p:txBody>
          <a:bodyPr wrap="square" anchor="t">
            <a:spAutoFit/>
          </a:bodyPr>
          <a:lstStyle/>
          <a:p>
            <a:pPr algn="ctr">
              <a:lnSpc>
                <a:spcPct val="115000"/>
              </a:lnSpc>
            </a:pPr>
            <a:r>
              <a:rPr sz="1200" b="0" i="0">
                <a:solidFill>
                  <a:srgbClr val="0F2D40"/>
                </a:solidFill>
                <a:latin typeface="Calibri"/>
              </a:rPr>
              <a:t>%0 – %30</a:t>
            </a:r>
          </a:p>
        </p:txBody>
      </p:sp>
      <p:sp>
        <p:nvSpPr>
          <p:cNvPr id="10" name="Rectangle 9"/>
          <p:cNvSpPr/>
          <p:nvPr/>
        </p:nvSpPr>
        <p:spPr>
          <a:xfrm>
            <a:off x="4117543" y="2286000"/>
            <a:ext cx="4133087" cy="731520"/>
          </a:xfrm>
          <a:prstGeom prst="rect">
            <a:avLst/>
          </a:prstGeom>
          <a:solidFill>
            <a:srgbClr val="FFA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7543" y="2286000"/>
            <a:ext cx="4133087" cy="731520"/>
          </a:xfrm>
          <a:prstGeom prst="rect">
            <a:avLst/>
          </a:prstGeom>
          <a:noFill/>
        </p:spPr>
        <p:txBody>
          <a:bodyPr wrap="square" anchor="ctr">
            <a:spAutoFit/>
          </a:bodyPr>
          <a:lstStyle/>
          <a:p>
            <a:pPr algn="ctr">
              <a:lnSpc>
                <a:spcPct val="115000"/>
              </a:lnSpc>
            </a:pPr>
            <a:r>
              <a:rPr sz="1800" b="1" i="0">
                <a:solidFill>
                  <a:srgbClr val="FFFFFF"/>
                </a:solidFill>
                <a:latin typeface="Calibri Light"/>
              </a:rPr>
              <a:t>Belirsiz</a:t>
            </a:r>
          </a:p>
        </p:txBody>
      </p:sp>
      <p:sp>
        <p:nvSpPr>
          <p:cNvPr id="12" name="TextBox 11"/>
          <p:cNvSpPr txBox="1"/>
          <p:nvPr/>
        </p:nvSpPr>
        <p:spPr>
          <a:xfrm>
            <a:off x="4117543" y="3063239"/>
            <a:ext cx="4133087" cy="320040"/>
          </a:xfrm>
          <a:prstGeom prst="rect">
            <a:avLst/>
          </a:prstGeom>
          <a:noFill/>
        </p:spPr>
        <p:txBody>
          <a:bodyPr wrap="square" anchor="t">
            <a:spAutoFit/>
          </a:bodyPr>
          <a:lstStyle/>
          <a:p>
            <a:pPr algn="ctr">
              <a:lnSpc>
                <a:spcPct val="115000"/>
              </a:lnSpc>
            </a:pPr>
            <a:r>
              <a:rPr sz="1200" b="0" i="0">
                <a:solidFill>
                  <a:srgbClr val="0F2D40"/>
                </a:solidFill>
                <a:latin typeface="Calibri"/>
              </a:rPr>
              <a:t>%31 – %70</a:t>
            </a:r>
          </a:p>
        </p:txBody>
      </p:sp>
      <p:sp>
        <p:nvSpPr>
          <p:cNvPr id="13" name="Rectangle 12"/>
          <p:cNvSpPr/>
          <p:nvPr/>
        </p:nvSpPr>
        <p:spPr>
          <a:xfrm>
            <a:off x="8250631" y="2286000"/>
            <a:ext cx="3099816" cy="731520"/>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50631" y="2286000"/>
            <a:ext cx="3099816" cy="731520"/>
          </a:xfrm>
          <a:prstGeom prst="rect">
            <a:avLst/>
          </a:prstGeom>
          <a:noFill/>
        </p:spPr>
        <p:txBody>
          <a:bodyPr wrap="square" anchor="ctr">
            <a:spAutoFit/>
          </a:bodyPr>
          <a:lstStyle/>
          <a:p>
            <a:pPr algn="ctr">
              <a:lnSpc>
                <a:spcPct val="115000"/>
              </a:lnSpc>
            </a:pPr>
            <a:r>
              <a:rPr sz="1800" b="1" i="0">
                <a:solidFill>
                  <a:srgbClr val="FFFFFF"/>
                </a:solidFill>
                <a:latin typeface="Calibri Light"/>
              </a:rPr>
              <a:t>Kanal</a:t>
            </a:r>
          </a:p>
        </p:txBody>
      </p:sp>
      <p:sp>
        <p:nvSpPr>
          <p:cNvPr id="15" name="TextBox 14"/>
          <p:cNvSpPr txBox="1"/>
          <p:nvPr/>
        </p:nvSpPr>
        <p:spPr>
          <a:xfrm>
            <a:off x="8250631" y="3063239"/>
            <a:ext cx="3099816" cy="320040"/>
          </a:xfrm>
          <a:prstGeom prst="rect">
            <a:avLst/>
          </a:prstGeom>
          <a:noFill/>
        </p:spPr>
        <p:txBody>
          <a:bodyPr wrap="square" anchor="t">
            <a:spAutoFit/>
          </a:bodyPr>
          <a:lstStyle/>
          <a:p>
            <a:pPr algn="ctr">
              <a:lnSpc>
                <a:spcPct val="115000"/>
              </a:lnSpc>
            </a:pPr>
            <a:r>
              <a:rPr sz="1200" b="0" i="0">
                <a:solidFill>
                  <a:srgbClr val="0F2D40"/>
                </a:solidFill>
                <a:latin typeface="Calibri"/>
              </a:rPr>
              <a:t>%71 – %100</a:t>
            </a:r>
          </a:p>
        </p:txBody>
      </p:sp>
      <p:sp>
        <p:nvSpPr>
          <p:cNvPr id="16" name="Rounded Rectangle 15"/>
          <p:cNvSpPr/>
          <p:nvPr/>
        </p:nvSpPr>
        <p:spPr>
          <a:xfrm>
            <a:off x="640080" y="4023360"/>
            <a:ext cx="3611880" cy="2011680"/>
          </a:xfrm>
          <a:prstGeom prst="roundRect">
            <a:avLst/>
          </a:prstGeom>
          <a:solidFill>
            <a:srgbClr val="E0F2F4"/>
          </a:solidFill>
          <a:ln w="9525">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4023360"/>
            <a:ext cx="3611880" cy="411480"/>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069080"/>
            <a:ext cx="3611880" cy="365760"/>
          </a:xfrm>
          <a:prstGeom prst="rect">
            <a:avLst/>
          </a:prstGeom>
          <a:noFill/>
        </p:spPr>
        <p:txBody>
          <a:bodyPr wrap="square" anchor="t">
            <a:spAutoFit/>
          </a:bodyPr>
          <a:lstStyle/>
          <a:p>
            <a:pPr algn="ctr">
              <a:lnSpc>
                <a:spcPct val="115000"/>
              </a:lnSpc>
            </a:pPr>
            <a:r>
              <a:rPr sz="1500" b="1" i="0">
                <a:solidFill>
                  <a:srgbClr val="FFFFFF"/>
                </a:solidFill>
                <a:latin typeface="Calibri Light"/>
              </a:rPr>
              <a:t>DÜŞÜK (0–30)</a:t>
            </a:r>
          </a:p>
        </p:txBody>
      </p:sp>
      <p:sp>
        <p:nvSpPr>
          <p:cNvPr id="19" name="TextBox 18"/>
          <p:cNvSpPr txBox="1"/>
          <p:nvPr/>
        </p:nvSpPr>
        <p:spPr>
          <a:xfrm>
            <a:off x="822959" y="4572000"/>
            <a:ext cx="3246120" cy="1371600"/>
          </a:xfrm>
          <a:prstGeom prst="rect">
            <a:avLst/>
          </a:prstGeom>
          <a:noFill/>
        </p:spPr>
        <p:txBody>
          <a:bodyPr wrap="square" anchor="t">
            <a:spAutoFit/>
          </a:bodyPr>
          <a:lstStyle/>
          <a:p>
            <a:pPr algn="ctr">
              <a:lnSpc>
                <a:spcPct val="140000"/>
              </a:lnSpc>
            </a:pPr>
            <a:r>
              <a:rPr sz="1300" b="0" i="0">
                <a:solidFill>
                  <a:srgbClr val="0F2D40"/>
                </a:solidFill>
                <a:latin typeface="Calibri"/>
              </a:rPr>
              <a:t>Pulpa sağlıklı / iyileşebilir</a:t>
            </a:r>
          </a:p>
          <a:p>
            <a:pPr algn="ctr">
              <a:lnSpc>
                <a:spcPct val="140000"/>
              </a:lnSpc>
            </a:pPr>
            <a:r>
              <a:rPr sz="1300" b="0" i="0">
                <a:solidFill>
                  <a:srgbClr val="0F2D40"/>
                </a:solidFill>
                <a:latin typeface="Calibri"/>
              </a:rPr>
              <a:t>Restoratif tedavi yeterli</a:t>
            </a:r>
          </a:p>
        </p:txBody>
      </p:sp>
      <p:sp>
        <p:nvSpPr>
          <p:cNvPr id="20" name="Rounded Rectangle 19"/>
          <p:cNvSpPr/>
          <p:nvPr/>
        </p:nvSpPr>
        <p:spPr>
          <a:xfrm>
            <a:off x="4389120" y="4023360"/>
            <a:ext cx="3611880" cy="2011680"/>
          </a:xfrm>
          <a:prstGeom prst="roundRect">
            <a:avLst/>
          </a:prstGeom>
          <a:solidFill>
            <a:srgbClr val="E0F2F4"/>
          </a:solidFill>
          <a:ln w="9525">
            <a:solidFill>
              <a:srgbClr val="FFA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4023360"/>
            <a:ext cx="3611880" cy="411480"/>
          </a:xfrm>
          <a:prstGeom prst="rect">
            <a:avLst/>
          </a:prstGeom>
          <a:solidFill>
            <a:srgbClr val="FFA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0" y="4069080"/>
            <a:ext cx="3611880" cy="365760"/>
          </a:xfrm>
          <a:prstGeom prst="rect">
            <a:avLst/>
          </a:prstGeom>
          <a:noFill/>
        </p:spPr>
        <p:txBody>
          <a:bodyPr wrap="square" anchor="t">
            <a:spAutoFit/>
          </a:bodyPr>
          <a:lstStyle/>
          <a:p>
            <a:pPr algn="ctr">
              <a:lnSpc>
                <a:spcPct val="115000"/>
              </a:lnSpc>
            </a:pPr>
            <a:r>
              <a:rPr sz="1500" b="1" i="0">
                <a:solidFill>
                  <a:srgbClr val="FFFFFF"/>
                </a:solidFill>
                <a:latin typeface="Calibri Light"/>
              </a:rPr>
              <a:t>ORTA (31–70)</a:t>
            </a:r>
          </a:p>
        </p:txBody>
      </p:sp>
      <p:sp>
        <p:nvSpPr>
          <p:cNvPr id="23" name="TextBox 22"/>
          <p:cNvSpPr txBox="1"/>
          <p:nvPr/>
        </p:nvSpPr>
        <p:spPr>
          <a:xfrm>
            <a:off x="4572000" y="4572000"/>
            <a:ext cx="3246120" cy="1371600"/>
          </a:xfrm>
          <a:prstGeom prst="rect">
            <a:avLst/>
          </a:prstGeom>
          <a:noFill/>
        </p:spPr>
        <p:txBody>
          <a:bodyPr wrap="square" anchor="t">
            <a:spAutoFit/>
          </a:bodyPr>
          <a:lstStyle/>
          <a:p>
            <a:pPr algn="ctr">
              <a:lnSpc>
                <a:spcPct val="140000"/>
              </a:lnSpc>
            </a:pPr>
            <a:r>
              <a:rPr sz="1300" b="0" i="0">
                <a:solidFill>
                  <a:srgbClr val="0F2D40"/>
                </a:solidFill>
                <a:latin typeface="Calibri"/>
              </a:rPr>
              <a:t>Sınırda vaka</a:t>
            </a:r>
          </a:p>
          <a:p>
            <a:pPr algn="ctr">
              <a:lnSpc>
                <a:spcPct val="140000"/>
              </a:lnSpc>
            </a:pPr>
            <a:r>
              <a:rPr sz="1300" b="0" i="0">
                <a:solidFill>
                  <a:srgbClr val="0F2D40"/>
                </a:solidFill>
                <a:latin typeface="Calibri"/>
              </a:rPr>
              <a:t>Kuafaj · ortak karar</a:t>
            </a:r>
          </a:p>
          <a:p>
            <a:pPr algn="ctr">
              <a:lnSpc>
                <a:spcPct val="140000"/>
              </a:lnSpc>
            </a:pPr>
            <a:r>
              <a:rPr sz="1300" b="0" i="0">
                <a:solidFill>
                  <a:srgbClr val="0F2D40"/>
                </a:solidFill>
                <a:latin typeface="Calibri"/>
              </a:rPr>
              <a:t>Klinisyen yargısı belirleyici</a:t>
            </a:r>
          </a:p>
        </p:txBody>
      </p:sp>
      <p:sp>
        <p:nvSpPr>
          <p:cNvPr id="24" name="Rounded Rectangle 23"/>
          <p:cNvSpPr/>
          <p:nvPr/>
        </p:nvSpPr>
        <p:spPr>
          <a:xfrm>
            <a:off x="8138160" y="4023360"/>
            <a:ext cx="3611880" cy="2011680"/>
          </a:xfrm>
          <a:prstGeom prst="roundRect">
            <a:avLst/>
          </a:prstGeom>
          <a:solidFill>
            <a:srgbClr val="E0F2F4"/>
          </a:solidFill>
          <a:ln w="9525">
            <a:solidFill>
              <a:srgbClr val="E539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38160" y="4023360"/>
            <a:ext cx="3611880" cy="411480"/>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38160" y="4069080"/>
            <a:ext cx="3611880" cy="365760"/>
          </a:xfrm>
          <a:prstGeom prst="rect">
            <a:avLst/>
          </a:prstGeom>
          <a:noFill/>
        </p:spPr>
        <p:txBody>
          <a:bodyPr wrap="square" anchor="t">
            <a:spAutoFit/>
          </a:bodyPr>
          <a:lstStyle/>
          <a:p>
            <a:pPr algn="ctr">
              <a:lnSpc>
                <a:spcPct val="115000"/>
              </a:lnSpc>
            </a:pPr>
            <a:r>
              <a:rPr sz="1500" b="1" i="0">
                <a:solidFill>
                  <a:srgbClr val="FFFFFF"/>
                </a:solidFill>
                <a:latin typeface="Calibri Light"/>
              </a:rPr>
              <a:t>YÜKSEK (71–100)</a:t>
            </a:r>
          </a:p>
        </p:txBody>
      </p:sp>
      <p:sp>
        <p:nvSpPr>
          <p:cNvPr id="27" name="TextBox 26"/>
          <p:cNvSpPr txBox="1"/>
          <p:nvPr/>
        </p:nvSpPr>
        <p:spPr>
          <a:xfrm>
            <a:off x="8321040" y="4572000"/>
            <a:ext cx="3246120" cy="1371600"/>
          </a:xfrm>
          <a:prstGeom prst="rect">
            <a:avLst/>
          </a:prstGeom>
          <a:noFill/>
        </p:spPr>
        <p:txBody>
          <a:bodyPr wrap="square" anchor="t">
            <a:spAutoFit/>
          </a:bodyPr>
          <a:lstStyle/>
          <a:p>
            <a:pPr algn="ctr">
              <a:lnSpc>
                <a:spcPct val="140000"/>
              </a:lnSpc>
            </a:pPr>
            <a:r>
              <a:rPr sz="1300" b="0" i="0">
                <a:solidFill>
                  <a:srgbClr val="0F2D40"/>
                </a:solidFill>
                <a:latin typeface="Calibri"/>
              </a:rPr>
              <a:t>Pulpa enfekte</a:t>
            </a:r>
          </a:p>
          <a:p>
            <a:pPr algn="ctr">
              <a:lnSpc>
                <a:spcPct val="140000"/>
              </a:lnSpc>
            </a:pPr>
            <a:r>
              <a:rPr sz="1300" b="0" i="0">
                <a:solidFill>
                  <a:srgbClr val="0F2D40"/>
                </a:solidFill>
                <a:latin typeface="Calibri"/>
              </a:rPr>
              <a:t>Kanal tedavisi endike</a:t>
            </a:r>
          </a:p>
        </p:txBody>
      </p:sp>
      <p:sp>
        <p:nvSpPr>
          <p:cNvPr id="28" name="TextBox 27"/>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29" name="TextBox 28"/>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10 / 14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Sistem Mimarisi</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İki katmanlı web uygulaması</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828800"/>
            <a:ext cx="4754880" cy="3200400"/>
          </a:xfrm>
          <a:prstGeom prst="roundRect">
            <a:avLst/>
          </a:prstGeom>
          <a:solidFill>
            <a:srgbClr val="E0F2F4"/>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828800"/>
            <a:ext cx="4754880" cy="502920"/>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874519"/>
            <a:ext cx="4754880" cy="411480"/>
          </a:xfrm>
          <a:prstGeom prst="rect">
            <a:avLst/>
          </a:prstGeom>
          <a:noFill/>
        </p:spPr>
        <p:txBody>
          <a:bodyPr wrap="square" anchor="t">
            <a:spAutoFit/>
          </a:bodyPr>
          <a:lstStyle/>
          <a:p>
            <a:pPr algn="ctr">
              <a:lnSpc>
                <a:spcPct val="115000"/>
              </a:lnSpc>
            </a:pPr>
            <a:r>
              <a:rPr sz="1600" b="1" i="0">
                <a:solidFill>
                  <a:srgbClr val="FFFFFF"/>
                </a:solidFill>
                <a:latin typeface="Calibri Light"/>
              </a:rPr>
              <a:t>FRONTEND  ·  Next.js 16</a:t>
            </a:r>
          </a:p>
        </p:txBody>
      </p:sp>
      <p:sp>
        <p:nvSpPr>
          <p:cNvPr id="9" name="TextBox 8"/>
          <p:cNvSpPr txBox="1"/>
          <p:nvPr/>
        </p:nvSpPr>
        <p:spPr>
          <a:xfrm>
            <a:off x="822960" y="2468880"/>
            <a:ext cx="4389120" cy="2468880"/>
          </a:xfrm>
          <a:prstGeom prst="rect">
            <a:avLst/>
          </a:prstGeom>
          <a:noFill/>
        </p:spPr>
        <p:txBody>
          <a:bodyPr wrap="square" anchor="t">
            <a:spAutoFit/>
          </a:bodyPr>
          <a:lstStyle/>
          <a:p>
            <a:pPr algn="l">
              <a:lnSpc>
                <a:spcPct val="150000"/>
              </a:lnSpc>
            </a:pPr>
            <a:r>
              <a:rPr sz="1300" b="0" i="0">
                <a:solidFill>
                  <a:srgbClr val="0F2D40"/>
                </a:solidFill>
                <a:latin typeface="Calibri"/>
              </a:rPr>
              <a:t>• React 19 + TypeScript</a:t>
            </a:r>
          </a:p>
          <a:p>
            <a:pPr algn="l">
              <a:lnSpc>
                <a:spcPct val="150000"/>
              </a:lnSpc>
            </a:pPr>
            <a:r>
              <a:rPr sz="1300" b="0" i="0">
                <a:solidFill>
                  <a:srgbClr val="0F2D40"/>
                </a:solidFill>
                <a:latin typeface="Calibri"/>
              </a:rPr>
              <a:t>• Tailwind CSS 4</a:t>
            </a:r>
          </a:p>
          <a:p>
            <a:pPr algn="l">
              <a:lnSpc>
                <a:spcPct val="150000"/>
              </a:lnSpc>
            </a:pPr>
            <a:r>
              <a:rPr sz="1300" b="0" i="0">
                <a:solidFill>
                  <a:srgbClr val="0F2D40"/>
                </a:solidFill>
                <a:latin typeface="Calibri"/>
              </a:rPr>
              <a:t>• 4 slider girdisi</a:t>
            </a:r>
          </a:p>
          <a:p>
            <a:pPr algn="l">
              <a:lnSpc>
                <a:spcPct val="150000"/>
              </a:lnSpc>
            </a:pPr>
            <a:r>
              <a:rPr sz="1300" b="0" i="0">
                <a:solidFill>
                  <a:srgbClr val="0F2D40"/>
                </a:solidFill>
                <a:latin typeface="Calibri"/>
              </a:rPr>
              <a:t>• Türkçe etiketler</a:t>
            </a:r>
          </a:p>
          <a:p>
            <a:pPr algn="l">
              <a:lnSpc>
                <a:spcPct val="150000"/>
              </a:lnSpc>
            </a:pPr>
            <a:r>
              <a:rPr sz="1300" b="0" i="0">
                <a:solidFill>
                  <a:srgbClr val="0F2D40"/>
                </a:solidFill>
                <a:latin typeface="Calibri"/>
              </a:rPr>
              <a:t>• Karar kartı + renk</a:t>
            </a:r>
          </a:p>
          <a:p>
            <a:pPr algn="l">
              <a:lnSpc>
                <a:spcPct val="150000"/>
              </a:lnSpc>
            </a:pPr>
            <a:r>
              <a:rPr sz="1300" b="0" i="0">
                <a:solidFill>
                  <a:srgbClr val="0F2D40"/>
                </a:solidFill>
                <a:latin typeface="Calibri"/>
              </a:rPr>
              <a:t>• Baskın kural + dağılım</a:t>
            </a:r>
          </a:p>
          <a:p>
            <a:pPr algn="l">
              <a:lnSpc>
                <a:spcPct val="150000"/>
              </a:lnSpc>
            </a:pPr>
            <a:r>
              <a:rPr sz="1300" b="0" i="0">
                <a:solidFill>
                  <a:srgbClr val="0F2D40"/>
                </a:solidFill>
                <a:latin typeface="Calibri"/>
              </a:rPr>
              <a:t>• Ateşlenen kurallar tablosu</a:t>
            </a:r>
          </a:p>
        </p:txBody>
      </p:sp>
      <p:sp>
        <p:nvSpPr>
          <p:cNvPr id="10" name="Rounded Rectangle 9"/>
          <p:cNvSpPr/>
          <p:nvPr/>
        </p:nvSpPr>
        <p:spPr>
          <a:xfrm>
            <a:off x="6812280" y="1828800"/>
            <a:ext cx="4754880" cy="3200400"/>
          </a:xfrm>
          <a:prstGeom prst="roundRect">
            <a:avLst/>
          </a:prstGeom>
          <a:solidFill>
            <a:srgbClr val="E0F2F4"/>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12280" y="1828800"/>
            <a:ext cx="4754880" cy="502920"/>
          </a:xfrm>
          <a:prstGeom prst="rect">
            <a:avLst/>
          </a:prstGeom>
          <a:solidFill>
            <a:srgbClr val="0E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12280" y="1874519"/>
            <a:ext cx="4754880" cy="411480"/>
          </a:xfrm>
          <a:prstGeom prst="rect">
            <a:avLst/>
          </a:prstGeom>
          <a:noFill/>
        </p:spPr>
        <p:txBody>
          <a:bodyPr wrap="square" anchor="t">
            <a:spAutoFit/>
          </a:bodyPr>
          <a:lstStyle/>
          <a:p>
            <a:pPr algn="ctr">
              <a:lnSpc>
                <a:spcPct val="115000"/>
              </a:lnSpc>
            </a:pPr>
            <a:r>
              <a:rPr sz="1600" b="1" i="0">
                <a:solidFill>
                  <a:srgbClr val="FFFFFF"/>
                </a:solidFill>
                <a:latin typeface="Calibri Light"/>
              </a:rPr>
              <a:t>BACKEND  ·  FastAPI</a:t>
            </a:r>
          </a:p>
        </p:txBody>
      </p:sp>
      <p:sp>
        <p:nvSpPr>
          <p:cNvPr id="13" name="TextBox 12"/>
          <p:cNvSpPr txBox="1"/>
          <p:nvPr/>
        </p:nvSpPr>
        <p:spPr>
          <a:xfrm>
            <a:off x="6995160" y="2468880"/>
            <a:ext cx="4389120" cy="2468880"/>
          </a:xfrm>
          <a:prstGeom prst="rect">
            <a:avLst/>
          </a:prstGeom>
          <a:noFill/>
        </p:spPr>
        <p:txBody>
          <a:bodyPr wrap="square" anchor="t">
            <a:spAutoFit/>
          </a:bodyPr>
          <a:lstStyle/>
          <a:p>
            <a:pPr algn="l">
              <a:lnSpc>
                <a:spcPct val="150000"/>
              </a:lnSpc>
            </a:pPr>
            <a:r>
              <a:rPr sz="1300" b="0" i="0">
                <a:solidFill>
                  <a:srgbClr val="0F2D40"/>
                </a:solidFill>
                <a:latin typeface="Calibri"/>
              </a:rPr>
              <a:t>• Python 3.10+</a:t>
            </a:r>
          </a:p>
          <a:p>
            <a:pPr algn="l">
              <a:lnSpc>
                <a:spcPct val="150000"/>
              </a:lnSpc>
            </a:pPr>
            <a:r>
              <a:rPr sz="1300" b="0" i="0">
                <a:solidFill>
                  <a:srgbClr val="0F2D40"/>
                </a:solidFill>
                <a:latin typeface="Calibri"/>
              </a:rPr>
              <a:t>• scikit-fuzzy (Mamdani)</a:t>
            </a:r>
          </a:p>
          <a:p>
            <a:pPr algn="l">
              <a:lnSpc>
                <a:spcPct val="150000"/>
              </a:lnSpc>
            </a:pPr>
            <a:r>
              <a:rPr sz="1300" b="0" i="0">
                <a:solidFill>
                  <a:srgbClr val="0F2D40"/>
                </a:solidFill>
                <a:latin typeface="Calibri"/>
              </a:rPr>
              <a:t>• NumPy (evren / dizi)</a:t>
            </a:r>
          </a:p>
          <a:p>
            <a:pPr algn="l">
              <a:lnSpc>
                <a:spcPct val="150000"/>
              </a:lnSpc>
            </a:pPr>
            <a:r>
              <a:rPr sz="1300" b="0" i="0">
                <a:solidFill>
                  <a:srgbClr val="0F2D40"/>
                </a:solidFill>
                <a:latin typeface="Calibri"/>
              </a:rPr>
              <a:t>• Pydantic (validasyon)</a:t>
            </a:r>
          </a:p>
          <a:p>
            <a:pPr algn="l">
              <a:lnSpc>
                <a:spcPct val="150000"/>
              </a:lnSpc>
            </a:pPr>
            <a:r>
              <a:rPr sz="1300" b="0" i="0">
                <a:solidFill>
                  <a:srgbClr val="0F2D40"/>
                </a:solidFill>
                <a:latin typeface="Calibri"/>
              </a:rPr>
              <a:t>• 240 aktif kural</a:t>
            </a:r>
          </a:p>
          <a:p>
            <a:pPr algn="l">
              <a:lnSpc>
                <a:spcPct val="150000"/>
              </a:lnSpc>
            </a:pPr>
            <a:r>
              <a:rPr sz="1300" b="0" i="0">
                <a:solidFill>
                  <a:srgbClr val="0F2D40"/>
                </a:solidFill>
                <a:latin typeface="Calibri"/>
              </a:rPr>
              <a:t>• min / max / centroid</a:t>
            </a:r>
          </a:p>
          <a:p>
            <a:pPr algn="l">
              <a:lnSpc>
                <a:spcPct val="150000"/>
              </a:lnSpc>
            </a:pPr>
            <a:r>
              <a:rPr sz="1300" b="0" i="0">
                <a:solidFill>
                  <a:srgbClr val="0F2D40"/>
                </a:solidFill>
                <a:latin typeface="Calibri"/>
              </a:rPr>
              <a:t>• OpenAPI / Swagger</a:t>
            </a:r>
          </a:p>
        </p:txBody>
      </p:sp>
      <p:sp>
        <p:nvSpPr>
          <p:cNvPr id="14" name="TextBox 13"/>
          <p:cNvSpPr txBox="1"/>
          <p:nvPr/>
        </p:nvSpPr>
        <p:spPr>
          <a:xfrm>
            <a:off x="5394960" y="2651760"/>
            <a:ext cx="1417320" cy="365760"/>
          </a:xfrm>
          <a:prstGeom prst="rect">
            <a:avLst/>
          </a:prstGeom>
          <a:noFill/>
        </p:spPr>
        <p:txBody>
          <a:bodyPr wrap="square" anchor="t">
            <a:spAutoFit/>
          </a:bodyPr>
          <a:lstStyle/>
          <a:p>
            <a:pPr algn="ctr">
              <a:lnSpc>
                <a:spcPct val="115000"/>
              </a:lnSpc>
            </a:pPr>
            <a:r>
              <a:rPr sz="1100" b="0" i="0">
                <a:solidFill>
                  <a:srgbClr val="0E6E76"/>
                </a:solidFill>
                <a:latin typeface="Cambria Math"/>
              </a:rPr>
              <a:t>POST /api/predict</a:t>
            </a:r>
          </a:p>
        </p:txBody>
      </p:sp>
      <p:cxnSp>
        <p:nvCxnSpPr>
          <p:cNvPr id="15" name="Connector 14"/>
          <p:cNvCxnSpPr/>
          <p:nvPr/>
        </p:nvCxnSpPr>
        <p:spPr>
          <a:xfrm>
            <a:off x="5440680" y="3017520"/>
            <a:ext cx="1325880" cy="0"/>
          </a:xfrm>
          <a:prstGeom prst="bentConnector3">
            <a:avLst/>
          </a:prstGeom>
          <a:ln w="25400">
            <a:solidFill>
              <a:srgbClr val="14919B"/>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394960" y="3840480"/>
            <a:ext cx="1417320" cy="365760"/>
          </a:xfrm>
          <a:prstGeom prst="rect">
            <a:avLst/>
          </a:prstGeom>
          <a:noFill/>
        </p:spPr>
        <p:txBody>
          <a:bodyPr wrap="square" anchor="t">
            <a:spAutoFit/>
          </a:bodyPr>
          <a:lstStyle/>
          <a:p>
            <a:pPr algn="ctr">
              <a:lnSpc>
                <a:spcPct val="115000"/>
              </a:lnSpc>
            </a:pPr>
            <a:r>
              <a:rPr sz="1100" b="0" i="1">
                <a:solidFill>
                  <a:srgbClr val="0E6E76"/>
                </a:solidFill>
                <a:latin typeface="Calibri"/>
              </a:rPr>
              <a:t>JSON · sonuç</a:t>
            </a:r>
          </a:p>
        </p:txBody>
      </p:sp>
      <p:cxnSp>
        <p:nvCxnSpPr>
          <p:cNvPr id="17" name="Connector 16"/>
          <p:cNvCxnSpPr/>
          <p:nvPr/>
        </p:nvCxnSpPr>
        <p:spPr>
          <a:xfrm flipH="1">
            <a:off x="5440680" y="4114800"/>
            <a:ext cx="1325880" cy="0"/>
          </a:xfrm>
          <a:prstGeom prst="bentConnector3">
            <a:avLst/>
          </a:prstGeom>
          <a:ln w="25400">
            <a:solidFill>
              <a:srgbClr val="0E6E76"/>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 y="5349240"/>
            <a:ext cx="10927080" cy="960120"/>
          </a:xfrm>
          <a:prstGeom prst="roundRect">
            <a:avLst/>
          </a:prstGeom>
          <a:solidFill>
            <a:srgbClr val="0F2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5440680"/>
            <a:ext cx="10561320" cy="320040"/>
          </a:xfrm>
          <a:prstGeom prst="rect">
            <a:avLst/>
          </a:prstGeom>
          <a:noFill/>
        </p:spPr>
        <p:txBody>
          <a:bodyPr wrap="square" anchor="t">
            <a:spAutoFit/>
          </a:bodyPr>
          <a:lstStyle/>
          <a:p>
            <a:pPr algn="l">
              <a:lnSpc>
                <a:spcPct val="115000"/>
              </a:lnSpc>
            </a:pPr>
            <a:r>
              <a:rPr sz="1300" b="1" i="0">
                <a:solidFill>
                  <a:srgbClr val="FFFFFF"/>
                </a:solidFill>
                <a:latin typeface="Calibri Light"/>
              </a:rPr>
              <a:t>REST API uç noktaları</a:t>
            </a:r>
          </a:p>
        </p:txBody>
      </p:sp>
      <p:sp>
        <p:nvSpPr>
          <p:cNvPr id="20" name="TextBox 19"/>
          <p:cNvSpPr txBox="1"/>
          <p:nvPr/>
        </p:nvSpPr>
        <p:spPr>
          <a:xfrm>
            <a:off x="822960" y="5760720"/>
            <a:ext cx="10561320" cy="457200"/>
          </a:xfrm>
          <a:prstGeom prst="rect">
            <a:avLst/>
          </a:prstGeom>
          <a:noFill/>
        </p:spPr>
        <p:txBody>
          <a:bodyPr wrap="square" anchor="t">
            <a:spAutoFit/>
          </a:bodyPr>
          <a:lstStyle/>
          <a:p>
            <a:pPr algn="l">
              <a:lnSpc>
                <a:spcPct val="115000"/>
              </a:lnSpc>
            </a:pPr>
            <a:r>
              <a:rPr sz="1400" b="0" i="0">
                <a:solidFill>
                  <a:srgbClr val="E0F2F4"/>
                </a:solidFill>
                <a:latin typeface="Cambria Math"/>
              </a:rPr>
              <a:t>POST /api/predict  ·  GET /api/health  ·  GET /api/membership-functions</a:t>
            </a:r>
          </a:p>
        </p:txBody>
      </p:sp>
      <p:sp>
        <p:nvSpPr>
          <p:cNvPr id="21" name="TextBox 20"/>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22" name="TextBox 21"/>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11 / 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Açıklanabilirlik</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Kararın 'kara kutu' olmaması için</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645920"/>
            <a:ext cx="3611880" cy="2286000"/>
          </a:xfrm>
          <a:prstGeom prst="roundRect">
            <a:avLst/>
          </a:prstGeom>
          <a:solidFill>
            <a:srgbClr val="FFFFFF"/>
          </a:solidFill>
          <a:ln w="9525">
            <a:solidFill>
              <a:srgbClr val="E539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45920"/>
            <a:ext cx="3611880" cy="457200"/>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691640"/>
            <a:ext cx="3611880" cy="365760"/>
          </a:xfrm>
          <a:prstGeom prst="rect">
            <a:avLst/>
          </a:prstGeom>
          <a:noFill/>
        </p:spPr>
        <p:txBody>
          <a:bodyPr wrap="square" anchor="t">
            <a:spAutoFit/>
          </a:bodyPr>
          <a:lstStyle/>
          <a:p>
            <a:pPr algn="ctr">
              <a:lnSpc>
                <a:spcPct val="115000"/>
              </a:lnSpc>
            </a:pPr>
            <a:r>
              <a:rPr sz="1500" b="1" i="0">
                <a:solidFill>
                  <a:srgbClr val="FFFFFF"/>
                </a:solidFill>
                <a:latin typeface="Calibri Light"/>
              </a:rPr>
              <a:t>Yüzde Çıkışı</a:t>
            </a:r>
          </a:p>
        </p:txBody>
      </p:sp>
      <p:sp>
        <p:nvSpPr>
          <p:cNvPr id="9" name="TextBox 8"/>
          <p:cNvSpPr txBox="1"/>
          <p:nvPr/>
        </p:nvSpPr>
        <p:spPr>
          <a:xfrm>
            <a:off x="822959" y="2240280"/>
            <a:ext cx="3246120" cy="822960"/>
          </a:xfrm>
          <a:prstGeom prst="rect">
            <a:avLst/>
          </a:prstGeom>
          <a:noFill/>
        </p:spPr>
        <p:txBody>
          <a:bodyPr wrap="square" anchor="t">
            <a:spAutoFit/>
          </a:bodyPr>
          <a:lstStyle/>
          <a:p>
            <a:pPr algn="ctr">
              <a:lnSpc>
                <a:spcPct val="140000"/>
              </a:lnSpc>
            </a:pPr>
            <a:r>
              <a:rPr sz="1200" b="0" i="0">
                <a:solidFill>
                  <a:srgbClr val="556570"/>
                </a:solidFill>
                <a:latin typeface="Calibri"/>
              </a:rPr>
              <a:t>0 – 100 arası</a:t>
            </a:r>
          </a:p>
          <a:p>
            <a:pPr algn="ctr">
              <a:lnSpc>
                <a:spcPct val="140000"/>
              </a:lnSpc>
            </a:pPr>
            <a:r>
              <a:rPr sz="1200" b="0" i="0">
                <a:solidFill>
                  <a:srgbClr val="556570"/>
                </a:solidFill>
                <a:latin typeface="Calibri"/>
              </a:rPr>
              <a:t>kanal gereklilik</a:t>
            </a:r>
          </a:p>
        </p:txBody>
      </p:sp>
      <p:sp>
        <p:nvSpPr>
          <p:cNvPr id="10" name="TextBox 9"/>
          <p:cNvSpPr txBox="1"/>
          <p:nvPr/>
        </p:nvSpPr>
        <p:spPr>
          <a:xfrm>
            <a:off x="822959" y="3063240"/>
            <a:ext cx="3246120" cy="822960"/>
          </a:xfrm>
          <a:prstGeom prst="rect">
            <a:avLst/>
          </a:prstGeom>
          <a:noFill/>
        </p:spPr>
        <p:txBody>
          <a:bodyPr wrap="square" anchor="t">
            <a:spAutoFit/>
          </a:bodyPr>
          <a:lstStyle/>
          <a:p>
            <a:pPr algn="ctr">
              <a:lnSpc>
                <a:spcPct val="115000"/>
              </a:lnSpc>
            </a:pPr>
            <a:r>
              <a:rPr sz="2200" b="1" i="0">
                <a:solidFill>
                  <a:srgbClr val="E53935"/>
                </a:solidFill>
                <a:latin typeface="Cambria Math"/>
              </a:rPr>
              <a:t>78,3 %</a:t>
            </a:r>
          </a:p>
        </p:txBody>
      </p:sp>
      <p:sp>
        <p:nvSpPr>
          <p:cNvPr id="11" name="Rounded Rectangle 10"/>
          <p:cNvSpPr/>
          <p:nvPr/>
        </p:nvSpPr>
        <p:spPr>
          <a:xfrm>
            <a:off x="4389120" y="1645920"/>
            <a:ext cx="3611880" cy="2286000"/>
          </a:xfrm>
          <a:prstGeom prst="roundRect">
            <a:avLst/>
          </a:prstGeom>
          <a:solidFill>
            <a:srgbClr val="FFFFFF"/>
          </a:solidFill>
          <a:ln w="9525">
            <a:solidFill>
              <a:srgbClr val="0E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645920"/>
            <a:ext cx="3611880" cy="457200"/>
          </a:xfrm>
          <a:prstGeom prst="rect">
            <a:avLst/>
          </a:prstGeom>
          <a:solidFill>
            <a:srgbClr val="0E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1691640"/>
            <a:ext cx="3611880" cy="365760"/>
          </a:xfrm>
          <a:prstGeom prst="rect">
            <a:avLst/>
          </a:prstGeom>
          <a:noFill/>
        </p:spPr>
        <p:txBody>
          <a:bodyPr wrap="square" anchor="t">
            <a:spAutoFit/>
          </a:bodyPr>
          <a:lstStyle/>
          <a:p>
            <a:pPr algn="ctr">
              <a:lnSpc>
                <a:spcPct val="115000"/>
              </a:lnSpc>
            </a:pPr>
            <a:r>
              <a:rPr sz="1500" b="1" i="0">
                <a:solidFill>
                  <a:srgbClr val="FFFFFF"/>
                </a:solidFill>
                <a:latin typeface="Calibri Light"/>
              </a:rPr>
              <a:t>Baskın Kural</a:t>
            </a:r>
          </a:p>
        </p:txBody>
      </p:sp>
      <p:sp>
        <p:nvSpPr>
          <p:cNvPr id="14" name="TextBox 13"/>
          <p:cNvSpPr txBox="1"/>
          <p:nvPr/>
        </p:nvSpPr>
        <p:spPr>
          <a:xfrm>
            <a:off x="4572000" y="2240280"/>
            <a:ext cx="3246120" cy="822960"/>
          </a:xfrm>
          <a:prstGeom prst="rect">
            <a:avLst/>
          </a:prstGeom>
          <a:noFill/>
        </p:spPr>
        <p:txBody>
          <a:bodyPr wrap="square" anchor="t">
            <a:spAutoFit/>
          </a:bodyPr>
          <a:lstStyle/>
          <a:p>
            <a:pPr algn="ctr">
              <a:lnSpc>
                <a:spcPct val="140000"/>
              </a:lnSpc>
            </a:pPr>
            <a:r>
              <a:rPr sz="1200" b="0" i="0">
                <a:solidFill>
                  <a:srgbClr val="556570"/>
                </a:solidFill>
                <a:latin typeface="Calibri"/>
              </a:rPr>
              <a:t>En yüksek w'lu kural</a:t>
            </a:r>
          </a:p>
          <a:p>
            <a:pPr algn="ctr">
              <a:lnSpc>
                <a:spcPct val="140000"/>
              </a:lnSpc>
            </a:pPr>
            <a:r>
              <a:rPr sz="1200" b="0" i="0">
                <a:solidFill>
                  <a:srgbClr val="556570"/>
                </a:solidFill>
                <a:latin typeface="Calibri"/>
              </a:rPr>
              <a:t>+ klinik açıklama</a:t>
            </a:r>
          </a:p>
        </p:txBody>
      </p:sp>
      <p:sp>
        <p:nvSpPr>
          <p:cNvPr id="15" name="TextBox 14"/>
          <p:cNvSpPr txBox="1"/>
          <p:nvPr/>
        </p:nvSpPr>
        <p:spPr>
          <a:xfrm>
            <a:off x="4572000" y="3063240"/>
            <a:ext cx="3246120" cy="822960"/>
          </a:xfrm>
          <a:prstGeom prst="rect">
            <a:avLst/>
          </a:prstGeom>
          <a:noFill/>
        </p:spPr>
        <p:txBody>
          <a:bodyPr wrap="square" anchor="t">
            <a:spAutoFit/>
          </a:bodyPr>
          <a:lstStyle/>
          <a:p>
            <a:pPr algn="ctr">
              <a:lnSpc>
                <a:spcPct val="115000"/>
              </a:lnSpc>
            </a:pPr>
            <a:r>
              <a:rPr sz="2200" b="1" i="0">
                <a:solidFill>
                  <a:srgbClr val="0E6E76"/>
                </a:solidFill>
                <a:latin typeface="Cambria Math"/>
              </a:rPr>
              <a:t>TACY-152</a:t>
            </a:r>
          </a:p>
          <a:p>
            <a:pPr algn="ctr">
              <a:lnSpc>
                <a:spcPct val="115000"/>
              </a:lnSpc>
            </a:pPr>
            <a:r>
              <a:rPr sz="2200" b="1" i="0">
                <a:solidFill>
                  <a:srgbClr val="0E6E76"/>
                </a:solidFill>
                <a:latin typeface="Cambria Math"/>
              </a:rPr>
              <a:t>w = 0,70</a:t>
            </a:r>
          </a:p>
        </p:txBody>
      </p:sp>
      <p:sp>
        <p:nvSpPr>
          <p:cNvPr id="16" name="Rounded Rectangle 15"/>
          <p:cNvSpPr/>
          <p:nvPr/>
        </p:nvSpPr>
        <p:spPr>
          <a:xfrm>
            <a:off x="8138160" y="1645920"/>
            <a:ext cx="3611880" cy="2286000"/>
          </a:xfrm>
          <a:prstGeom prst="roundRect">
            <a:avLst/>
          </a:prstGeom>
          <a:solidFill>
            <a:srgbClr val="FFFFFF"/>
          </a:solidFill>
          <a:ln w="9525">
            <a:solidFill>
              <a:srgbClr val="0F2D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38160" y="1645920"/>
            <a:ext cx="3611880" cy="457200"/>
          </a:xfrm>
          <a:prstGeom prst="rect">
            <a:avLst/>
          </a:prstGeom>
          <a:solidFill>
            <a:srgbClr val="0F2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0" y="1691640"/>
            <a:ext cx="3611880" cy="365760"/>
          </a:xfrm>
          <a:prstGeom prst="rect">
            <a:avLst/>
          </a:prstGeom>
          <a:noFill/>
        </p:spPr>
        <p:txBody>
          <a:bodyPr wrap="square" anchor="t">
            <a:spAutoFit/>
          </a:bodyPr>
          <a:lstStyle/>
          <a:p>
            <a:pPr algn="ctr">
              <a:lnSpc>
                <a:spcPct val="115000"/>
              </a:lnSpc>
            </a:pPr>
            <a:r>
              <a:rPr sz="1500" b="1" i="0">
                <a:solidFill>
                  <a:srgbClr val="FFFFFF"/>
                </a:solidFill>
                <a:latin typeface="Calibri Light"/>
              </a:rPr>
              <a:t>W-Ağırlıklı Dağılım</a:t>
            </a:r>
          </a:p>
        </p:txBody>
      </p:sp>
      <p:sp>
        <p:nvSpPr>
          <p:cNvPr id="19" name="TextBox 18"/>
          <p:cNvSpPr txBox="1"/>
          <p:nvPr/>
        </p:nvSpPr>
        <p:spPr>
          <a:xfrm>
            <a:off x="8321040" y="2240280"/>
            <a:ext cx="3246120" cy="822960"/>
          </a:xfrm>
          <a:prstGeom prst="rect">
            <a:avLst/>
          </a:prstGeom>
          <a:noFill/>
        </p:spPr>
        <p:txBody>
          <a:bodyPr wrap="square" anchor="t">
            <a:spAutoFit/>
          </a:bodyPr>
          <a:lstStyle/>
          <a:p>
            <a:pPr algn="ctr">
              <a:lnSpc>
                <a:spcPct val="140000"/>
              </a:lnSpc>
            </a:pPr>
            <a:r>
              <a:rPr sz="1200" b="0" i="0">
                <a:solidFill>
                  <a:srgbClr val="556570"/>
                </a:solidFill>
                <a:latin typeface="Calibri"/>
              </a:rPr>
              <a:t>Dolgu / Belirsiz / Kanal</a:t>
            </a:r>
          </a:p>
          <a:p>
            <a:pPr algn="ctr">
              <a:lnSpc>
                <a:spcPct val="140000"/>
              </a:lnSpc>
            </a:pPr>
            <a:r>
              <a:rPr sz="1200" b="0" i="0">
                <a:solidFill>
                  <a:srgbClr val="556570"/>
                </a:solidFill>
                <a:latin typeface="Calibri"/>
              </a:rPr>
              <a:t>ateşleme yüzdeleri</a:t>
            </a:r>
          </a:p>
        </p:txBody>
      </p:sp>
      <p:sp>
        <p:nvSpPr>
          <p:cNvPr id="20" name="TextBox 19"/>
          <p:cNvSpPr txBox="1"/>
          <p:nvPr/>
        </p:nvSpPr>
        <p:spPr>
          <a:xfrm>
            <a:off x="8321040" y="3063240"/>
            <a:ext cx="3246120" cy="822960"/>
          </a:xfrm>
          <a:prstGeom prst="rect">
            <a:avLst/>
          </a:prstGeom>
          <a:noFill/>
        </p:spPr>
        <p:txBody>
          <a:bodyPr wrap="square" anchor="t">
            <a:spAutoFit/>
          </a:bodyPr>
          <a:lstStyle/>
          <a:p>
            <a:pPr algn="ctr">
              <a:lnSpc>
                <a:spcPct val="115000"/>
              </a:lnSpc>
            </a:pPr>
            <a:r>
              <a:rPr sz="2200" b="1" i="0">
                <a:solidFill>
                  <a:srgbClr val="0F2D40"/>
                </a:solidFill>
                <a:latin typeface="Cambria Math"/>
              </a:rPr>
              <a:t>12 · 19 · 69</a:t>
            </a:r>
          </a:p>
        </p:txBody>
      </p:sp>
      <p:sp>
        <p:nvSpPr>
          <p:cNvPr id="21" name="TextBox 20"/>
          <p:cNvSpPr txBox="1"/>
          <p:nvPr/>
        </p:nvSpPr>
        <p:spPr>
          <a:xfrm>
            <a:off x="640080" y="4206240"/>
            <a:ext cx="10972800" cy="365760"/>
          </a:xfrm>
          <a:prstGeom prst="rect">
            <a:avLst/>
          </a:prstGeom>
          <a:noFill/>
        </p:spPr>
        <p:txBody>
          <a:bodyPr wrap="square" anchor="t">
            <a:spAutoFit/>
          </a:bodyPr>
          <a:lstStyle/>
          <a:p>
            <a:pPr algn="ctr">
              <a:lnSpc>
                <a:spcPct val="115000"/>
              </a:lnSpc>
            </a:pPr>
            <a:r>
              <a:rPr sz="1400" b="1" i="0">
                <a:solidFill>
                  <a:srgbClr val="0F2D40"/>
                </a:solidFill>
                <a:latin typeface="Calibri Light"/>
              </a:rPr>
              <a:t>W-ağırlıklı dağılım formülü</a:t>
            </a:r>
          </a:p>
        </p:txBody>
      </p:sp>
      <p:sp>
        <p:nvSpPr>
          <p:cNvPr id="22" name="TextBox 21"/>
          <p:cNvSpPr txBox="1"/>
          <p:nvPr/>
        </p:nvSpPr>
        <p:spPr>
          <a:xfrm>
            <a:off x="640080" y="4572000"/>
            <a:ext cx="10972800" cy="640080"/>
          </a:xfrm>
          <a:prstGeom prst="rect">
            <a:avLst/>
          </a:prstGeom>
          <a:noFill/>
        </p:spPr>
        <p:txBody>
          <a:bodyPr wrap="square">
            <a:spAutoFit/>
          </a:bodyPr>
          <a:lstStyle/>
          <a:p>
            <a:pPr algn="ctr"/>
            <a:r>
              <a:rPr sz="2200">
                <a:solidFill>
                  <a:srgbClr val="0E6E76"/>
                </a:solidFill>
                <a:latin typeface="Cambria Math"/>
              </a:rPr>
              <a:t>distribution_k  =  Σ(wᵢ : consequentᵢ = k)  /  Σ wᵢ  × 100</a:t>
            </a:r>
          </a:p>
        </p:txBody>
      </p:sp>
      <p:sp>
        <p:nvSpPr>
          <p:cNvPr id="23" name="Rounded Rectangle 22"/>
          <p:cNvSpPr/>
          <p:nvPr/>
        </p:nvSpPr>
        <p:spPr>
          <a:xfrm>
            <a:off x="640080" y="5486400"/>
            <a:ext cx="10927080" cy="777240"/>
          </a:xfrm>
          <a:prstGeom prst="roundRect">
            <a:avLst/>
          </a:prstGeom>
          <a:solidFill>
            <a:srgbClr val="E0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577840"/>
            <a:ext cx="10561320" cy="594360"/>
          </a:xfrm>
          <a:prstGeom prst="rect">
            <a:avLst/>
          </a:prstGeom>
          <a:noFill/>
        </p:spPr>
        <p:txBody>
          <a:bodyPr wrap="square" anchor="t">
            <a:spAutoFit/>
          </a:bodyPr>
          <a:lstStyle/>
          <a:p>
            <a:pPr algn="ctr">
              <a:lnSpc>
                <a:spcPct val="140000"/>
              </a:lnSpc>
            </a:pPr>
            <a:r>
              <a:rPr sz="1300" b="0" i="1">
                <a:solidFill>
                  <a:srgbClr val="0F2D40"/>
                </a:solidFill>
                <a:latin typeface="Calibri"/>
              </a:rPr>
              <a:t>Hekim sadece sonucu değil; hangi kuralın baskın olduğunu ve</a:t>
            </a:r>
          </a:p>
          <a:p>
            <a:pPr algn="ctr">
              <a:lnSpc>
                <a:spcPct val="140000"/>
              </a:lnSpc>
            </a:pPr>
            <a:r>
              <a:rPr sz="1300" b="0" i="1">
                <a:solidFill>
                  <a:srgbClr val="0F2D40"/>
                </a:solidFill>
                <a:latin typeface="Calibri"/>
              </a:rPr>
              <a:t>kararın hangi yönden geldiğini görür. Bu klinik kabul için kritiktir.</a:t>
            </a:r>
          </a:p>
        </p:txBody>
      </p:sp>
      <p:sp>
        <p:nvSpPr>
          <p:cNvPr id="25" name="TextBox 24"/>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26" name="TextBox 25"/>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12 / 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square" anchor="t">
            <a:spAutoFit/>
          </a:bodyPr>
          <a:lstStyle/>
          <a:p>
            <a:pPr algn="l">
              <a:lnSpc>
                <a:spcPct val="115000"/>
              </a:lnSpc>
            </a:pPr>
            <a:r>
              <a:rPr sz="2800" b="1" i="0">
                <a:solidFill>
                  <a:srgbClr val="0F2D40"/>
                </a:solidFill>
                <a:latin typeface="Calibri Light"/>
              </a:rPr>
              <a:t>Sonuç ve Sınırlılıklar</a:t>
            </a:r>
          </a:p>
        </p:txBody>
      </p:sp>
      <p:sp>
        <p:nvSpPr>
          <p:cNvPr id="4" name="TextBox 3"/>
          <p:cNvSpPr txBox="1"/>
          <p:nvPr/>
        </p:nvSpPr>
        <p:spPr>
          <a:xfrm>
            <a:off x="548640" y="777240"/>
            <a:ext cx="10972800" cy="365760"/>
          </a:xfrm>
          <a:prstGeom prst="rect">
            <a:avLst/>
          </a:prstGeom>
          <a:noFill/>
        </p:spPr>
        <p:txBody>
          <a:bodyPr wrap="square" anchor="t">
            <a:spAutoFit/>
          </a:bodyPr>
          <a:lstStyle/>
          <a:p>
            <a:pPr algn="l">
              <a:lnSpc>
                <a:spcPct val="115000"/>
              </a:lnSpc>
            </a:pPr>
            <a:r>
              <a:rPr sz="1400" b="0" i="1">
                <a:solidFill>
                  <a:srgbClr val="556570"/>
                </a:solidFill>
                <a:latin typeface="Calibri"/>
              </a:rPr>
              <a:t>Ne başardık, ne yapmadık</a:t>
            </a:r>
          </a:p>
        </p:txBody>
      </p:sp>
      <p:sp>
        <p:nvSpPr>
          <p:cNvPr id="5" name="Rectangle 4"/>
          <p:cNvSpPr/>
          <p:nvPr/>
        </p:nvSpPr>
        <p:spPr>
          <a:xfrm>
            <a:off x="548640" y="1188720"/>
            <a:ext cx="1097280" cy="36576"/>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54480"/>
            <a:ext cx="5303520" cy="4572000"/>
          </a:xfrm>
          <a:prstGeom prst="roundRect">
            <a:avLst/>
          </a:prstGeom>
          <a:solidFill>
            <a:srgbClr val="E0F2F4"/>
          </a:solidFill>
          <a:ln w="9525">
            <a:solidFill>
              <a:srgbClr val="1491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54480"/>
            <a:ext cx="5303520" cy="502920"/>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600200"/>
            <a:ext cx="5303520" cy="411480"/>
          </a:xfrm>
          <a:prstGeom prst="rect">
            <a:avLst/>
          </a:prstGeom>
          <a:noFill/>
        </p:spPr>
        <p:txBody>
          <a:bodyPr wrap="square" anchor="t">
            <a:spAutoFit/>
          </a:bodyPr>
          <a:lstStyle/>
          <a:p>
            <a:pPr algn="ctr">
              <a:lnSpc>
                <a:spcPct val="115000"/>
              </a:lnSpc>
            </a:pPr>
            <a:r>
              <a:rPr sz="1600" b="1" i="0">
                <a:solidFill>
                  <a:srgbClr val="FFFFFF"/>
                </a:solidFill>
                <a:latin typeface="Calibri Light"/>
              </a:rPr>
              <a:t>✓  ÇIKTILAR</a:t>
            </a:r>
          </a:p>
        </p:txBody>
      </p:sp>
      <p:sp>
        <p:nvSpPr>
          <p:cNvPr id="9" name="TextBox 8"/>
          <p:cNvSpPr txBox="1"/>
          <p:nvPr/>
        </p:nvSpPr>
        <p:spPr>
          <a:xfrm>
            <a:off x="914400" y="2194560"/>
            <a:ext cx="4754880" cy="2778902"/>
          </a:xfrm>
          <a:prstGeom prst="rect">
            <a:avLst/>
          </a:prstGeom>
          <a:noFill/>
        </p:spPr>
        <p:txBody>
          <a:bodyPr wrap="square" anchor="t">
            <a:spAutoFit/>
          </a:bodyPr>
          <a:lstStyle/>
          <a:p>
            <a:pPr algn="l">
              <a:lnSpc>
                <a:spcPct val="140000"/>
              </a:lnSpc>
            </a:pPr>
            <a:r>
              <a:rPr sz="1400" b="0" i="0" dirty="0">
                <a:solidFill>
                  <a:srgbClr val="0F2D40"/>
                </a:solidFill>
                <a:latin typeface="Calibri"/>
              </a:rPr>
              <a:t>• Mamdani </a:t>
            </a:r>
            <a:r>
              <a:rPr sz="1400" b="0" i="0" dirty="0" err="1">
                <a:solidFill>
                  <a:srgbClr val="0F2D40"/>
                </a:solidFill>
                <a:latin typeface="Calibri"/>
              </a:rPr>
              <a:t>tabanlı</a:t>
            </a:r>
            <a:r>
              <a:rPr sz="1400" b="0" i="0" dirty="0">
                <a:solidFill>
                  <a:srgbClr val="0F2D40"/>
                </a:solidFill>
                <a:latin typeface="Calibri"/>
              </a:rPr>
              <a:t> </a:t>
            </a:r>
            <a:r>
              <a:rPr sz="1400" b="0" i="0" dirty="0" err="1">
                <a:solidFill>
                  <a:srgbClr val="0F2D40"/>
                </a:solidFill>
                <a:latin typeface="Calibri"/>
              </a:rPr>
              <a:t>çalışan</a:t>
            </a:r>
            <a:r>
              <a:rPr sz="1400" b="0" i="0" dirty="0">
                <a:solidFill>
                  <a:srgbClr val="0F2D40"/>
                </a:solidFill>
                <a:latin typeface="Calibri"/>
              </a:rPr>
              <a:t> KDDS</a:t>
            </a:r>
          </a:p>
          <a:p>
            <a:pPr algn="l">
              <a:lnSpc>
                <a:spcPct val="140000"/>
              </a:lnSpc>
            </a:pPr>
            <a:endParaRPr sz="1400" b="0" i="0" dirty="0">
              <a:solidFill>
                <a:srgbClr val="0F2D40"/>
              </a:solidFill>
              <a:latin typeface="Calibri"/>
            </a:endParaRPr>
          </a:p>
          <a:p>
            <a:pPr algn="l">
              <a:lnSpc>
                <a:spcPct val="140000"/>
              </a:lnSpc>
            </a:pPr>
            <a:r>
              <a:rPr sz="1400" b="0" i="0" dirty="0">
                <a:solidFill>
                  <a:srgbClr val="0F2D40"/>
                </a:solidFill>
                <a:latin typeface="Calibri"/>
              </a:rPr>
              <a:t>• 240 </a:t>
            </a:r>
            <a:r>
              <a:rPr sz="1400" b="0" i="0" dirty="0" err="1">
                <a:solidFill>
                  <a:srgbClr val="0F2D40"/>
                </a:solidFill>
                <a:latin typeface="Calibri"/>
              </a:rPr>
              <a:t>aktif</a:t>
            </a:r>
            <a:r>
              <a:rPr sz="1400" b="0" i="0" dirty="0">
                <a:solidFill>
                  <a:srgbClr val="0F2D40"/>
                </a:solidFill>
                <a:latin typeface="Calibri"/>
              </a:rPr>
              <a:t> </a:t>
            </a:r>
            <a:r>
              <a:rPr sz="1400" b="0" i="0" dirty="0" err="1">
                <a:solidFill>
                  <a:srgbClr val="0F2D40"/>
                </a:solidFill>
                <a:latin typeface="Calibri"/>
              </a:rPr>
              <a:t>dörtlü</a:t>
            </a:r>
            <a:r>
              <a:rPr sz="1400" b="0" i="0" dirty="0">
                <a:solidFill>
                  <a:srgbClr val="0F2D40"/>
                </a:solidFill>
                <a:latin typeface="Calibri"/>
              </a:rPr>
              <a:t> </a:t>
            </a:r>
            <a:r>
              <a:rPr sz="1400" b="0" i="0" dirty="0" err="1">
                <a:solidFill>
                  <a:srgbClr val="0F2D40"/>
                </a:solidFill>
                <a:latin typeface="Calibri"/>
              </a:rPr>
              <a:t>kural</a:t>
            </a:r>
            <a:endParaRPr sz="1400" b="0" i="0" dirty="0">
              <a:solidFill>
                <a:srgbClr val="0F2D40"/>
              </a:solidFill>
              <a:latin typeface="Calibri"/>
            </a:endParaRPr>
          </a:p>
          <a:p>
            <a:pPr algn="l">
              <a:lnSpc>
                <a:spcPct val="140000"/>
              </a:lnSpc>
            </a:pPr>
            <a:endParaRPr sz="1400" b="0" i="0" dirty="0">
              <a:solidFill>
                <a:srgbClr val="0F2D40"/>
              </a:solidFill>
              <a:latin typeface="Calibri"/>
            </a:endParaRPr>
          </a:p>
          <a:p>
            <a:pPr algn="l">
              <a:lnSpc>
                <a:spcPct val="140000"/>
              </a:lnSpc>
            </a:pPr>
            <a:r>
              <a:rPr sz="1400" b="0" i="0" dirty="0">
                <a:solidFill>
                  <a:srgbClr val="0F2D40"/>
                </a:solidFill>
                <a:latin typeface="Calibri"/>
              </a:rPr>
              <a:t>• Klinik </a:t>
            </a:r>
            <a:r>
              <a:rPr sz="1400" b="0" i="0" dirty="0" err="1">
                <a:solidFill>
                  <a:srgbClr val="0F2D40"/>
                </a:solidFill>
                <a:latin typeface="Calibri"/>
              </a:rPr>
              <a:t>literatürle</a:t>
            </a:r>
            <a:r>
              <a:rPr sz="1400" b="0" i="0" dirty="0">
                <a:solidFill>
                  <a:srgbClr val="0F2D40"/>
                </a:solidFill>
                <a:latin typeface="Calibri"/>
              </a:rPr>
              <a:t> </a:t>
            </a:r>
            <a:r>
              <a:rPr sz="1400" b="0" i="0" dirty="0" err="1">
                <a:solidFill>
                  <a:srgbClr val="0F2D40"/>
                </a:solidFill>
                <a:latin typeface="Calibri"/>
              </a:rPr>
              <a:t>uyumlu</a:t>
            </a:r>
            <a:r>
              <a:rPr lang="tr-TR" sz="1400" b="0" i="0" dirty="0">
                <a:solidFill>
                  <a:srgbClr val="0F2D40"/>
                </a:solidFill>
                <a:latin typeface="Calibri"/>
              </a:rPr>
              <a:t> </a:t>
            </a:r>
            <a:r>
              <a:rPr sz="1400" b="0" i="0" dirty="0" err="1">
                <a:solidFill>
                  <a:srgbClr val="0F2D40"/>
                </a:solidFill>
                <a:latin typeface="Calibri"/>
              </a:rPr>
              <a:t>üyelik</a:t>
            </a:r>
            <a:r>
              <a:rPr sz="1400" b="0" i="0" dirty="0">
                <a:solidFill>
                  <a:srgbClr val="0F2D40"/>
                </a:solidFill>
                <a:latin typeface="Calibri"/>
              </a:rPr>
              <a:t> </a:t>
            </a:r>
            <a:r>
              <a:rPr sz="1400" b="0" i="0" dirty="0" err="1">
                <a:solidFill>
                  <a:srgbClr val="0F2D40"/>
                </a:solidFill>
                <a:latin typeface="Calibri"/>
              </a:rPr>
              <a:t>fonksiyonları</a:t>
            </a:r>
            <a:endParaRPr sz="1400" b="0" i="0" dirty="0">
              <a:solidFill>
                <a:srgbClr val="0F2D40"/>
              </a:solidFill>
              <a:latin typeface="Calibri"/>
            </a:endParaRPr>
          </a:p>
          <a:p>
            <a:pPr algn="l">
              <a:lnSpc>
                <a:spcPct val="140000"/>
              </a:lnSpc>
            </a:pPr>
            <a:endParaRPr sz="1400" b="0" i="0" dirty="0">
              <a:solidFill>
                <a:srgbClr val="0F2D40"/>
              </a:solidFill>
              <a:latin typeface="Calibri"/>
            </a:endParaRPr>
          </a:p>
          <a:p>
            <a:pPr algn="l">
              <a:lnSpc>
                <a:spcPct val="140000"/>
              </a:lnSpc>
            </a:pPr>
            <a:r>
              <a:rPr sz="1400" b="0" i="0" dirty="0">
                <a:solidFill>
                  <a:srgbClr val="0F2D40"/>
                </a:solidFill>
                <a:latin typeface="Calibri"/>
              </a:rPr>
              <a:t>• </a:t>
            </a:r>
            <a:r>
              <a:rPr sz="1400" b="0" i="0" dirty="0" err="1">
                <a:solidFill>
                  <a:srgbClr val="0F2D40"/>
                </a:solidFill>
                <a:latin typeface="Calibri"/>
              </a:rPr>
              <a:t>Açıklanabilir</a:t>
            </a:r>
            <a:r>
              <a:rPr sz="1400" b="0" i="0" dirty="0">
                <a:solidFill>
                  <a:srgbClr val="0F2D40"/>
                </a:solidFill>
                <a:latin typeface="Calibri"/>
              </a:rPr>
              <a:t> </a:t>
            </a:r>
            <a:r>
              <a:rPr sz="1400" b="0" i="0" dirty="0" err="1">
                <a:solidFill>
                  <a:srgbClr val="0F2D40"/>
                </a:solidFill>
                <a:latin typeface="Calibri"/>
              </a:rPr>
              <a:t>çıktı</a:t>
            </a:r>
            <a:r>
              <a:rPr sz="1400" b="0" i="0" dirty="0">
                <a:solidFill>
                  <a:srgbClr val="0F2D40"/>
                </a:solidFill>
                <a:latin typeface="Calibri"/>
              </a:rPr>
              <a:t>: </a:t>
            </a:r>
            <a:r>
              <a:rPr sz="1400" b="0" i="0" dirty="0" err="1">
                <a:solidFill>
                  <a:srgbClr val="0F2D40"/>
                </a:solidFill>
                <a:latin typeface="Calibri"/>
              </a:rPr>
              <a:t>baskın</a:t>
            </a:r>
            <a:r>
              <a:rPr sz="1400" b="0" i="0" dirty="0">
                <a:solidFill>
                  <a:srgbClr val="0F2D40"/>
                </a:solidFill>
                <a:latin typeface="Calibri"/>
              </a:rPr>
              <a:t> </a:t>
            </a:r>
            <a:r>
              <a:rPr sz="1400" b="0" i="0" dirty="0" err="1">
                <a:solidFill>
                  <a:srgbClr val="0F2D40"/>
                </a:solidFill>
                <a:latin typeface="Calibri"/>
              </a:rPr>
              <a:t>kural</a:t>
            </a:r>
            <a:r>
              <a:rPr sz="1400" b="0" i="0" dirty="0">
                <a:solidFill>
                  <a:srgbClr val="0F2D40"/>
                </a:solidFill>
                <a:latin typeface="Calibri"/>
              </a:rPr>
              <a:t> + </a:t>
            </a:r>
            <a:r>
              <a:rPr sz="1400" b="0" i="0" dirty="0" err="1">
                <a:solidFill>
                  <a:srgbClr val="0F2D40"/>
                </a:solidFill>
                <a:latin typeface="Calibri"/>
              </a:rPr>
              <a:t>dağılım</a:t>
            </a:r>
            <a:endParaRPr sz="1400" b="0" i="0" dirty="0">
              <a:solidFill>
                <a:srgbClr val="0F2D40"/>
              </a:solidFill>
              <a:latin typeface="Calibri"/>
            </a:endParaRPr>
          </a:p>
          <a:p>
            <a:pPr algn="l">
              <a:lnSpc>
                <a:spcPct val="140000"/>
              </a:lnSpc>
            </a:pPr>
            <a:endParaRPr sz="1400" b="0" i="0" dirty="0">
              <a:solidFill>
                <a:srgbClr val="0F2D40"/>
              </a:solidFill>
              <a:latin typeface="Calibri"/>
            </a:endParaRPr>
          </a:p>
          <a:p>
            <a:pPr algn="l">
              <a:lnSpc>
                <a:spcPct val="140000"/>
              </a:lnSpc>
            </a:pPr>
            <a:r>
              <a:rPr sz="1400" b="0" i="0" dirty="0">
                <a:solidFill>
                  <a:srgbClr val="0F2D40"/>
                </a:solidFill>
                <a:latin typeface="Calibri"/>
              </a:rPr>
              <a:t>• Tam </a:t>
            </a:r>
            <a:r>
              <a:rPr sz="1400" b="0" i="0" dirty="0" err="1">
                <a:solidFill>
                  <a:srgbClr val="0F2D40"/>
                </a:solidFill>
                <a:latin typeface="Calibri"/>
              </a:rPr>
              <a:t>yığın</a:t>
            </a:r>
            <a:r>
              <a:rPr sz="1400" b="0" i="0" dirty="0">
                <a:solidFill>
                  <a:srgbClr val="0F2D40"/>
                </a:solidFill>
                <a:latin typeface="Calibri"/>
              </a:rPr>
              <a:t> web </a:t>
            </a:r>
            <a:r>
              <a:rPr sz="1400" b="0" i="0" dirty="0" err="1">
                <a:solidFill>
                  <a:srgbClr val="0F2D40"/>
                </a:solidFill>
                <a:latin typeface="Calibri"/>
              </a:rPr>
              <a:t>uygulaması</a:t>
            </a:r>
            <a:r>
              <a:rPr lang="tr-TR" sz="1400" b="0" i="0" dirty="0">
                <a:solidFill>
                  <a:srgbClr val="0F2D40"/>
                </a:solidFill>
                <a:latin typeface="Calibri"/>
              </a:rPr>
              <a:t> </a:t>
            </a:r>
            <a:r>
              <a:rPr sz="1400" b="0" i="0" dirty="0">
                <a:solidFill>
                  <a:srgbClr val="0F2D40"/>
                </a:solidFill>
                <a:latin typeface="Calibri"/>
              </a:rPr>
              <a:t>(Next.js + </a:t>
            </a:r>
            <a:r>
              <a:rPr sz="1400" b="0" i="0" dirty="0" err="1">
                <a:solidFill>
                  <a:srgbClr val="0F2D40"/>
                </a:solidFill>
                <a:latin typeface="Calibri"/>
              </a:rPr>
              <a:t>FastAPI</a:t>
            </a:r>
            <a:r>
              <a:rPr sz="1400" b="0" i="0" dirty="0">
                <a:solidFill>
                  <a:srgbClr val="0F2D40"/>
                </a:solidFill>
                <a:latin typeface="Calibri"/>
              </a:rPr>
              <a:t>)</a:t>
            </a:r>
          </a:p>
        </p:txBody>
      </p:sp>
      <p:sp>
        <p:nvSpPr>
          <p:cNvPr id="10" name="Rounded Rectangle 9"/>
          <p:cNvSpPr/>
          <p:nvPr/>
        </p:nvSpPr>
        <p:spPr>
          <a:xfrm>
            <a:off x="6263640" y="1554480"/>
            <a:ext cx="5303520" cy="4572000"/>
          </a:xfrm>
          <a:prstGeom prst="roundRect">
            <a:avLst/>
          </a:prstGeom>
          <a:solidFill>
            <a:srgbClr val="FFFFFF"/>
          </a:solidFill>
          <a:ln w="9525">
            <a:solidFill>
              <a:srgbClr val="5565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554480"/>
            <a:ext cx="5303520" cy="502920"/>
          </a:xfrm>
          <a:prstGeom prst="rect">
            <a:avLst/>
          </a:prstGeom>
          <a:solidFill>
            <a:srgbClr val="55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600200"/>
            <a:ext cx="5303520" cy="411480"/>
          </a:xfrm>
          <a:prstGeom prst="rect">
            <a:avLst/>
          </a:prstGeom>
          <a:noFill/>
        </p:spPr>
        <p:txBody>
          <a:bodyPr wrap="square" anchor="t">
            <a:spAutoFit/>
          </a:bodyPr>
          <a:lstStyle/>
          <a:p>
            <a:pPr algn="ctr">
              <a:lnSpc>
                <a:spcPct val="115000"/>
              </a:lnSpc>
            </a:pPr>
            <a:r>
              <a:rPr sz="1600" b="1" i="0">
                <a:solidFill>
                  <a:srgbClr val="FFFFFF"/>
                </a:solidFill>
                <a:latin typeface="Calibri Light"/>
              </a:rPr>
              <a:t>!  SINIRLILIKLAR</a:t>
            </a:r>
          </a:p>
        </p:txBody>
      </p:sp>
      <p:sp>
        <p:nvSpPr>
          <p:cNvPr id="13" name="TextBox 12"/>
          <p:cNvSpPr txBox="1"/>
          <p:nvPr/>
        </p:nvSpPr>
        <p:spPr>
          <a:xfrm>
            <a:off x="6537960" y="2194560"/>
            <a:ext cx="4754880" cy="2586990"/>
          </a:xfrm>
          <a:prstGeom prst="rect">
            <a:avLst/>
          </a:prstGeom>
          <a:noFill/>
        </p:spPr>
        <p:txBody>
          <a:bodyPr wrap="square" anchor="t">
            <a:spAutoFit/>
          </a:bodyPr>
          <a:lstStyle/>
          <a:p>
            <a:pPr algn="l">
              <a:lnSpc>
                <a:spcPct val="140000"/>
              </a:lnSpc>
            </a:pPr>
            <a:r>
              <a:rPr sz="1300" b="0" i="0" dirty="0">
                <a:solidFill>
                  <a:srgbClr val="0F2D40"/>
                </a:solidFill>
                <a:latin typeface="Calibri"/>
              </a:rPr>
              <a:t>• Karar </a:t>
            </a:r>
            <a:r>
              <a:rPr sz="1300" b="0" i="0" dirty="0" err="1">
                <a:solidFill>
                  <a:srgbClr val="0F2D40"/>
                </a:solidFill>
                <a:latin typeface="Calibri"/>
              </a:rPr>
              <a:t>destek</a:t>
            </a:r>
            <a:r>
              <a:rPr sz="1300" b="0" i="0" dirty="0">
                <a:solidFill>
                  <a:srgbClr val="0F2D40"/>
                </a:solidFill>
                <a:latin typeface="Calibri"/>
              </a:rPr>
              <a:t> </a:t>
            </a:r>
            <a:r>
              <a:rPr sz="1300" b="0" i="0" dirty="0" err="1">
                <a:solidFill>
                  <a:srgbClr val="0F2D40"/>
                </a:solidFill>
                <a:latin typeface="Calibri"/>
              </a:rPr>
              <a:t>aracıdır</a:t>
            </a:r>
            <a:r>
              <a:rPr sz="1300" b="0" i="0" dirty="0">
                <a:solidFill>
                  <a:srgbClr val="0F2D40"/>
                </a:solidFill>
                <a:latin typeface="Calibri"/>
              </a:rPr>
              <a:t>,</a:t>
            </a:r>
            <a:r>
              <a:rPr lang="tr-TR" sz="1300" b="0" i="0" dirty="0">
                <a:solidFill>
                  <a:srgbClr val="0F2D40"/>
                </a:solidFill>
                <a:latin typeface="Calibri"/>
              </a:rPr>
              <a:t> </a:t>
            </a:r>
            <a:r>
              <a:rPr sz="1300" b="0" i="0" dirty="0" err="1">
                <a:solidFill>
                  <a:srgbClr val="0F2D40"/>
                </a:solidFill>
                <a:latin typeface="Calibri"/>
              </a:rPr>
              <a:t>tanı</a:t>
            </a:r>
            <a:r>
              <a:rPr sz="1300" b="0" i="0" dirty="0">
                <a:solidFill>
                  <a:srgbClr val="0F2D40"/>
                </a:solidFill>
                <a:latin typeface="Calibri"/>
              </a:rPr>
              <a:t> </a:t>
            </a:r>
            <a:r>
              <a:rPr sz="1300" b="0" i="0" dirty="0" err="1">
                <a:solidFill>
                  <a:srgbClr val="0F2D40"/>
                </a:solidFill>
                <a:latin typeface="Calibri"/>
              </a:rPr>
              <a:t>koymaz</a:t>
            </a:r>
            <a:endParaRPr sz="1300" b="0" i="0" dirty="0">
              <a:solidFill>
                <a:srgbClr val="0F2D40"/>
              </a:solidFill>
              <a:latin typeface="Calibri"/>
            </a:endParaRPr>
          </a:p>
          <a:p>
            <a:pPr algn="l">
              <a:lnSpc>
                <a:spcPct val="140000"/>
              </a:lnSpc>
            </a:pPr>
            <a:endParaRPr sz="1300" b="0" i="0" dirty="0">
              <a:solidFill>
                <a:srgbClr val="0F2D40"/>
              </a:solidFill>
              <a:latin typeface="Calibri"/>
            </a:endParaRPr>
          </a:p>
          <a:p>
            <a:pPr algn="l">
              <a:lnSpc>
                <a:spcPct val="140000"/>
              </a:lnSpc>
            </a:pPr>
            <a:r>
              <a:rPr sz="1300" b="0" i="0" dirty="0">
                <a:solidFill>
                  <a:srgbClr val="0F2D40"/>
                </a:solidFill>
                <a:latin typeface="Calibri"/>
              </a:rPr>
              <a:t>• </a:t>
            </a:r>
            <a:r>
              <a:rPr sz="1300" b="0" i="0" dirty="0" err="1">
                <a:solidFill>
                  <a:srgbClr val="0F2D40"/>
                </a:solidFill>
                <a:latin typeface="Calibri"/>
              </a:rPr>
              <a:t>Radyografi</a:t>
            </a:r>
            <a:r>
              <a:rPr sz="1300" b="0" i="0" dirty="0">
                <a:solidFill>
                  <a:srgbClr val="0F2D40"/>
                </a:solidFill>
                <a:latin typeface="Calibri"/>
              </a:rPr>
              <a:t> / </a:t>
            </a:r>
            <a:r>
              <a:rPr sz="1300" b="0" i="0" dirty="0" err="1">
                <a:solidFill>
                  <a:srgbClr val="0F2D40"/>
                </a:solidFill>
                <a:latin typeface="Calibri"/>
              </a:rPr>
              <a:t>vitalite</a:t>
            </a:r>
            <a:r>
              <a:rPr sz="1300" b="0" i="0" dirty="0">
                <a:solidFill>
                  <a:srgbClr val="0F2D40"/>
                </a:solidFill>
                <a:latin typeface="Calibri"/>
              </a:rPr>
              <a:t> </a:t>
            </a:r>
            <a:r>
              <a:rPr sz="1300" b="0" i="0" dirty="0" err="1">
                <a:solidFill>
                  <a:srgbClr val="0F2D40"/>
                </a:solidFill>
                <a:latin typeface="Calibri"/>
              </a:rPr>
              <a:t>testi</a:t>
            </a:r>
            <a:r>
              <a:rPr lang="tr-TR" sz="1300" b="0" i="0" dirty="0">
                <a:solidFill>
                  <a:srgbClr val="0F2D40"/>
                </a:solidFill>
                <a:latin typeface="Calibri"/>
              </a:rPr>
              <a:t> </a:t>
            </a:r>
            <a:r>
              <a:rPr sz="1300" b="0" i="0" dirty="0" err="1">
                <a:solidFill>
                  <a:srgbClr val="0F2D40"/>
                </a:solidFill>
                <a:latin typeface="Calibri"/>
              </a:rPr>
              <a:t>yorumunu</a:t>
            </a:r>
            <a:r>
              <a:rPr sz="1300" b="0" i="0" dirty="0">
                <a:solidFill>
                  <a:srgbClr val="0F2D40"/>
                </a:solidFill>
                <a:latin typeface="Calibri"/>
              </a:rPr>
              <a:t> </a:t>
            </a:r>
            <a:r>
              <a:rPr sz="1300" b="0" i="0" dirty="0" err="1">
                <a:solidFill>
                  <a:srgbClr val="0F2D40"/>
                </a:solidFill>
                <a:latin typeface="Calibri"/>
              </a:rPr>
              <a:t>otomatize</a:t>
            </a:r>
            <a:r>
              <a:rPr sz="1300" b="0" i="0" dirty="0">
                <a:solidFill>
                  <a:srgbClr val="0F2D40"/>
                </a:solidFill>
                <a:latin typeface="Calibri"/>
              </a:rPr>
              <a:t> </a:t>
            </a:r>
            <a:r>
              <a:rPr sz="1300" b="0" i="0" dirty="0" err="1">
                <a:solidFill>
                  <a:srgbClr val="0F2D40"/>
                </a:solidFill>
                <a:latin typeface="Calibri"/>
              </a:rPr>
              <a:t>etmez</a:t>
            </a:r>
            <a:endParaRPr sz="1300" b="0" i="0" dirty="0">
              <a:solidFill>
                <a:srgbClr val="0F2D40"/>
              </a:solidFill>
              <a:latin typeface="Calibri"/>
            </a:endParaRPr>
          </a:p>
          <a:p>
            <a:pPr algn="l">
              <a:lnSpc>
                <a:spcPct val="140000"/>
              </a:lnSpc>
            </a:pPr>
            <a:endParaRPr sz="1300" b="0" i="0" dirty="0">
              <a:solidFill>
                <a:srgbClr val="0F2D40"/>
              </a:solidFill>
              <a:latin typeface="Calibri"/>
            </a:endParaRPr>
          </a:p>
          <a:p>
            <a:pPr algn="l">
              <a:lnSpc>
                <a:spcPct val="140000"/>
              </a:lnSpc>
            </a:pPr>
            <a:r>
              <a:rPr sz="1300" b="0" i="0" dirty="0">
                <a:solidFill>
                  <a:srgbClr val="0F2D40"/>
                </a:solidFill>
                <a:latin typeface="Calibri"/>
              </a:rPr>
              <a:t>• </a:t>
            </a:r>
            <a:r>
              <a:rPr sz="1300" b="0" i="0" dirty="0" err="1">
                <a:solidFill>
                  <a:srgbClr val="0F2D40"/>
                </a:solidFill>
                <a:latin typeface="Calibri"/>
              </a:rPr>
              <a:t>Sistemik</a:t>
            </a:r>
            <a:r>
              <a:rPr sz="1300" b="0" i="0" dirty="0">
                <a:solidFill>
                  <a:srgbClr val="0F2D40"/>
                </a:solidFill>
                <a:latin typeface="Calibri"/>
              </a:rPr>
              <a:t> </a:t>
            </a:r>
            <a:r>
              <a:rPr sz="1300" b="0" i="0" dirty="0" err="1">
                <a:solidFill>
                  <a:srgbClr val="0F2D40"/>
                </a:solidFill>
                <a:latin typeface="Calibri"/>
              </a:rPr>
              <a:t>hastalıklar</a:t>
            </a:r>
            <a:r>
              <a:rPr lang="tr-TR" sz="1300" b="0" i="0" dirty="0">
                <a:solidFill>
                  <a:srgbClr val="0F2D40"/>
                </a:solidFill>
                <a:latin typeface="Calibri"/>
              </a:rPr>
              <a:t> </a:t>
            </a:r>
            <a:r>
              <a:rPr sz="1300" b="0" i="0" dirty="0">
                <a:solidFill>
                  <a:srgbClr val="0F2D40"/>
                </a:solidFill>
                <a:latin typeface="Calibri"/>
              </a:rPr>
              <a:t>(</a:t>
            </a:r>
            <a:r>
              <a:rPr sz="1300" b="0" i="0" dirty="0" err="1">
                <a:solidFill>
                  <a:srgbClr val="0F2D40"/>
                </a:solidFill>
                <a:latin typeface="Calibri"/>
              </a:rPr>
              <a:t>diyabet</a:t>
            </a:r>
            <a:r>
              <a:rPr sz="1300" b="0" i="0" dirty="0">
                <a:solidFill>
                  <a:srgbClr val="0F2D40"/>
                </a:solidFill>
                <a:latin typeface="Calibri"/>
              </a:rPr>
              <a:t>, </a:t>
            </a:r>
            <a:r>
              <a:rPr sz="1300" b="0" i="0" dirty="0" err="1">
                <a:solidFill>
                  <a:srgbClr val="0F2D40"/>
                </a:solidFill>
                <a:latin typeface="Calibri"/>
              </a:rPr>
              <a:t>gebelik</a:t>
            </a:r>
            <a:r>
              <a:rPr sz="1300" b="0" i="0" dirty="0">
                <a:solidFill>
                  <a:srgbClr val="0F2D40"/>
                </a:solidFill>
                <a:latin typeface="Calibri"/>
              </a:rPr>
              <a:t>) </a:t>
            </a:r>
            <a:r>
              <a:rPr sz="1300" b="0" i="0" dirty="0" err="1">
                <a:solidFill>
                  <a:srgbClr val="0F2D40"/>
                </a:solidFill>
                <a:latin typeface="Calibri"/>
              </a:rPr>
              <a:t>kapsam</a:t>
            </a:r>
            <a:r>
              <a:rPr sz="1300" b="0" i="0" dirty="0">
                <a:solidFill>
                  <a:srgbClr val="0F2D40"/>
                </a:solidFill>
                <a:latin typeface="Calibri"/>
              </a:rPr>
              <a:t> </a:t>
            </a:r>
            <a:r>
              <a:rPr sz="1300" b="0" i="0" dirty="0" err="1">
                <a:solidFill>
                  <a:srgbClr val="0F2D40"/>
                </a:solidFill>
                <a:latin typeface="Calibri"/>
              </a:rPr>
              <a:t>dışı</a:t>
            </a:r>
            <a:endParaRPr sz="1300" b="0" i="0" dirty="0">
              <a:solidFill>
                <a:srgbClr val="0F2D40"/>
              </a:solidFill>
              <a:latin typeface="Calibri"/>
            </a:endParaRPr>
          </a:p>
          <a:p>
            <a:pPr algn="l">
              <a:lnSpc>
                <a:spcPct val="140000"/>
              </a:lnSpc>
            </a:pPr>
            <a:endParaRPr sz="1300" b="0" i="0" dirty="0">
              <a:solidFill>
                <a:srgbClr val="0F2D40"/>
              </a:solidFill>
              <a:latin typeface="Calibri"/>
            </a:endParaRPr>
          </a:p>
          <a:p>
            <a:pPr algn="l">
              <a:lnSpc>
                <a:spcPct val="140000"/>
              </a:lnSpc>
            </a:pPr>
            <a:r>
              <a:rPr sz="1300" b="0" i="0" dirty="0">
                <a:solidFill>
                  <a:srgbClr val="0F2D40"/>
                </a:solidFill>
                <a:latin typeface="Calibri"/>
              </a:rPr>
              <a:t>• Periodontal &amp; </a:t>
            </a:r>
            <a:r>
              <a:rPr sz="1300" b="0" i="0" dirty="0" err="1">
                <a:solidFill>
                  <a:srgbClr val="0F2D40"/>
                </a:solidFill>
                <a:latin typeface="Calibri"/>
              </a:rPr>
              <a:t>oklüzal</a:t>
            </a:r>
            <a:r>
              <a:rPr sz="1300" b="0" i="0" dirty="0">
                <a:solidFill>
                  <a:srgbClr val="0F2D40"/>
                </a:solidFill>
                <a:latin typeface="Calibri"/>
              </a:rPr>
              <a:t>  </a:t>
            </a:r>
            <a:r>
              <a:rPr sz="1300" b="0" i="0" dirty="0" err="1">
                <a:solidFill>
                  <a:srgbClr val="0F2D40"/>
                </a:solidFill>
                <a:latin typeface="Calibri"/>
              </a:rPr>
              <a:t>faktörler</a:t>
            </a:r>
            <a:r>
              <a:rPr sz="1300" b="0" i="0" dirty="0">
                <a:solidFill>
                  <a:srgbClr val="0F2D40"/>
                </a:solidFill>
                <a:latin typeface="Calibri"/>
              </a:rPr>
              <a:t> </a:t>
            </a:r>
            <a:r>
              <a:rPr sz="1300" b="0" i="0" dirty="0" err="1">
                <a:solidFill>
                  <a:srgbClr val="0F2D40"/>
                </a:solidFill>
                <a:latin typeface="Calibri"/>
              </a:rPr>
              <a:t>modellenmedi</a:t>
            </a:r>
            <a:endParaRPr sz="1300" b="0" i="0" dirty="0">
              <a:solidFill>
                <a:srgbClr val="0F2D40"/>
              </a:solidFill>
              <a:latin typeface="Calibri"/>
            </a:endParaRPr>
          </a:p>
          <a:p>
            <a:pPr algn="l">
              <a:lnSpc>
                <a:spcPct val="140000"/>
              </a:lnSpc>
            </a:pPr>
            <a:endParaRPr sz="1300" b="0" i="0" dirty="0">
              <a:solidFill>
                <a:srgbClr val="0F2D40"/>
              </a:solidFill>
              <a:latin typeface="Calibri"/>
            </a:endParaRPr>
          </a:p>
          <a:p>
            <a:pPr algn="l">
              <a:lnSpc>
                <a:spcPct val="140000"/>
              </a:lnSpc>
            </a:pPr>
            <a:r>
              <a:rPr sz="1300" b="0" i="0" dirty="0">
                <a:solidFill>
                  <a:srgbClr val="0F2D40"/>
                </a:solidFill>
                <a:latin typeface="Calibri"/>
              </a:rPr>
              <a:t>• </a:t>
            </a:r>
            <a:r>
              <a:rPr sz="1300" b="0" i="0" dirty="0" err="1">
                <a:solidFill>
                  <a:srgbClr val="0F2D40"/>
                </a:solidFill>
                <a:latin typeface="Calibri"/>
              </a:rPr>
              <a:t>Yüzde</a:t>
            </a:r>
            <a:r>
              <a:rPr sz="1300" b="0" i="0" dirty="0">
                <a:solidFill>
                  <a:srgbClr val="0F2D40"/>
                </a:solidFill>
                <a:latin typeface="Calibri"/>
              </a:rPr>
              <a:t> </a:t>
            </a:r>
            <a:r>
              <a:rPr sz="1300" b="0" i="0" dirty="0" err="1">
                <a:solidFill>
                  <a:srgbClr val="0F2D40"/>
                </a:solidFill>
                <a:latin typeface="Calibri"/>
              </a:rPr>
              <a:t>olasılık</a:t>
            </a:r>
            <a:r>
              <a:rPr sz="1300" b="0" i="0" dirty="0">
                <a:solidFill>
                  <a:srgbClr val="0F2D40"/>
                </a:solidFill>
                <a:latin typeface="Calibri"/>
              </a:rPr>
              <a:t> DEĞİL,  </a:t>
            </a:r>
            <a:r>
              <a:rPr sz="1300" b="0" i="0" dirty="0" err="1">
                <a:solidFill>
                  <a:srgbClr val="0F2D40"/>
                </a:solidFill>
                <a:latin typeface="Calibri"/>
              </a:rPr>
              <a:t>karar</a:t>
            </a:r>
            <a:r>
              <a:rPr sz="1300" b="0" i="0" dirty="0">
                <a:solidFill>
                  <a:srgbClr val="0F2D40"/>
                </a:solidFill>
                <a:latin typeface="Calibri"/>
              </a:rPr>
              <a:t> </a:t>
            </a:r>
            <a:r>
              <a:rPr sz="1300" b="0" i="0" dirty="0" err="1">
                <a:solidFill>
                  <a:srgbClr val="0F2D40"/>
                </a:solidFill>
                <a:latin typeface="Calibri"/>
              </a:rPr>
              <a:t>yoğunluğu</a:t>
            </a:r>
            <a:r>
              <a:rPr sz="1300" b="0" i="0" dirty="0">
                <a:solidFill>
                  <a:srgbClr val="0F2D40"/>
                </a:solidFill>
                <a:latin typeface="Calibri"/>
              </a:rPr>
              <a:t> </a:t>
            </a:r>
            <a:r>
              <a:rPr sz="1300" b="0" i="0" dirty="0" err="1">
                <a:solidFill>
                  <a:srgbClr val="0F2D40"/>
                </a:solidFill>
                <a:latin typeface="Calibri"/>
              </a:rPr>
              <a:t>metriğidir</a:t>
            </a:r>
            <a:endParaRPr sz="1300" b="0" i="0" dirty="0">
              <a:solidFill>
                <a:srgbClr val="0F2D40"/>
              </a:solidFill>
              <a:latin typeface="Calibri"/>
            </a:endParaRPr>
          </a:p>
        </p:txBody>
      </p:sp>
      <p:sp>
        <p:nvSpPr>
          <p:cNvPr id="14" name="TextBox 13"/>
          <p:cNvSpPr txBox="1"/>
          <p:nvPr/>
        </p:nvSpPr>
        <p:spPr>
          <a:xfrm>
            <a:off x="548640" y="6492240"/>
            <a:ext cx="5486400" cy="258917"/>
          </a:xfrm>
          <a:prstGeom prst="rect">
            <a:avLst/>
          </a:prstGeom>
          <a:noFill/>
        </p:spPr>
        <p:txBody>
          <a:bodyPr wrap="square" anchor="t">
            <a:spAutoFit/>
          </a:bodyPr>
          <a:lstStyle/>
          <a:p>
            <a:pPr algn="l">
              <a:lnSpc>
                <a:spcPct val="115000"/>
              </a:lnSpc>
            </a:pPr>
            <a:r>
              <a:rPr sz="1000" b="0" i="1" dirty="0" err="1">
                <a:solidFill>
                  <a:srgbClr val="556570"/>
                </a:solidFill>
                <a:latin typeface="Calibri"/>
              </a:rPr>
              <a:t>DentAI</a:t>
            </a:r>
            <a:r>
              <a:rPr sz="1000" b="0" i="1" dirty="0">
                <a:solidFill>
                  <a:srgbClr val="556570"/>
                </a:solidFill>
                <a:latin typeface="Calibri"/>
              </a:rPr>
              <a:t> · Karar </a:t>
            </a:r>
            <a:r>
              <a:rPr sz="1000" b="0" i="1" dirty="0" err="1">
                <a:solidFill>
                  <a:srgbClr val="556570"/>
                </a:solidFill>
                <a:latin typeface="Calibri"/>
              </a:rPr>
              <a:t>Destek</a:t>
            </a:r>
            <a:r>
              <a:rPr sz="1000" b="0" i="1" dirty="0">
                <a:solidFill>
                  <a:srgbClr val="556570"/>
                </a:solidFill>
                <a:latin typeface="Calibri"/>
              </a:rPr>
              <a:t> </a:t>
            </a:r>
            <a:r>
              <a:rPr sz="1000" b="0" i="1" dirty="0" err="1">
                <a:solidFill>
                  <a:srgbClr val="556570"/>
                </a:solidFill>
                <a:latin typeface="Calibri"/>
              </a:rPr>
              <a:t>Sistemi</a:t>
            </a:r>
            <a:endParaRPr sz="1000" b="0" i="1" dirty="0">
              <a:solidFill>
                <a:srgbClr val="556570"/>
              </a:solidFill>
              <a:latin typeface="Calibri"/>
            </a:endParaRPr>
          </a:p>
        </p:txBody>
      </p:sp>
      <p:sp>
        <p:nvSpPr>
          <p:cNvPr id="15" name="TextBox 14"/>
          <p:cNvSpPr txBox="1"/>
          <p:nvPr/>
        </p:nvSpPr>
        <p:spPr>
          <a:xfrm>
            <a:off x="10607040" y="6492240"/>
            <a:ext cx="1097280" cy="274320"/>
          </a:xfrm>
          <a:prstGeom prst="rect">
            <a:avLst/>
          </a:prstGeom>
          <a:noFill/>
        </p:spPr>
        <p:txBody>
          <a:bodyPr wrap="square" anchor="t">
            <a:spAutoFit/>
          </a:bodyPr>
          <a:lstStyle/>
          <a:p>
            <a:pPr algn="r">
              <a:lnSpc>
                <a:spcPct val="115000"/>
              </a:lnSpc>
            </a:pPr>
            <a:r>
              <a:rPr sz="1000" b="0" i="0">
                <a:solidFill>
                  <a:srgbClr val="556570"/>
                </a:solidFill>
                <a:latin typeface="Calibri"/>
              </a:rPr>
              <a:t>13 /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9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0" y="2103120"/>
            <a:ext cx="210312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286000"/>
            <a:ext cx="10362895" cy="1371600"/>
          </a:xfrm>
          <a:prstGeom prst="rect">
            <a:avLst/>
          </a:prstGeom>
          <a:noFill/>
        </p:spPr>
        <p:txBody>
          <a:bodyPr wrap="square" anchor="t">
            <a:spAutoFit/>
          </a:bodyPr>
          <a:lstStyle/>
          <a:p>
            <a:pPr algn="ctr">
              <a:lnSpc>
                <a:spcPct val="115000"/>
              </a:lnSpc>
            </a:pPr>
            <a:r>
              <a:rPr sz="6600" b="1" i="0">
                <a:solidFill>
                  <a:srgbClr val="FFFFFF"/>
                </a:solidFill>
                <a:latin typeface="Calibri Light"/>
              </a:rPr>
              <a:t>Teşekkür Ederiz</a:t>
            </a:r>
          </a:p>
        </p:txBody>
      </p:sp>
      <p:sp>
        <p:nvSpPr>
          <p:cNvPr id="6" name="TextBox 5"/>
          <p:cNvSpPr txBox="1"/>
          <p:nvPr/>
        </p:nvSpPr>
        <p:spPr>
          <a:xfrm>
            <a:off x="914400" y="5029200"/>
            <a:ext cx="10362895" cy="392159"/>
          </a:xfrm>
          <a:prstGeom prst="rect">
            <a:avLst/>
          </a:prstGeom>
          <a:noFill/>
        </p:spPr>
        <p:txBody>
          <a:bodyPr wrap="square" anchor="t">
            <a:spAutoFit/>
          </a:bodyPr>
          <a:lstStyle/>
          <a:p>
            <a:pPr algn="ctr">
              <a:lnSpc>
                <a:spcPct val="115000"/>
              </a:lnSpc>
            </a:pPr>
            <a:r>
              <a:rPr sz="1800" b="1" i="0" dirty="0" err="1">
                <a:solidFill>
                  <a:srgbClr val="FFFFFF"/>
                </a:solidFill>
                <a:latin typeface="Calibri Light"/>
              </a:rPr>
              <a:t>DentAI</a:t>
            </a:r>
            <a:r>
              <a:rPr sz="1800" b="1" i="0" dirty="0">
                <a:solidFill>
                  <a:srgbClr val="FFFFFF"/>
                </a:solidFill>
                <a:latin typeface="Calibri Light"/>
              </a:rPr>
              <a:t>  ·  Karar </a:t>
            </a:r>
            <a:r>
              <a:rPr sz="1800" b="1" i="0" dirty="0" err="1">
                <a:solidFill>
                  <a:srgbClr val="FFFFFF"/>
                </a:solidFill>
                <a:latin typeface="Calibri Light"/>
              </a:rPr>
              <a:t>Destek</a:t>
            </a:r>
            <a:r>
              <a:rPr sz="1800" b="1" i="0" dirty="0">
                <a:solidFill>
                  <a:srgbClr val="FFFFFF"/>
                </a:solidFill>
                <a:latin typeface="Calibri Light"/>
              </a:rPr>
              <a:t> </a:t>
            </a:r>
            <a:r>
              <a:rPr sz="1800" b="1" i="0" dirty="0" err="1">
                <a:solidFill>
                  <a:srgbClr val="FFFFFF"/>
                </a:solidFill>
                <a:latin typeface="Calibri Light"/>
              </a:rPr>
              <a:t>Sistemi</a:t>
            </a:r>
            <a:endParaRPr sz="1800" b="1" i="0" dirty="0">
              <a:solidFill>
                <a:srgbClr val="FFFFFF"/>
              </a:solidFill>
              <a:latin typeface="Calibri Light"/>
            </a:endParaRPr>
          </a:p>
        </p:txBody>
      </p:sp>
      <p:sp>
        <p:nvSpPr>
          <p:cNvPr id="7" name="TextBox 6"/>
          <p:cNvSpPr txBox="1"/>
          <p:nvPr/>
        </p:nvSpPr>
        <p:spPr>
          <a:xfrm>
            <a:off x="914400" y="5486400"/>
            <a:ext cx="10362895" cy="365760"/>
          </a:xfrm>
          <a:prstGeom prst="rect">
            <a:avLst/>
          </a:prstGeom>
          <a:noFill/>
        </p:spPr>
        <p:txBody>
          <a:bodyPr wrap="square" anchor="t">
            <a:spAutoFit/>
          </a:bodyPr>
          <a:lstStyle/>
          <a:p>
            <a:pPr algn="ctr">
              <a:lnSpc>
                <a:spcPct val="115000"/>
              </a:lnSpc>
            </a:pPr>
            <a:r>
              <a:rPr sz="1400" b="0" i="0">
                <a:solidFill>
                  <a:srgbClr val="E0F2F4"/>
                </a:solidFill>
                <a:latin typeface="Calibri"/>
              </a:rPr>
              <a:t>Metin ULUSOY  ·  Furkan AKIN</a:t>
            </a:r>
          </a:p>
        </p:txBody>
      </p:sp>
      <p:sp>
        <p:nvSpPr>
          <p:cNvPr id="8" name="TextBox 7"/>
          <p:cNvSpPr txBox="1"/>
          <p:nvPr/>
        </p:nvSpPr>
        <p:spPr>
          <a:xfrm>
            <a:off x="914400" y="5852160"/>
            <a:ext cx="10362895" cy="365760"/>
          </a:xfrm>
          <a:prstGeom prst="rect">
            <a:avLst/>
          </a:prstGeom>
          <a:noFill/>
        </p:spPr>
        <p:txBody>
          <a:bodyPr wrap="square" anchor="t">
            <a:spAutoFit/>
          </a:bodyPr>
          <a:lstStyle/>
          <a:p>
            <a:pPr algn="ctr">
              <a:lnSpc>
                <a:spcPct val="115000"/>
              </a:lnSpc>
            </a:pPr>
            <a:r>
              <a:rPr sz="1200" b="0" i="1">
                <a:solidFill>
                  <a:srgbClr val="E0F2F4"/>
                </a:solidFill>
                <a:latin typeface="Calibri"/>
              </a:rPr>
              <a:t>BIM 434 Bulanık Mantık  ·  21.05.2026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2225</Words>
  <Application>Microsoft Office PowerPoint</Application>
  <PresentationFormat>Geniş ekran</PresentationFormat>
  <Paragraphs>346</Paragraphs>
  <Slides>14</Slides>
  <Notes>14</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14</vt:i4>
      </vt:variant>
    </vt:vector>
  </HeadingPairs>
  <TitlesOfParts>
    <vt:vector size="19" baseType="lpstr">
      <vt:lpstr>Arial</vt:lpstr>
      <vt:lpstr>Calibri</vt:lpstr>
      <vt:lpstr>Calibri Light</vt:lpstr>
      <vt:lpstr>Cambria Math</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Metin ULUSOY</cp:lastModifiedBy>
  <cp:revision>10</cp:revision>
  <dcterms:created xsi:type="dcterms:W3CDTF">2013-01-27T09:14:16Z</dcterms:created>
  <dcterms:modified xsi:type="dcterms:W3CDTF">2026-05-20T18:51:51Z</dcterms:modified>
  <cp:category/>
</cp:coreProperties>
</file>